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74" r:id="rId2"/>
    <p:sldId id="256" r:id="rId3"/>
    <p:sldId id="257" r:id="rId4"/>
    <p:sldId id="323" r:id="rId5"/>
    <p:sldId id="328" r:id="rId6"/>
    <p:sldId id="329" r:id="rId7"/>
    <p:sldId id="307" r:id="rId8"/>
    <p:sldId id="308" r:id="rId9"/>
    <p:sldId id="309" r:id="rId10"/>
    <p:sldId id="310" r:id="rId11"/>
    <p:sldId id="311" r:id="rId12"/>
    <p:sldId id="312" r:id="rId13"/>
    <p:sldId id="313" r:id="rId14"/>
    <p:sldId id="314" r:id="rId15"/>
    <p:sldId id="315" r:id="rId16"/>
    <p:sldId id="325" r:id="rId17"/>
    <p:sldId id="327" r:id="rId18"/>
    <p:sldId id="326" r:id="rId19"/>
    <p:sldId id="324" r:id="rId20"/>
    <p:sldId id="304" r:id="rId21"/>
    <p:sldId id="317" r:id="rId22"/>
    <p:sldId id="318" r:id="rId23"/>
    <p:sldId id="319" r:id="rId24"/>
    <p:sldId id="320" r:id="rId25"/>
    <p:sldId id="321" r:id="rId26"/>
    <p:sldId id="322" r:id="rId27"/>
    <p:sldId id="331" r:id="rId28"/>
    <p:sldId id="33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2" clrIdx="0">
    <p:extLst>
      <p:ext uri="{19B8F6BF-5375-455C-9EA6-DF929625EA0E}">
        <p15:presenceInfo xmlns:p15="http://schemas.microsoft.com/office/powerpoint/2012/main" userId="66150182aa11afe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E4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6" autoAdjust="0"/>
    <p:restoredTop sz="90038" autoAdjust="0"/>
  </p:normalViewPr>
  <p:slideViewPr>
    <p:cSldViewPr snapToGrid="0">
      <p:cViewPr varScale="1">
        <p:scale>
          <a:sx n="71" d="100"/>
          <a:sy n="71" d="100"/>
        </p:scale>
        <p:origin x="1018" y="4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D82F9A-4E4E-4646-A1FD-948DCCAE47E8}" type="datetimeFigureOut">
              <a:rPr lang="en-US" smtClean="0"/>
              <a:t>24/06/2025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5DF2C-1ACC-45EB-A73A-44A09673471D}" type="slidenum">
              <a:rPr lang="en-US" smtClean="0"/>
              <a:t>‹#›</a:t>
            </a:fld>
            <a:endParaRPr lang="en-US"/>
          </a:p>
        </p:txBody>
      </p:sp>
    </p:spTree>
    <p:extLst>
      <p:ext uri="{BB962C8B-B14F-4D97-AF65-F5344CB8AC3E}">
        <p14:creationId xmlns:p14="http://schemas.microsoft.com/office/powerpoint/2010/main" val="3915548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1</a:t>
            </a:fld>
            <a:endParaRPr lang="en-US"/>
          </a:p>
        </p:txBody>
      </p:sp>
    </p:spTree>
    <p:extLst>
      <p:ext uri="{BB962C8B-B14F-4D97-AF65-F5344CB8AC3E}">
        <p14:creationId xmlns:p14="http://schemas.microsoft.com/office/powerpoint/2010/main" val="3012405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Tuy có h</a:t>
            </a:r>
            <a:r>
              <a:rPr lang="vi-VN"/>
              <a:t>ơ</a:t>
            </a:r>
            <a:r>
              <a:rPr lang="en-US"/>
              <a:t>n 100 control nh</a:t>
            </a:r>
            <a:r>
              <a:rPr lang="vi-VN"/>
              <a:t>ư</a:t>
            </a:r>
            <a:r>
              <a:rPr lang="en-US"/>
              <a:t>ng trong quá trình chúng ta sử dụng thì chỉ sử dụng tầm 20 đến 30 thôi và để các bạn hiểu rõ h</a:t>
            </a:r>
            <a:r>
              <a:rPr lang="vi-VN"/>
              <a:t>ơ</a:t>
            </a:r>
            <a:r>
              <a:rPr lang="en-US"/>
              <a:t>n thì chúng ta sẽ …</a:t>
            </a:r>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5</a:t>
            </a:fld>
            <a:endParaRPr lang="en-US"/>
          </a:p>
        </p:txBody>
      </p:sp>
    </p:spTree>
    <p:extLst>
      <p:ext uri="{BB962C8B-B14F-4D97-AF65-F5344CB8AC3E}">
        <p14:creationId xmlns:p14="http://schemas.microsoft.com/office/powerpoint/2010/main" val="3408639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6</a:t>
            </a:fld>
            <a:endParaRPr lang="en-US"/>
          </a:p>
        </p:txBody>
      </p:sp>
    </p:spTree>
    <p:extLst>
      <p:ext uri="{BB962C8B-B14F-4D97-AF65-F5344CB8AC3E}">
        <p14:creationId xmlns:p14="http://schemas.microsoft.com/office/powerpoint/2010/main" val="2533182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7</a:t>
            </a:fld>
            <a:endParaRPr lang="en-US"/>
          </a:p>
        </p:txBody>
      </p:sp>
    </p:spTree>
    <p:extLst>
      <p:ext uri="{BB962C8B-B14F-4D97-AF65-F5344CB8AC3E}">
        <p14:creationId xmlns:p14="http://schemas.microsoft.com/office/powerpoint/2010/main" val="409583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Dùng làm </a:t>
            </a:r>
            <a:r>
              <a:rPr lang="en-US" b="1"/>
              <a:t>nhãn cho control khác </a:t>
            </a:r>
            <a:r>
              <a:rPr lang="en-US"/>
              <a:t>và có thể chứa nội dung phức tạp.</a:t>
            </a:r>
            <a:br>
              <a:rPr lang="en-US"/>
            </a:br>
            <a:r>
              <a:rPr lang="vi-VN" b="1"/>
              <a:t>hiển thị văn bản tĩnh</a:t>
            </a:r>
            <a:r>
              <a:rPr lang="vi-VN"/>
              <a:t>, hiệu suất cao, </a:t>
            </a:r>
            <a:r>
              <a:rPr lang="vi-VN" b="1"/>
              <a:t>nhẹ hơn</a:t>
            </a:r>
            <a:r>
              <a:rPr lang="vi-VN"/>
              <a:t> và không hỗ trợ liên kết với control khác.</a:t>
            </a:r>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8</a:t>
            </a:fld>
            <a:endParaRPr lang="en-US"/>
          </a:p>
        </p:txBody>
      </p:sp>
    </p:spTree>
    <p:extLst>
      <p:ext uri="{BB962C8B-B14F-4D97-AF65-F5344CB8AC3E}">
        <p14:creationId xmlns:p14="http://schemas.microsoft.com/office/powerpoint/2010/main" val="206311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9</a:t>
            </a:fld>
            <a:endParaRPr lang="en-US"/>
          </a:p>
        </p:txBody>
      </p:sp>
    </p:spTree>
    <p:extLst>
      <p:ext uri="{BB962C8B-B14F-4D97-AF65-F5344CB8AC3E}">
        <p14:creationId xmlns:p14="http://schemas.microsoft.com/office/powerpoint/2010/main" val="4111574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10</a:t>
            </a:fld>
            <a:endParaRPr lang="en-US"/>
          </a:p>
        </p:txBody>
      </p:sp>
    </p:spTree>
    <p:extLst>
      <p:ext uri="{BB962C8B-B14F-4D97-AF65-F5344CB8AC3E}">
        <p14:creationId xmlns:p14="http://schemas.microsoft.com/office/powerpoint/2010/main" val="3059114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L</a:t>
            </a:r>
            <a:r>
              <a:rPr lang="vi-VN" sz="1200">
                <a:latin typeface="Times New Roman" panose="02020603050405020304" pitchFamily="18" charset="0"/>
                <a:cs typeface="Times New Roman" panose="02020603050405020304" pitchFamily="18" charset="0"/>
              </a:rPr>
              <a:t>ư</a:t>
            </a:r>
            <a:r>
              <a:rPr lang="en-US" sz="1200">
                <a:latin typeface="Times New Roman" panose="02020603050405020304" pitchFamily="18" charset="0"/>
                <a:cs typeface="Times New Roman" panose="02020603050405020304" pitchFamily="18" charset="0"/>
              </a:rPr>
              <a:t>u ý: thẻ </a:t>
            </a:r>
            <a:r>
              <a:rPr lang="vi-VN" sz="1200">
                <a:latin typeface="Times New Roman" panose="02020603050405020304" pitchFamily="18" charset="0"/>
                <a:cs typeface="Times New Roman" panose="02020603050405020304" pitchFamily="18" charset="0"/>
              </a:rPr>
              <a:t>WrapPanel dùng để xếp các phần tử con theo chiều ngang hoặc dọc, và tự động xuống dòng</a:t>
            </a:r>
            <a:endParaRPr lang="en-US" sz="1200">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11</a:t>
            </a:fld>
            <a:endParaRPr lang="en-US"/>
          </a:p>
        </p:txBody>
      </p:sp>
    </p:spTree>
    <p:extLst>
      <p:ext uri="{BB962C8B-B14F-4D97-AF65-F5344CB8AC3E}">
        <p14:creationId xmlns:p14="http://schemas.microsoft.com/office/powerpoint/2010/main" val="1325018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lnSpc>
                <a:spcPct val="150000"/>
              </a:lnSpc>
              <a:spcBef>
                <a:spcPts val="0"/>
              </a:spcBef>
              <a:defRPr/>
            </a:pPr>
            <a:r>
              <a:rPr lang="en-US" sz="2000">
                <a:latin typeface="Times New Roman" panose="02020603050405020304" pitchFamily="18" charset="0"/>
                <a:cs typeface="Times New Roman" panose="02020603050405020304" pitchFamily="18" charset="0"/>
              </a:rPr>
              <a:t>L</a:t>
            </a:r>
            <a:r>
              <a:rPr lang="vi-VN" sz="2000">
                <a:latin typeface="Times New Roman" panose="02020603050405020304" pitchFamily="18" charset="0"/>
                <a:cs typeface="Times New Roman" panose="02020603050405020304" pitchFamily="18" charset="0"/>
              </a:rPr>
              <a:t>ư</a:t>
            </a:r>
            <a:r>
              <a:rPr lang="en-US" sz="2000">
                <a:latin typeface="Times New Roman" panose="02020603050405020304" pitchFamily="18" charset="0"/>
                <a:cs typeface="Times New Roman" panose="02020603050405020304" pitchFamily="18" charset="0"/>
              </a:rPr>
              <a:t>u ý: thẻ </a:t>
            </a:r>
            <a:r>
              <a:rPr lang="vi-VN" sz="2000">
                <a:latin typeface="Times New Roman" panose="02020603050405020304" pitchFamily="18" charset="0"/>
                <a:cs typeface="Times New Roman" panose="02020603050405020304" pitchFamily="18" charset="0"/>
              </a:rPr>
              <a:t>StackPanel dùng để xếp các phần tử con thành một dãy liên tiếp, theo chiều dọc hoặc chiều ngang. </a:t>
            </a:r>
            <a:endParaRPr lang="en-US" sz="2000">
              <a:latin typeface="Times New Roman" panose="02020603050405020304" pitchFamily="18" charset="0"/>
              <a:cs typeface="Times New Roman" panose="02020603050405020304" pitchFamily="18" charset="0"/>
            </a:endParaRPr>
          </a:p>
          <a:p>
            <a:pPr marL="0" lvl="1">
              <a:lnSpc>
                <a:spcPct val="150000"/>
              </a:lnSpc>
              <a:spcBef>
                <a:spcPts val="0"/>
              </a:spcBef>
              <a:defRPr/>
            </a:pPr>
            <a:r>
              <a:rPr lang="vi-VN" sz="2000">
                <a:latin typeface="Times New Roman" panose="02020603050405020304" pitchFamily="18" charset="0"/>
                <a:cs typeface="Times New Roman" panose="02020603050405020304" pitchFamily="18" charset="0"/>
              </a:rPr>
              <a:t>Mặc định, StackPanel xếp dọc từ trên xuống (Orientation="Vertical").</a:t>
            </a:r>
            <a:endParaRPr lang="en-US" sz="2000">
              <a:latin typeface="Times New Roman" panose="02020603050405020304" pitchFamily="18" charset="0"/>
              <a:cs typeface="Times New Roman" panose="02020603050405020304" pitchFamily="18" charset="0"/>
            </a:endParaRPr>
          </a:p>
          <a:p>
            <a:pPr marL="0" lvl="1">
              <a:lnSpc>
                <a:spcPct val="150000"/>
              </a:lnSpc>
              <a:spcBef>
                <a:spcPts val="0"/>
              </a:spcBef>
              <a:defRPr/>
            </a:pPr>
            <a:r>
              <a:rPr lang="vi-VN" sz="2000">
                <a:latin typeface="Times New Roman" panose="02020603050405020304" pitchFamily="18" charset="0"/>
                <a:cs typeface="Times New Roman" panose="02020603050405020304" pitchFamily="18" charset="0"/>
              </a:rPr>
              <a:t>Nếu muốn xếp ngang từ trái sang phải thì chỉnh Orientation="Horizontal"</a:t>
            </a:r>
            <a:endParaRPr lang="en-US" sz="2000">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12</a:t>
            </a:fld>
            <a:endParaRPr lang="en-US"/>
          </a:p>
        </p:txBody>
      </p:sp>
    </p:spTree>
    <p:extLst>
      <p:ext uri="{BB962C8B-B14F-4D97-AF65-F5344CB8AC3E}">
        <p14:creationId xmlns:p14="http://schemas.microsoft.com/office/powerpoint/2010/main" val="411929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13</a:t>
            </a:fld>
            <a:endParaRPr lang="en-US"/>
          </a:p>
        </p:txBody>
      </p:sp>
    </p:spTree>
    <p:extLst>
      <p:ext uri="{BB962C8B-B14F-4D97-AF65-F5344CB8AC3E}">
        <p14:creationId xmlns:p14="http://schemas.microsoft.com/office/powerpoint/2010/main" val="4284616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indent="-457200">
              <a:lnSpc>
                <a:spcPct val="150000"/>
              </a:lnSpc>
              <a:spcBef>
                <a:spcPts val="0"/>
              </a:spcBef>
              <a:buFont typeface="Wingdings" panose="05000000000000000000" pitchFamily="2" charset="2"/>
              <a:buChar char="v"/>
              <a:defRPr/>
            </a:pPr>
            <a:r>
              <a:rPr lang="vi-VN" sz="2000">
                <a:latin typeface="Times New Roman" panose="02020603050405020304" pitchFamily="18" charset="0"/>
                <a:cs typeface="Times New Roman" panose="02020603050405020304" pitchFamily="18" charset="0"/>
              </a:rPr>
              <a:t>ListBox luôn hiện danh sách, không ẩn</a:t>
            </a:r>
            <a:endParaRPr lang="en-US" sz="2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r>
              <a:rPr lang="vi-VN" sz="2000">
                <a:latin typeface="Times New Roman" panose="02020603050405020304" pitchFamily="18" charset="0"/>
                <a:cs typeface="Times New Roman" panose="02020603050405020304" pitchFamily="18" charset="0"/>
              </a:rPr>
              <a:t> ListBox cho chọn nhiều nếu bật SelectionMode="Multiple".</a:t>
            </a:r>
            <a:endParaRPr lang="en-US" sz="2000">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14</a:t>
            </a:fld>
            <a:endParaRPr lang="en-US"/>
          </a:p>
        </p:txBody>
      </p:sp>
    </p:spTree>
    <p:extLst>
      <p:ext uri="{BB962C8B-B14F-4D97-AF65-F5344CB8AC3E}">
        <p14:creationId xmlns:p14="http://schemas.microsoft.com/office/powerpoint/2010/main" val="3016884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15</a:t>
            </a:fld>
            <a:endParaRPr lang="en-US"/>
          </a:p>
        </p:txBody>
      </p:sp>
    </p:spTree>
    <p:extLst>
      <p:ext uri="{BB962C8B-B14F-4D97-AF65-F5344CB8AC3E}">
        <p14:creationId xmlns:p14="http://schemas.microsoft.com/office/powerpoint/2010/main" val="3093066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16</a:t>
            </a:fld>
            <a:endParaRPr lang="en-US"/>
          </a:p>
        </p:txBody>
      </p:sp>
    </p:spTree>
    <p:extLst>
      <p:ext uri="{BB962C8B-B14F-4D97-AF65-F5344CB8AC3E}">
        <p14:creationId xmlns:p14="http://schemas.microsoft.com/office/powerpoint/2010/main" val="2565246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17</a:t>
            </a:fld>
            <a:endParaRPr lang="en-US"/>
          </a:p>
        </p:txBody>
      </p:sp>
    </p:spTree>
    <p:extLst>
      <p:ext uri="{BB962C8B-B14F-4D97-AF65-F5344CB8AC3E}">
        <p14:creationId xmlns:p14="http://schemas.microsoft.com/office/powerpoint/2010/main" val="741689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18</a:t>
            </a:fld>
            <a:endParaRPr lang="en-US"/>
          </a:p>
        </p:txBody>
      </p:sp>
    </p:spTree>
    <p:extLst>
      <p:ext uri="{BB962C8B-B14F-4D97-AF65-F5344CB8AC3E}">
        <p14:creationId xmlns:p14="http://schemas.microsoft.com/office/powerpoint/2010/main" val="4126332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Event-driven programming</a:t>
            </a:r>
            <a:r>
              <a:rPr lang="vi-VN"/>
              <a:t> (Lập trình hướng sự kiện):</a:t>
            </a:r>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19</a:t>
            </a:fld>
            <a:endParaRPr lang="en-US"/>
          </a:p>
        </p:txBody>
      </p:sp>
    </p:spTree>
    <p:extLst>
      <p:ext uri="{BB962C8B-B14F-4D97-AF65-F5344CB8AC3E}">
        <p14:creationId xmlns:p14="http://schemas.microsoft.com/office/powerpoint/2010/main" val="450816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20</a:t>
            </a:fld>
            <a:endParaRPr lang="en-US"/>
          </a:p>
        </p:txBody>
      </p:sp>
    </p:spTree>
    <p:extLst>
      <p:ext uri="{BB962C8B-B14F-4D97-AF65-F5344CB8AC3E}">
        <p14:creationId xmlns:p14="http://schemas.microsoft.com/office/powerpoint/2010/main" val="3035587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21</a:t>
            </a:fld>
            <a:endParaRPr lang="en-US"/>
          </a:p>
        </p:txBody>
      </p:sp>
    </p:spTree>
    <p:extLst>
      <p:ext uri="{BB962C8B-B14F-4D97-AF65-F5344CB8AC3E}">
        <p14:creationId xmlns:p14="http://schemas.microsoft.com/office/powerpoint/2010/main" val="849960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22</a:t>
            </a:fld>
            <a:endParaRPr lang="en-US"/>
          </a:p>
        </p:txBody>
      </p:sp>
    </p:spTree>
    <p:extLst>
      <p:ext uri="{BB962C8B-B14F-4D97-AF65-F5344CB8AC3E}">
        <p14:creationId xmlns:p14="http://schemas.microsoft.com/office/powerpoint/2010/main" val="4067778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23</a:t>
            </a:fld>
            <a:endParaRPr lang="en-US"/>
          </a:p>
        </p:txBody>
      </p:sp>
    </p:spTree>
    <p:extLst>
      <p:ext uri="{BB962C8B-B14F-4D97-AF65-F5344CB8AC3E}">
        <p14:creationId xmlns:p14="http://schemas.microsoft.com/office/powerpoint/2010/main" val="712733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24</a:t>
            </a:fld>
            <a:endParaRPr lang="en-US"/>
          </a:p>
        </p:txBody>
      </p:sp>
    </p:spTree>
    <p:extLst>
      <p:ext uri="{BB962C8B-B14F-4D97-AF65-F5344CB8AC3E}">
        <p14:creationId xmlns:p14="http://schemas.microsoft.com/office/powerpoint/2010/main" val="3578685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25</a:t>
            </a:fld>
            <a:endParaRPr lang="en-US"/>
          </a:p>
        </p:txBody>
      </p:sp>
    </p:spTree>
    <p:extLst>
      <p:ext uri="{BB962C8B-B14F-4D97-AF65-F5344CB8AC3E}">
        <p14:creationId xmlns:p14="http://schemas.microsoft.com/office/powerpoint/2010/main" val="3733347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05DF2C-1ACC-45EB-A73A-44A09673471D}" type="slidenum">
              <a:rPr lang="en-US" smtClean="0"/>
              <a:t>26</a:t>
            </a:fld>
            <a:endParaRPr lang="en-US"/>
          </a:p>
        </p:txBody>
      </p:sp>
    </p:spTree>
    <p:extLst>
      <p:ext uri="{BB962C8B-B14F-4D97-AF65-F5344CB8AC3E}">
        <p14:creationId xmlns:p14="http://schemas.microsoft.com/office/powerpoint/2010/main" val="2566291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3D05DF2C-1ACC-45EB-A73A-44A09673471D}" type="slidenum">
              <a:rPr lang="en-US" smtClean="0"/>
              <a:t>27</a:t>
            </a:fld>
            <a:endParaRPr lang="en-US"/>
          </a:p>
        </p:txBody>
      </p:sp>
    </p:spTree>
    <p:extLst>
      <p:ext uri="{BB962C8B-B14F-4D97-AF65-F5344CB8AC3E}">
        <p14:creationId xmlns:p14="http://schemas.microsoft.com/office/powerpoint/2010/main" val="2341077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3A1C593-65D0-4073-BCC9-577B9352EA97}" type="datetimeFigureOut">
              <a:rPr lang="en-US" smtClean="0"/>
              <a:t>24/06/2025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712EE6A-18AE-44BB-A988-BED4AFF36A4F}"/>
              </a:ext>
            </a:extLst>
          </p:cNvPr>
          <p:cNvPicPr>
            <a:picLocks noChangeAspect="1"/>
          </p:cNvPicPr>
          <p:nvPr userDrawn="1"/>
        </p:nvPicPr>
        <p:blipFill>
          <a:blip r:embed="rId13"/>
          <a:stretch>
            <a:fillRect/>
          </a:stretch>
        </p:blipFill>
        <p:spPr>
          <a:xfrm>
            <a:off x="0" y="0"/>
            <a:ext cx="12192000" cy="823031"/>
          </a:xfrm>
          <a:prstGeom prst="rect">
            <a:avLst/>
          </a:prstGeom>
        </p:spPr>
      </p:pic>
      <p:sp>
        <p:nvSpPr>
          <p:cNvPr id="9" name="Freeform 2">
            <a:extLst>
              <a:ext uri="{FF2B5EF4-FFF2-40B4-BE49-F238E27FC236}">
                <a16:creationId xmlns:a16="http://schemas.microsoft.com/office/drawing/2014/main" id="{C2F1E705-6B71-4A3E-BB25-FA5C4BDD3B0C}"/>
              </a:ext>
            </a:extLst>
          </p:cNvPr>
          <p:cNvSpPr/>
          <p:nvPr userDrawn="1"/>
        </p:nvSpPr>
        <p:spPr>
          <a:xfrm>
            <a:off x="0" y="177952"/>
            <a:ext cx="1362456" cy="407264"/>
          </a:xfrm>
          <a:custGeom>
            <a:avLst/>
            <a:gdLst/>
            <a:ahLst/>
            <a:cxnLst/>
            <a:rect l="l" t="t" r="r" b="b"/>
            <a:pathLst>
              <a:path w="2878352" h="854332">
                <a:moveTo>
                  <a:pt x="0" y="0"/>
                </a:moveTo>
                <a:lnTo>
                  <a:pt x="2878352" y="0"/>
                </a:lnTo>
                <a:lnTo>
                  <a:pt x="2878352" y="854332"/>
                </a:lnTo>
                <a:lnTo>
                  <a:pt x="0" y="854332"/>
                </a:lnTo>
                <a:lnTo>
                  <a:pt x="0" y="0"/>
                </a:lnTo>
                <a:close/>
              </a:path>
            </a:pathLst>
          </a:custGeom>
          <a:blipFill>
            <a:blip r:embed="rId14"/>
            <a:stretch>
              <a:fillRect/>
            </a:stretch>
          </a:blipFill>
        </p:spPr>
        <p:txBody>
          <a:bodyPr/>
          <a:lstStyle/>
          <a:p>
            <a:endParaRPr lang="en-US"/>
          </a:p>
        </p:txBody>
      </p:sp>
      <p:pic>
        <p:nvPicPr>
          <p:cNvPr id="16" name="Picture 15">
            <a:extLst>
              <a:ext uri="{FF2B5EF4-FFF2-40B4-BE49-F238E27FC236}">
                <a16:creationId xmlns:a16="http://schemas.microsoft.com/office/drawing/2014/main" id="{83F4E514-5826-433E-80E4-ABA59F77D207}"/>
              </a:ext>
            </a:extLst>
          </p:cNvPr>
          <p:cNvPicPr>
            <a:picLocks noChangeAspect="1"/>
          </p:cNvPicPr>
          <p:nvPr userDrawn="1"/>
        </p:nvPicPr>
        <p:blipFill>
          <a:blip r:embed="rId15"/>
          <a:stretch>
            <a:fillRect/>
          </a:stretch>
        </p:blipFill>
        <p:spPr>
          <a:xfrm>
            <a:off x="0" y="6583186"/>
            <a:ext cx="12192000" cy="276999"/>
          </a:xfrm>
          <a:prstGeom prst="rect">
            <a:avLst/>
          </a:prstGeom>
        </p:spPr>
      </p:pic>
      <p:sp>
        <p:nvSpPr>
          <p:cNvPr id="17" name="Text Box 59">
            <a:extLst>
              <a:ext uri="{FF2B5EF4-FFF2-40B4-BE49-F238E27FC236}">
                <a16:creationId xmlns:a16="http://schemas.microsoft.com/office/drawing/2014/main" id="{53F2A1B6-2296-44B6-BE90-2020E69B02B1}"/>
              </a:ext>
            </a:extLst>
          </p:cNvPr>
          <p:cNvSpPr txBox="1"/>
          <p:nvPr userDrawn="1"/>
        </p:nvSpPr>
        <p:spPr>
          <a:xfrm>
            <a:off x="10058398" y="6566520"/>
            <a:ext cx="2133601" cy="276999"/>
          </a:xfrm>
          <a:prstGeom prst="rect">
            <a:avLst/>
          </a:prstGeom>
          <a:noFill/>
        </p:spPr>
        <p:txBody>
          <a:bodyPr wrap="square" rtlCol="0" anchor="t">
            <a:spAutoFit/>
          </a:bodyPr>
          <a:lstStyle/>
          <a:p>
            <a:r>
              <a:rPr lang="en-US" sz="1200" b="1" kern="120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rPr>
              <a:t>Ngày: </a:t>
            </a:r>
            <a:fld id="{3A0A8AE4-7467-4A3A-B5C6-B0D70C0FC9B6}" type="datetime1">
              <a:rPr lang="vi-VN" sz="1200" b="1" kern="1200" smtClean="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rPr>
              <a:t>24/06/2025</a:t>
            </a:fld>
            <a:endParaRPr lang="en-US" sz="1200" b="1" kern="1200">
              <a:solidFill>
                <a:schemeClr val="tx1"/>
              </a:solidFill>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endParaRPr>
          </a:p>
        </p:txBody>
      </p:sp>
      <p:sp>
        <p:nvSpPr>
          <p:cNvPr id="18" name="Rectangle 23">
            <a:extLst>
              <a:ext uri="{FF2B5EF4-FFF2-40B4-BE49-F238E27FC236}">
                <a16:creationId xmlns:a16="http://schemas.microsoft.com/office/drawing/2014/main" id="{A31C5594-2F3D-4115-AD8B-62A3ED562DBA}"/>
              </a:ext>
            </a:extLst>
          </p:cNvPr>
          <p:cNvSpPr>
            <a:spLocks noChangeArrowheads="1"/>
          </p:cNvSpPr>
          <p:nvPr userDrawn="1"/>
        </p:nvSpPr>
        <p:spPr bwMode="auto">
          <a:xfrm>
            <a:off x="11187343" y="6455689"/>
            <a:ext cx="1189990" cy="49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en-US" sz="1200" b="1" kern="1200" noProof="0">
                <a:solidFill>
                  <a:schemeClr val="tx1"/>
                </a:solidFill>
                <a:latin typeface="Times New Roman" panose="02020603050405020304" pitchFamily="18" charset="0"/>
                <a:ea typeface="+mn-ea"/>
                <a:cs typeface="Times New Roman" panose="02020603050405020304" pitchFamily="18" charset="0"/>
              </a:rPr>
              <a:t>Slide </a:t>
            </a:r>
            <a:fld id="{424E4EC7-4D6E-45CC-9960-6842771F254B}" type="slidenum">
              <a:rPr lang="en-US" altLang="en-US" sz="1200" b="1" kern="1200" noProof="0" smtClean="0">
                <a:solidFill>
                  <a:schemeClr val="tx1"/>
                </a:solidFill>
                <a:latin typeface="Times New Roman" panose="02020603050405020304" pitchFamily="18" charset="0"/>
                <a:ea typeface="+mn-ea"/>
                <a:cs typeface="Times New Roman" panose="02020603050405020304" pitchFamily="18" charset="0"/>
              </a:rPr>
              <a:pPr marL="0" marR="0" lvl="0" indent="0" algn="ctr" defTabSz="914400" rtl="0" eaLnBrk="1" fontAlgn="base" latinLnBrk="0" hangingPunct="1">
                <a:lnSpc>
                  <a:spcPct val="100000"/>
                </a:lnSpc>
                <a:spcBef>
                  <a:spcPct val="0"/>
                </a:spcBef>
                <a:spcAft>
                  <a:spcPct val="0"/>
                </a:spcAft>
                <a:buClrTx/>
                <a:buSzTx/>
                <a:buFontTx/>
                <a:buNone/>
                <a:defRPr/>
              </a:pPr>
              <a:t>‹#›</a:t>
            </a:fld>
            <a:r>
              <a:rPr lang="en-US" altLang="en-US" sz="1200" b="1" kern="1200" noProof="0">
                <a:solidFill>
                  <a:schemeClr val="tx1"/>
                </a:solidFill>
                <a:latin typeface="Times New Roman" panose="02020603050405020304" pitchFamily="18" charset="0"/>
                <a:ea typeface="+mn-ea"/>
                <a:cs typeface="Times New Roman" panose="02020603050405020304" pitchFamily="18" charset="0"/>
              </a:rPr>
              <a:t>/27</a:t>
            </a:r>
          </a:p>
        </p:txBody>
      </p:sp>
      <p:sp>
        <p:nvSpPr>
          <p:cNvPr id="19" name="TextBox 10">
            <a:extLst>
              <a:ext uri="{FF2B5EF4-FFF2-40B4-BE49-F238E27FC236}">
                <a16:creationId xmlns:a16="http://schemas.microsoft.com/office/drawing/2014/main" id="{01DC6D8B-F6B5-4800-A8F7-D985EA5C494F}"/>
              </a:ext>
            </a:extLst>
          </p:cNvPr>
          <p:cNvSpPr txBox="1"/>
          <p:nvPr userDrawn="1"/>
        </p:nvSpPr>
        <p:spPr>
          <a:xfrm>
            <a:off x="3003230" y="6463302"/>
            <a:ext cx="6869834" cy="498660"/>
          </a:xfrm>
          <a:prstGeom prst="rect">
            <a:avLst/>
          </a:prstGeom>
        </p:spPr>
        <p:txBody>
          <a:bodyPr wrap="square" lIns="0" tIns="0" rIns="0" bIns="0" rtlCol="0" anchor="t">
            <a:noAutofit/>
          </a:bodyPr>
          <a:lstStyle/>
          <a:p>
            <a:pPr algn="ctr" rtl="0" eaLnBrk="1" fontAlgn="base" hangingPunct="1">
              <a:lnSpc>
                <a:spcPts val="3600"/>
              </a:lnSpc>
              <a:spcBef>
                <a:spcPct val="0"/>
              </a:spcBef>
              <a:spcAft>
                <a:spcPct val="0"/>
              </a:spcAft>
              <a:defRPr/>
            </a:pPr>
            <a:r>
              <a:rPr 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rPr>
              <a:t>Môn: Lập trình ứng dụng .NET</a:t>
            </a:r>
            <a:r>
              <a:rPr lang="vi-VN" alt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rPr>
              <a:t> – </a:t>
            </a:r>
            <a:r>
              <a:rPr lang="en-US" alt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rPr>
              <a:t>Ch</a:t>
            </a:r>
            <a:r>
              <a:rPr lang="vi-VN" alt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rPr>
              <a:t>ư</a:t>
            </a:r>
            <a:r>
              <a:rPr lang="en-US" alt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rPr>
              <a:t>ơng 3: Ứng Dụng Desktop Với WPF (P2)</a:t>
            </a:r>
          </a:p>
          <a:p>
            <a:pPr algn="ctr" rtl="0" eaLnBrk="1" fontAlgn="base" hangingPunct="1">
              <a:lnSpc>
                <a:spcPts val="3600"/>
              </a:lnSpc>
              <a:spcBef>
                <a:spcPct val="0"/>
              </a:spcBef>
              <a:spcAft>
                <a:spcPct val="0"/>
              </a:spcAft>
              <a:defRPr/>
            </a:pPr>
            <a:endParaRPr lang="en-US" sz="1400" b="1" kern="1200">
              <a:solidFill>
                <a:schemeClr val="tx1"/>
              </a:solidFill>
              <a:latin typeface="Arial" panose="020B0604020202020204" pitchFamily="34" charset="0"/>
              <a:ea typeface="+mn-ea"/>
              <a:cs typeface="Arial" panose="020B0604020202020204" pitchFamily="34" charset="0"/>
              <a:sym typeface="Times New Roman" panose="02020603050405020304"/>
            </a:endParaRPr>
          </a:p>
        </p:txBody>
      </p:sp>
      <p:sp>
        <p:nvSpPr>
          <p:cNvPr id="20" name="Text Box 59">
            <a:extLst>
              <a:ext uri="{FF2B5EF4-FFF2-40B4-BE49-F238E27FC236}">
                <a16:creationId xmlns:a16="http://schemas.microsoft.com/office/drawing/2014/main" id="{8477D983-1123-4BD0-B5A4-3D39D23DE117}"/>
              </a:ext>
            </a:extLst>
          </p:cNvPr>
          <p:cNvSpPr txBox="1"/>
          <p:nvPr userDrawn="1"/>
        </p:nvSpPr>
        <p:spPr>
          <a:xfrm>
            <a:off x="0" y="6574133"/>
            <a:ext cx="3255645" cy="276999"/>
          </a:xfrm>
          <a:prstGeom prst="rect">
            <a:avLst/>
          </a:prstGeom>
          <a:noFill/>
        </p:spPr>
        <p:txBody>
          <a:bodyPr wrap="square" rtlCol="0" anchor="t">
            <a:spAutoFit/>
          </a:bodyPr>
          <a:lstStyle/>
          <a:p>
            <a:r>
              <a:rPr lang="en-US" sz="1200" b="1" kern="1200">
                <a:solidFill>
                  <a:schemeClr val="tx1"/>
                </a:solidFill>
                <a:latin typeface="Arial" charset="0"/>
                <a:ea typeface="+mn-ea"/>
                <a:cs typeface="+mn-cs"/>
                <a:sym typeface="Times New Roman" panose="02020603050405020304"/>
              </a:rPr>
              <a:t>Faculty Of Information Technology</a:t>
            </a:r>
            <a:endParaRPr lang="en-US" sz="1200" b="1" spc="17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hpekloDuPDM" TargetMode="External"/><Relationship Id="rId2" Type="http://schemas.openxmlformats.org/officeDocument/2006/relationships/hyperlink" Target="https://www.youtube.com/watch?v=6T7KerBydm0&amp;list=PLLXCN-2OVrTvRa10LXLBok5rNhbi2NZ4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a:extLst>
              <a:ext uri="{FF2B5EF4-FFF2-40B4-BE49-F238E27FC236}">
                <a16:creationId xmlns:a16="http://schemas.microsoft.com/office/drawing/2014/main" id="{07FAED01-EBE6-4851-8FFD-1DCCC69ACA55}"/>
              </a:ext>
            </a:extLst>
          </p:cNvPr>
          <p:cNvSpPr>
            <a:spLocks noChangeArrowheads="1"/>
          </p:cNvSpPr>
          <p:nvPr/>
        </p:nvSpPr>
        <p:spPr bwMode="auto">
          <a:xfrm>
            <a:off x="471486" y="1252538"/>
            <a:ext cx="11720513"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4400" b="1">
                <a:solidFill>
                  <a:srgbClr val="990000"/>
                </a:solidFill>
              </a:rPr>
              <a:t>BÀI 6: </a:t>
            </a:r>
          </a:p>
          <a:p>
            <a:r>
              <a:rPr lang="en-US" altLang="en-US" sz="4400" b="1">
                <a:solidFill>
                  <a:srgbClr val="990000"/>
                </a:solidFill>
              </a:rPr>
              <a:t>ỨNG DỤNG DESKTOP VỚI WPF (PHẦN 2)</a:t>
            </a:r>
          </a:p>
        </p:txBody>
      </p:sp>
      <p:sp>
        <p:nvSpPr>
          <p:cNvPr id="5" name="Text Box 3">
            <a:extLst>
              <a:ext uri="{FF2B5EF4-FFF2-40B4-BE49-F238E27FC236}">
                <a16:creationId xmlns:a16="http://schemas.microsoft.com/office/drawing/2014/main" id="{B398E5A3-D60C-4516-A9D6-245EBE3094A5}"/>
              </a:ext>
            </a:extLst>
          </p:cNvPr>
          <p:cNvSpPr txBox="1">
            <a:spLocks noChangeArrowheads="1"/>
          </p:cNvSpPr>
          <p:nvPr/>
        </p:nvSpPr>
        <p:spPr bwMode="auto">
          <a:xfrm>
            <a:off x="6331742" y="4673338"/>
            <a:ext cx="5262563" cy="1569660"/>
          </a:xfrm>
          <a:prstGeom prst="rect">
            <a:avLst/>
          </a:prstGeom>
          <a:noFill/>
          <a:ln w="57150" cap="rnd">
            <a:solidFill>
              <a:srgbClr val="FF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b="1"/>
              <a:t>Ng</a:t>
            </a:r>
            <a:r>
              <a:rPr lang="vi-VN" altLang="en-US" b="1"/>
              <a:t>ư</a:t>
            </a:r>
            <a:r>
              <a:rPr lang="en-US" altLang="en-US" b="1" err="1"/>
              <a:t>ời</a:t>
            </a:r>
            <a:r>
              <a:rPr lang="en-US" altLang="en-US" b="1"/>
              <a:t> </a:t>
            </a:r>
            <a:r>
              <a:rPr lang="en-US" altLang="en-US" b="1" err="1"/>
              <a:t>thực</a:t>
            </a:r>
            <a:r>
              <a:rPr lang="en-US" altLang="en-US" b="1"/>
              <a:t> </a:t>
            </a:r>
            <a:r>
              <a:rPr lang="en-US" altLang="en-US" b="1" err="1"/>
              <a:t>hiện</a:t>
            </a:r>
            <a:r>
              <a:rPr lang="en-GB" altLang="en-US" b="1"/>
              <a:t>:</a:t>
            </a:r>
            <a:r>
              <a:rPr lang="en-US" altLang="en-US" b="1"/>
              <a:t> </a:t>
            </a:r>
            <a:r>
              <a:rPr lang="en-US" altLang="en-US" b="1" err="1"/>
              <a:t>Nguyễn</a:t>
            </a:r>
            <a:r>
              <a:rPr lang="en-US" altLang="en-US" b="1"/>
              <a:t> </a:t>
            </a:r>
            <a:r>
              <a:rPr lang="en-US" altLang="en-US" b="1" err="1"/>
              <a:t>Tấn</a:t>
            </a:r>
            <a:r>
              <a:rPr lang="en-US" altLang="en-US" b="1"/>
              <a:t> </a:t>
            </a:r>
            <a:r>
              <a:rPr lang="en-US" altLang="en-US" b="1" err="1"/>
              <a:t>Quốc</a:t>
            </a:r>
            <a:endParaRPr lang="en-US" altLang="en-US" b="1"/>
          </a:p>
          <a:p>
            <a:pPr eaLnBrk="1" hangingPunct="1">
              <a:spcBef>
                <a:spcPct val="50000"/>
              </a:spcBef>
            </a:pPr>
            <a:r>
              <a:rPr lang="en-US" altLang="en-US" b="1"/>
              <a:t>Email: tquoc05072002@gmail.com </a:t>
            </a:r>
          </a:p>
          <a:p>
            <a:pPr eaLnBrk="1" hangingPunct="1">
              <a:spcBef>
                <a:spcPct val="50000"/>
              </a:spcBef>
            </a:pPr>
            <a:r>
              <a:rPr lang="en-US" altLang="en-US" b="1" err="1"/>
              <a:t>Điện</a:t>
            </a:r>
            <a:r>
              <a:rPr lang="en-US" altLang="en-US" b="1"/>
              <a:t> </a:t>
            </a:r>
            <a:r>
              <a:rPr lang="en-US" altLang="en-US" b="1" err="1"/>
              <a:t>thoại</a:t>
            </a:r>
            <a:r>
              <a:rPr lang="en-US" altLang="en-US" b="1"/>
              <a:t>: 0328490344</a:t>
            </a:r>
          </a:p>
        </p:txBody>
      </p:sp>
      <p:sp>
        <p:nvSpPr>
          <p:cNvPr id="6" name="Text Box 3">
            <a:extLst>
              <a:ext uri="{FF2B5EF4-FFF2-40B4-BE49-F238E27FC236}">
                <a16:creationId xmlns:a16="http://schemas.microsoft.com/office/drawing/2014/main" id="{E9F9BF1C-6631-45D0-845F-8D0F9BA37A06}"/>
              </a:ext>
            </a:extLst>
          </p:cNvPr>
          <p:cNvSpPr txBox="1">
            <a:spLocks noChangeArrowheads="1"/>
          </p:cNvSpPr>
          <p:nvPr/>
        </p:nvSpPr>
        <p:spPr bwMode="auto">
          <a:xfrm>
            <a:off x="681233" y="3198167"/>
            <a:ext cx="5262563" cy="461665"/>
          </a:xfrm>
          <a:prstGeom prst="rect">
            <a:avLst/>
          </a:prstGeom>
          <a:noFill/>
          <a:ln w="57150" cap="rnd">
            <a:solidFill>
              <a:srgbClr val="FF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b="1"/>
              <a:t>Thời gian: 120 phút</a:t>
            </a:r>
          </a:p>
        </p:txBody>
      </p:sp>
    </p:spTree>
    <p:extLst>
      <p:ext uri="{BB962C8B-B14F-4D97-AF65-F5344CB8AC3E}">
        <p14:creationId xmlns:p14="http://schemas.microsoft.com/office/powerpoint/2010/main" val="212317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414D18-CC54-4C8D-A1A6-1D96A977B0E6}"/>
              </a:ext>
            </a:extLst>
          </p:cNvPr>
          <p:cNvSpPr txBox="1">
            <a:spLocks noChangeArrowheads="1"/>
          </p:cNvSpPr>
          <p:nvPr/>
        </p:nvSpPr>
        <p:spPr>
          <a:xfrm>
            <a:off x="0" y="0"/>
            <a:ext cx="12192000" cy="787299"/>
          </a:xfrm>
          <a:prstGeom prst="rect">
            <a:avLst/>
          </a:prstGeom>
        </p:spPr>
        <p:txBody>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defRPr/>
            </a:pPr>
            <a:r>
              <a:rPr lang="en-US" sz="3600">
                <a:latin typeface="Times New Roman" panose="02020603050405020304" pitchFamily="18" charset="0"/>
                <a:ea typeface="+mn-ea"/>
                <a:cs typeface="+mn-cs"/>
              </a:rPr>
              <a:t>DÒNG THỜI GIAN BÀI GIẢNG</a:t>
            </a:r>
          </a:p>
        </p:txBody>
      </p:sp>
      <p:pic>
        <p:nvPicPr>
          <p:cNvPr id="6" name="Picture 5">
            <a:extLst>
              <a:ext uri="{FF2B5EF4-FFF2-40B4-BE49-F238E27FC236}">
                <a16:creationId xmlns:a16="http://schemas.microsoft.com/office/drawing/2014/main" id="{0363943B-ABBA-4946-B44B-ED261F310126}"/>
              </a:ext>
            </a:extLst>
          </p:cNvPr>
          <p:cNvPicPr>
            <a:picLocks noChangeAspect="1"/>
          </p:cNvPicPr>
          <p:nvPr/>
        </p:nvPicPr>
        <p:blipFill>
          <a:blip r:embed="rId2"/>
          <a:stretch>
            <a:fillRect/>
          </a:stretch>
        </p:blipFill>
        <p:spPr>
          <a:xfrm>
            <a:off x="6388455" y="1226582"/>
            <a:ext cx="5803545" cy="4336461"/>
          </a:xfrm>
          <a:prstGeom prst="rect">
            <a:avLst/>
          </a:prstGeom>
        </p:spPr>
      </p:pic>
      <p:sp>
        <p:nvSpPr>
          <p:cNvPr id="7" name="Rectangle 6">
            <a:extLst>
              <a:ext uri="{FF2B5EF4-FFF2-40B4-BE49-F238E27FC236}">
                <a16:creationId xmlns:a16="http://schemas.microsoft.com/office/drawing/2014/main" id="{0F1008F7-DA5B-42A4-85BA-DE93779DF75A}"/>
              </a:ext>
            </a:extLst>
          </p:cNvPr>
          <p:cNvSpPr/>
          <p:nvPr/>
        </p:nvSpPr>
        <p:spPr>
          <a:xfrm>
            <a:off x="6665899" y="1413291"/>
            <a:ext cx="4794067" cy="815288"/>
          </a:xfrm>
          <a:prstGeom prst="rect">
            <a:avLst/>
          </a:prstGeom>
        </p:spPr>
        <p:txBody>
          <a:bodyPr wrap="square">
            <a:spAutoFit/>
          </a:bodyPr>
          <a:lstStyle/>
          <a:p>
            <a:pPr algn="ctr">
              <a:lnSpc>
                <a:spcPts val="2880"/>
              </a:lnSpc>
              <a:tabLst>
                <a:tab pos="1539875" algn="l"/>
              </a:tabLst>
            </a:pPr>
            <a:r>
              <a:rPr lang="vi-VN" altLang="en-US" sz="2400" b="1">
                <a:solidFill>
                  <a:srgbClr val="FF0000"/>
                </a:solidFill>
                <a:latin typeface="Times New Roman (Headings)"/>
              </a:rPr>
              <a:t>Slides-</a:t>
            </a:r>
            <a:r>
              <a:rPr lang="en-US" altLang="en-US" sz="2400" b="1">
                <a:solidFill>
                  <a:srgbClr val="FF0000"/>
                </a:solidFill>
                <a:latin typeface="Times New Roman (Headings)"/>
              </a:rPr>
              <a:t>06</a:t>
            </a:r>
          </a:p>
          <a:p>
            <a:pPr algn="ctr">
              <a:lnSpc>
                <a:spcPts val="2880"/>
              </a:lnSpc>
              <a:tabLst>
                <a:tab pos="1539875" algn="l"/>
              </a:tabLst>
            </a:pPr>
            <a:r>
              <a:rPr lang="en-US" altLang="en-US" sz="2400" b="1">
                <a:solidFill>
                  <a:srgbClr val="FF0000"/>
                </a:solidFill>
                <a:latin typeface="Times New Roman (Headings)"/>
              </a:rPr>
              <a:t>Control cơ bản trong WPF</a:t>
            </a:r>
            <a:r>
              <a:rPr lang="vi-VN" altLang="en-US" sz="2400" b="1">
                <a:solidFill>
                  <a:srgbClr val="FF0000"/>
                </a:solidFill>
                <a:latin typeface="Times New Roman (Headings)"/>
              </a:rPr>
              <a:t> </a:t>
            </a:r>
          </a:p>
        </p:txBody>
      </p:sp>
      <p:sp>
        <p:nvSpPr>
          <p:cNvPr id="4" name="Rectangle 12">
            <a:extLst>
              <a:ext uri="{FF2B5EF4-FFF2-40B4-BE49-F238E27FC236}">
                <a16:creationId xmlns:a16="http://schemas.microsoft.com/office/drawing/2014/main" id="{1365EA8A-FF9A-3BC6-86E8-19FF8D7DEB8A}"/>
              </a:ext>
            </a:extLst>
          </p:cNvPr>
          <p:cNvSpPr>
            <a:spLocks noChangeArrowheads="1"/>
          </p:cNvSpPr>
          <p:nvPr/>
        </p:nvSpPr>
        <p:spPr bwMode="auto">
          <a:xfrm>
            <a:off x="-1" y="831946"/>
            <a:ext cx="8632371" cy="564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457200" indent="-457200">
              <a:lnSpc>
                <a:spcPts val="2880"/>
              </a:lnSpc>
              <a:buFont typeface="Wingdings" panose="05000000000000000000" pitchFamily="2" charset="2"/>
              <a:buChar char="v"/>
              <a:tabLst>
                <a:tab pos="1539875" algn="l"/>
              </a:tabLst>
            </a:pPr>
            <a:r>
              <a:rPr lang="en-US"/>
              <a:t>Lesson</a:t>
            </a:r>
            <a:r>
              <a:rPr lang="en-US" altLang="en-US"/>
              <a:t>-01 -</a:t>
            </a:r>
            <a:r>
              <a:rPr lang="vi-VN" altLang="en-US"/>
              <a:t> </a:t>
            </a:r>
            <a:r>
              <a:rPr lang="en-US" altLang="en-US"/>
              <a:t>Giới thiệu về Microsoft .Net và ngôn ngữ C# </a:t>
            </a:r>
          </a:p>
          <a:p>
            <a:pPr marL="457200" indent="-457200">
              <a:lnSpc>
                <a:spcPts val="2880"/>
              </a:lnSpc>
              <a:buFont typeface="Wingdings" panose="05000000000000000000" pitchFamily="2" charset="2"/>
              <a:buChar char="v"/>
              <a:tabLst>
                <a:tab pos="1539875" algn="l"/>
              </a:tabLst>
            </a:pPr>
            <a:r>
              <a:rPr lang="en-US"/>
              <a:t>Lesson</a:t>
            </a:r>
            <a:r>
              <a:rPr lang="en-US" altLang="en-US"/>
              <a:t>-02 	- Mảng và tập hợp</a:t>
            </a:r>
          </a:p>
          <a:p>
            <a:pPr marL="457200" indent="-457200">
              <a:lnSpc>
                <a:spcPts val="2880"/>
              </a:lnSpc>
              <a:buFont typeface="Wingdings" panose="05000000000000000000" pitchFamily="2" charset="2"/>
              <a:buChar char="v"/>
              <a:tabLst>
                <a:tab pos="1539875" algn="l"/>
              </a:tabLst>
            </a:pPr>
            <a:r>
              <a:rPr lang="en-US"/>
              <a:t>Lesson</a:t>
            </a:r>
            <a:r>
              <a:rPr lang="en-US" altLang="en-US"/>
              <a:t>-03 	- Lớp và đối t</a:t>
            </a:r>
            <a:r>
              <a:rPr lang="vi-VN" altLang="en-US"/>
              <a:t>ư</a:t>
            </a:r>
            <a:r>
              <a:rPr lang="en-US" altLang="en-US"/>
              <a:t>ợng trong C#</a:t>
            </a:r>
          </a:p>
          <a:p>
            <a:pPr marL="457200" indent="-457200">
              <a:lnSpc>
                <a:spcPts val="2880"/>
              </a:lnSpc>
              <a:buFont typeface="Wingdings" panose="05000000000000000000" pitchFamily="2" charset="2"/>
              <a:buChar char="v"/>
              <a:tabLst>
                <a:tab pos="1539875" algn="l"/>
              </a:tabLst>
            </a:pPr>
            <a:r>
              <a:rPr lang="en-US"/>
              <a:t>Lesson</a:t>
            </a:r>
            <a:r>
              <a:rPr lang="en-US" altLang="en-US"/>
              <a:t>-04 	- Kế thừa, đa hình trong C#</a:t>
            </a:r>
          </a:p>
          <a:p>
            <a:pPr marL="457200" indent="-457200">
              <a:lnSpc>
                <a:spcPts val="2880"/>
              </a:lnSpc>
              <a:buFont typeface="Wingdings" panose="05000000000000000000" pitchFamily="2" charset="2"/>
              <a:buChar char="v"/>
              <a:tabLst>
                <a:tab pos="1539875" algn="l"/>
              </a:tabLst>
            </a:pPr>
            <a:r>
              <a:rPr lang="en-US"/>
              <a:t>Lesson</a:t>
            </a:r>
            <a:r>
              <a:rPr lang="en-US" altLang="en-US"/>
              <a:t>-05 	- Giới thiệu về WPF, XAML</a:t>
            </a:r>
          </a:p>
          <a:p>
            <a:pPr marL="457200" indent="-457200">
              <a:lnSpc>
                <a:spcPts val="2880"/>
              </a:lnSpc>
              <a:buFont typeface="Wingdings" panose="05000000000000000000" pitchFamily="2" charset="2"/>
              <a:buChar char="v"/>
              <a:tabLst>
                <a:tab pos="1539875" algn="l"/>
              </a:tabLst>
            </a:pPr>
            <a:r>
              <a:rPr lang="en-US" b="1">
                <a:solidFill>
                  <a:srgbClr val="FF0000"/>
                </a:solidFill>
              </a:rPr>
              <a:t>Lesson</a:t>
            </a:r>
            <a:r>
              <a:rPr lang="en-US" altLang="en-US" b="1">
                <a:solidFill>
                  <a:srgbClr val="FF0000"/>
                </a:solidFill>
              </a:rPr>
              <a:t>-06 - </a:t>
            </a:r>
            <a:r>
              <a:rPr lang="en-US" b="1">
                <a:solidFill>
                  <a:srgbClr val="FF0000"/>
                </a:solidFill>
              </a:rPr>
              <a:t>Control cơ bản trong WPF</a:t>
            </a:r>
            <a:endParaRPr lang="en-US" altLang="en-US" b="1">
              <a:solidFill>
                <a:srgbClr val="FF0000"/>
              </a:solidFill>
            </a:endParaRPr>
          </a:p>
          <a:p>
            <a:pPr marL="457200" indent="-457200">
              <a:lnSpc>
                <a:spcPts val="2880"/>
              </a:lnSpc>
              <a:buFont typeface="Wingdings" panose="05000000000000000000" pitchFamily="2" charset="2"/>
              <a:buChar char="v"/>
              <a:tabLst>
                <a:tab pos="1539875" algn="l"/>
              </a:tabLst>
            </a:pPr>
            <a:r>
              <a:rPr lang="en-US" altLang="en-US"/>
              <a:t>Lesson-07 - </a:t>
            </a:r>
            <a:r>
              <a:rPr lang="en-US"/>
              <a:t>Layout, Window và Page</a:t>
            </a:r>
            <a:endParaRPr lang="en-US" altLang="en-US"/>
          </a:p>
          <a:p>
            <a:pPr marL="457200" indent="-457200">
              <a:lnSpc>
                <a:spcPts val="2880"/>
              </a:lnSpc>
              <a:buFont typeface="Wingdings" panose="05000000000000000000" pitchFamily="2" charset="2"/>
              <a:buChar char="v"/>
              <a:tabLst>
                <a:tab pos="1539875" algn="l"/>
              </a:tabLst>
            </a:pPr>
            <a:r>
              <a:rPr lang="en-US"/>
              <a:t>Lesson</a:t>
            </a:r>
            <a:r>
              <a:rPr lang="en-US" altLang="en-US"/>
              <a:t>-08 	- ORM, EF, Code First</a:t>
            </a:r>
          </a:p>
          <a:p>
            <a:pPr marL="457200" indent="-457200">
              <a:lnSpc>
                <a:spcPts val="2880"/>
              </a:lnSpc>
              <a:buFont typeface="Wingdings" panose="05000000000000000000" pitchFamily="2" charset="2"/>
              <a:buChar char="v"/>
              <a:tabLst>
                <a:tab pos="1539875" algn="l"/>
              </a:tabLst>
            </a:pPr>
            <a:r>
              <a:rPr lang="en-US"/>
              <a:t>Lesson</a:t>
            </a:r>
            <a:r>
              <a:rPr lang="vi-VN" altLang="en-US"/>
              <a:t>-</a:t>
            </a:r>
            <a:r>
              <a:rPr lang="en-US" altLang="en-US"/>
              <a:t>0</a:t>
            </a:r>
            <a:r>
              <a:rPr lang="vi-VN" altLang="en-US"/>
              <a:t>9 - </a:t>
            </a:r>
            <a:r>
              <a:rPr lang="en-US" altLang="en-US"/>
              <a:t>DataBaseFirst và Lambda</a:t>
            </a:r>
          </a:p>
          <a:p>
            <a:pPr marL="457200" indent="-457200">
              <a:lnSpc>
                <a:spcPts val="2880"/>
              </a:lnSpc>
              <a:buFont typeface="Wingdings" panose="05000000000000000000" pitchFamily="2" charset="2"/>
              <a:buChar char="v"/>
              <a:tabLst>
                <a:tab pos="1539875" algn="l"/>
              </a:tabLst>
            </a:pPr>
            <a:r>
              <a:rPr lang="en-US"/>
              <a:t>Lesson</a:t>
            </a:r>
            <a:r>
              <a:rPr lang="vi-VN" altLang="en-US"/>
              <a:t>-10 </a:t>
            </a:r>
            <a:r>
              <a:rPr lang="en-US" altLang="en-US"/>
              <a:t>	</a:t>
            </a:r>
            <a:r>
              <a:rPr lang="vi-VN" altLang="en-US"/>
              <a:t>- LINQ, CRUD</a:t>
            </a:r>
          </a:p>
          <a:p>
            <a:pPr marL="457200" indent="-457200">
              <a:lnSpc>
                <a:spcPts val="2880"/>
              </a:lnSpc>
              <a:buFont typeface="Wingdings" panose="05000000000000000000" pitchFamily="2" charset="2"/>
              <a:buChar char="v"/>
              <a:tabLst>
                <a:tab pos="1539875" algn="l"/>
              </a:tabLst>
            </a:pPr>
            <a:r>
              <a:rPr lang="en-US"/>
              <a:t>Lesson</a:t>
            </a:r>
            <a:r>
              <a:rPr lang="vi-VN" altLang="en-US"/>
              <a:t>-11</a:t>
            </a:r>
            <a:r>
              <a:rPr lang="en-US" altLang="en-US"/>
              <a:t>	</a:t>
            </a:r>
            <a:r>
              <a:rPr lang="vi-VN" altLang="en-US"/>
              <a:t>- Mô hình MVVM</a:t>
            </a:r>
          </a:p>
          <a:p>
            <a:pPr marL="457200" indent="-457200">
              <a:lnSpc>
                <a:spcPts val="2880"/>
              </a:lnSpc>
              <a:buFont typeface="Wingdings" panose="05000000000000000000" pitchFamily="2" charset="2"/>
              <a:buChar char="v"/>
              <a:tabLst>
                <a:tab pos="1539875" algn="l"/>
              </a:tabLst>
            </a:pPr>
            <a:r>
              <a:rPr lang="en-US"/>
              <a:t>Lesson</a:t>
            </a:r>
            <a:r>
              <a:rPr lang="vi-VN" altLang="en-US"/>
              <a:t>-12 </a:t>
            </a:r>
            <a:r>
              <a:rPr lang="en-US" altLang="en-US"/>
              <a:t>	</a:t>
            </a:r>
            <a:r>
              <a:rPr lang="vi-VN" altLang="en-US"/>
              <a:t>- Tổ chức nhóm theo MVVM</a:t>
            </a:r>
          </a:p>
          <a:p>
            <a:pPr marL="457200" indent="-457200">
              <a:lnSpc>
                <a:spcPts val="2880"/>
              </a:lnSpc>
              <a:buFont typeface="Wingdings" panose="05000000000000000000" pitchFamily="2" charset="2"/>
              <a:buChar char="v"/>
              <a:tabLst>
                <a:tab pos="1539875" algn="l"/>
              </a:tabLst>
            </a:pPr>
            <a:r>
              <a:rPr lang="en-US"/>
              <a:t>Lesson</a:t>
            </a:r>
            <a:r>
              <a:rPr lang="vi-VN" altLang="en-US"/>
              <a:t>-13 </a:t>
            </a:r>
            <a:r>
              <a:rPr lang="en-US" altLang="en-US"/>
              <a:t>	</a:t>
            </a:r>
            <a:r>
              <a:rPr lang="vi-VN" altLang="en-US"/>
              <a:t>- Khái niệm </a:t>
            </a:r>
            <a:r>
              <a:rPr lang="en-US" altLang="en-US"/>
              <a:t>nâng cao </a:t>
            </a:r>
            <a:r>
              <a:rPr lang="vi-VN" altLang="en-US"/>
              <a:t>trong MVVM</a:t>
            </a:r>
          </a:p>
          <a:p>
            <a:pPr marL="457200" indent="-457200">
              <a:lnSpc>
                <a:spcPts val="2880"/>
              </a:lnSpc>
              <a:buFont typeface="Wingdings" panose="05000000000000000000" pitchFamily="2" charset="2"/>
              <a:buChar char="v"/>
              <a:tabLst>
                <a:tab pos="1539875" algn="l"/>
              </a:tabLst>
            </a:pPr>
            <a:r>
              <a:rPr lang="en-US"/>
              <a:t>Lesson</a:t>
            </a:r>
            <a:r>
              <a:rPr lang="vi-VN" altLang="en-US"/>
              <a:t>-14 </a:t>
            </a:r>
            <a:r>
              <a:rPr lang="en-US" altLang="en-US"/>
              <a:t>	</a:t>
            </a:r>
            <a:r>
              <a:rPr lang="vi-VN" altLang="en-US"/>
              <a:t>- Machine Learning cho .NET</a:t>
            </a:r>
          </a:p>
          <a:p>
            <a:pPr marL="457200" indent="-457200">
              <a:lnSpc>
                <a:spcPts val="2880"/>
              </a:lnSpc>
              <a:buFont typeface="Wingdings" panose="05000000000000000000" pitchFamily="2" charset="2"/>
              <a:buChar char="v"/>
              <a:tabLst>
                <a:tab pos="1539875" algn="l"/>
              </a:tabLst>
            </a:pPr>
            <a:r>
              <a:rPr lang="vi-VN" altLang="en-US"/>
              <a:t>Lesson-15 </a:t>
            </a:r>
            <a:r>
              <a:rPr lang="en-US" altLang="en-US"/>
              <a:t>	</a:t>
            </a:r>
            <a:r>
              <a:rPr lang="vi-VN" altLang="en-US"/>
              <a:t>- Ứng dụng ONNX Runtime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NỘI DUNG</a:t>
            </a:r>
          </a:p>
        </p:txBody>
      </p:sp>
      <p:sp>
        <p:nvSpPr>
          <p:cNvPr id="15" name="Rectangle 8">
            <a:extLst>
              <a:ext uri="{FF2B5EF4-FFF2-40B4-BE49-F238E27FC236}">
                <a16:creationId xmlns:a16="http://schemas.microsoft.com/office/drawing/2014/main" id="{7E8A2098-3C3F-44C0-ABBC-230DD98C5011}"/>
              </a:ext>
            </a:extLst>
          </p:cNvPr>
          <p:cNvSpPr txBox="1">
            <a:spLocks noChangeArrowheads="1"/>
          </p:cNvSpPr>
          <p:nvPr/>
        </p:nvSpPr>
        <p:spPr>
          <a:xfrm>
            <a:off x="0" y="762000"/>
            <a:ext cx="12192000" cy="535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Giới thiệu các control c</a:t>
            </a:r>
            <a:r>
              <a:rPr lang="vi-VN" sz="3000">
                <a:latin typeface="Times New Roman" panose="02020603050405020304" pitchFamily="18" charset="0"/>
                <a:cs typeface="Times New Roman" panose="02020603050405020304" pitchFamily="18" charset="0"/>
              </a:rPr>
              <a:t>ơ</a:t>
            </a:r>
            <a:r>
              <a:rPr lang="en-US" sz="3000">
                <a:latin typeface="Times New Roman" panose="02020603050405020304" pitchFamily="18" charset="0"/>
                <a:cs typeface="Times New Roman" panose="02020603050405020304" pitchFamily="18" charset="0"/>
              </a:rPr>
              <a:t> bản trong WPF</a:t>
            </a: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Các control chuyên biệt trong WPF</a:t>
            </a: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Giới thiệu các sự kiện trong WPF</a:t>
            </a:r>
            <a:endParaRPr lang="en-US" sz="26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CONTROL TRONG WPF LÀ GÌ ?</a:t>
            </a:r>
          </a:p>
        </p:txBody>
      </p:sp>
      <p:sp>
        <p:nvSpPr>
          <p:cNvPr id="5" name="Rectangle 8">
            <a:extLst>
              <a:ext uri="{FF2B5EF4-FFF2-40B4-BE49-F238E27FC236}">
                <a16:creationId xmlns:a16="http://schemas.microsoft.com/office/drawing/2014/main" id="{147A03DA-7E53-46A5-BFB9-3D5B365CB3C5}"/>
              </a:ext>
            </a:extLst>
          </p:cNvPr>
          <p:cNvSpPr txBox="1">
            <a:spLocks noChangeArrowheads="1"/>
          </p:cNvSpPr>
          <p:nvPr/>
        </p:nvSpPr>
        <p:spPr>
          <a:xfrm>
            <a:off x="0" y="761999"/>
            <a:ext cx="8552329" cy="58050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Control là các thành phần giao diện người dùng cho phép người dùng</a:t>
            </a:r>
            <a:r>
              <a:rPr lang="en-US" sz="3000">
                <a:latin typeface="Times New Roman" panose="02020603050405020304" pitchFamily="18" charset="0"/>
                <a:cs typeface="Times New Roman" panose="02020603050405020304" pitchFamily="18" charset="0"/>
              </a:rPr>
              <a:t> nhìn thấy,</a:t>
            </a:r>
            <a:r>
              <a:rPr lang="vi-VN" sz="3000">
                <a:latin typeface="Times New Roman" panose="02020603050405020304" pitchFamily="18" charset="0"/>
                <a:cs typeface="Times New Roman" panose="02020603050405020304" pitchFamily="18" charset="0"/>
              </a:rPr>
              <a:t> tương tác với ứng dụng.</a:t>
            </a:r>
          </a:p>
          <a:p>
            <a:pPr marL="457200"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Đa số</a:t>
            </a:r>
            <a:r>
              <a:rPr lang="vi-VN" sz="3000">
                <a:latin typeface="Times New Roman" panose="02020603050405020304" pitchFamily="18" charset="0"/>
                <a:cs typeface="Times New Roman" panose="02020603050405020304" pitchFamily="18" charset="0"/>
              </a:rPr>
              <a:t> Control</a:t>
            </a:r>
            <a:r>
              <a:rPr lang="en-US" sz="3000">
                <a:latin typeface="Times New Roman" panose="02020603050405020304" pitchFamily="18" charset="0"/>
                <a:cs typeface="Times New Roman" panose="02020603050405020304" pitchFamily="18" charset="0"/>
              </a:rPr>
              <a:t> trong WPF đều kế thừa từ </a:t>
            </a:r>
            <a:r>
              <a:rPr lang="vi-VN">
                <a:latin typeface="Consolas" panose="020B0609020204030204" pitchFamily="49" charset="0"/>
                <a:cs typeface="Times New Roman" panose="02020603050405020304" pitchFamily="18" charset="0"/>
              </a:rPr>
              <a:t>System.Windows.Controls.Control</a:t>
            </a:r>
            <a:endParaRPr lang="en-US">
              <a:latin typeface="Consolas" panose="020B0609020204030204" pitchFamily="49" charset="0"/>
              <a:cs typeface="Times New Roman" panose="02020603050405020304" pitchFamily="18" charset="0"/>
            </a:endParaRPr>
          </a:p>
          <a:p>
            <a:pPr marL="457200"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Mỗi control có thể được định nghĩa bằng XAML và xử lý bằng C# Code-behind.</a:t>
            </a:r>
            <a:endParaRPr lang="en-US" sz="30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18DFD3B-318C-730F-29E7-0738B7108B11}"/>
              </a:ext>
            </a:extLst>
          </p:cNvPr>
          <p:cNvPicPr>
            <a:picLocks noChangeAspect="1"/>
          </p:cNvPicPr>
          <p:nvPr/>
        </p:nvPicPr>
        <p:blipFill>
          <a:blip r:embed="rId2"/>
          <a:stretch>
            <a:fillRect/>
          </a:stretch>
        </p:blipFill>
        <p:spPr>
          <a:xfrm>
            <a:off x="8470636" y="928304"/>
            <a:ext cx="3721364" cy="5461738"/>
          </a:xfrm>
          <a:prstGeom prst="rect">
            <a:avLst/>
          </a:prstGeom>
        </p:spPr>
      </p:pic>
    </p:spTree>
    <p:extLst>
      <p:ext uri="{BB962C8B-B14F-4D97-AF65-F5344CB8AC3E}">
        <p14:creationId xmlns:p14="http://schemas.microsoft.com/office/powerpoint/2010/main" val="2187289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TỔNG QUAN CONTROL TRÊN WPF</a:t>
            </a:r>
          </a:p>
        </p:txBody>
      </p:sp>
      <p:sp>
        <p:nvSpPr>
          <p:cNvPr id="5" name="Rectangle 8">
            <a:extLst>
              <a:ext uri="{FF2B5EF4-FFF2-40B4-BE49-F238E27FC236}">
                <a16:creationId xmlns:a16="http://schemas.microsoft.com/office/drawing/2014/main" id="{D3136E31-B10A-4A8B-878C-6B535B7D4002}"/>
              </a:ext>
            </a:extLst>
          </p:cNvPr>
          <p:cNvSpPr txBox="1">
            <a:spLocks noChangeArrowheads="1"/>
          </p:cNvSpPr>
          <p:nvPr/>
        </p:nvSpPr>
        <p:spPr>
          <a:xfrm>
            <a:off x="0" y="761999"/>
            <a:ext cx="5852160" cy="58050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Trong WPF có h</a:t>
            </a:r>
            <a:r>
              <a:rPr lang="vi-VN" sz="3000">
                <a:latin typeface="Times New Roman" panose="02020603050405020304" pitchFamily="18" charset="0"/>
                <a:cs typeface="Times New Roman" panose="02020603050405020304" pitchFamily="18" charset="0"/>
              </a:rPr>
              <a:t>ơ</a:t>
            </a:r>
            <a:r>
              <a:rPr lang="en-US" sz="3000">
                <a:latin typeface="Times New Roman" panose="02020603050405020304" pitchFamily="18" charset="0"/>
                <a:cs typeface="Times New Roman" panose="02020603050405020304" pitchFamily="18" charset="0"/>
              </a:rPr>
              <a:t>n 100 control có sẵn</a:t>
            </a:r>
          </a:p>
          <a:p>
            <a:pPr marL="457200"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Đ</a:t>
            </a:r>
            <a:r>
              <a:rPr lang="vi-VN" sz="3000">
                <a:latin typeface="Times New Roman" panose="02020603050405020304" pitchFamily="18" charset="0"/>
                <a:cs typeface="Times New Roman" panose="02020603050405020304" pitchFamily="18" charset="0"/>
              </a:rPr>
              <a:t>ược chia thành các nhóm như: control cơ bản (Base Controls), layout, container, data, media, navigation,... </a:t>
            </a:r>
            <a:endParaRPr lang="en-US" sz="3000">
              <a:latin typeface="Times New Roman" panose="02020603050405020304" pitchFamily="18" charset="0"/>
              <a:cs typeface="Times New Roman" panose="02020603050405020304" pitchFamily="18" charset="0"/>
            </a:endParaRPr>
          </a:p>
        </p:txBody>
      </p:sp>
      <p:pic>
        <p:nvPicPr>
          <p:cNvPr id="8" name="Hình ảnh 7">
            <a:extLst>
              <a:ext uri="{FF2B5EF4-FFF2-40B4-BE49-F238E27FC236}">
                <a16:creationId xmlns:a16="http://schemas.microsoft.com/office/drawing/2014/main" id="{D1BC7E9E-694F-43A0-8628-1A3BCF9BD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60773"/>
            <a:ext cx="5908227" cy="5007506"/>
          </a:xfrm>
          <a:prstGeom prst="rect">
            <a:avLst/>
          </a:prstGeom>
        </p:spPr>
      </p:pic>
    </p:spTree>
    <p:extLst>
      <p:ext uri="{BB962C8B-B14F-4D97-AF65-F5344CB8AC3E}">
        <p14:creationId xmlns:p14="http://schemas.microsoft.com/office/powerpoint/2010/main" val="3833076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TỔNG QUAN CONTROL TRÊN WPF</a:t>
            </a:r>
          </a:p>
        </p:txBody>
      </p:sp>
      <p:pic>
        <p:nvPicPr>
          <p:cNvPr id="2" name="Picture 1">
            <a:extLst>
              <a:ext uri="{FF2B5EF4-FFF2-40B4-BE49-F238E27FC236}">
                <a16:creationId xmlns:a16="http://schemas.microsoft.com/office/drawing/2014/main" id="{16AC37FD-5E30-4ED4-869A-96BF25838EE1}"/>
              </a:ext>
            </a:extLst>
          </p:cNvPr>
          <p:cNvPicPr>
            <a:picLocks noChangeAspect="1"/>
          </p:cNvPicPr>
          <p:nvPr/>
        </p:nvPicPr>
        <p:blipFill>
          <a:blip r:embed="rId3"/>
          <a:stretch>
            <a:fillRect/>
          </a:stretch>
        </p:blipFill>
        <p:spPr>
          <a:xfrm>
            <a:off x="3048426" y="1031132"/>
            <a:ext cx="6750614" cy="5291847"/>
          </a:xfrm>
          <a:prstGeom prst="rect">
            <a:avLst/>
          </a:prstGeom>
        </p:spPr>
      </p:pic>
      <p:sp>
        <p:nvSpPr>
          <p:cNvPr id="3" name="Rectangle 2">
            <a:extLst>
              <a:ext uri="{FF2B5EF4-FFF2-40B4-BE49-F238E27FC236}">
                <a16:creationId xmlns:a16="http://schemas.microsoft.com/office/drawing/2014/main" id="{90A419CC-9CCF-4A47-90CD-E0C80E805AB0}"/>
              </a:ext>
            </a:extLst>
          </p:cNvPr>
          <p:cNvSpPr/>
          <p:nvPr/>
        </p:nvSpPr>
        <p:spPr>
          <a:xfrm>
            <a:off x="2976664" y="1031132"/>
            <a:ext cx="7042825" cy="529184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404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LABEL</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679470"/>
            <a:ext cx="12192000" cy="58344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H</a:t>
            </a:r>
            <a:r>
              <a:rPr lang="vi-VN" sz="3000">
                <a:latin typeface="Times New Roman" panose="02020603050405020304" pitchFamily="18" charset="0"/>
                <a:cs typeface="Times New Roman" panose="02020603050405020304" pitchFamily="18" charset="0"/>
              </a:rPr>
              <a:t>iển </a:t>
            </a:r>
            <a:r>
              <a:rPr lang="vi-VN" sz="3000">
                <a:latin typeface="+mj-lt"/>
              </a:rPr>
              <a:t>thị </a:t>
            </a:r>
            <a:r>
              <a:rPr lang="en-US" sz="3000">
                <a:latin typeface="+mj-lt"/>
              </a:rPr>
              <a:t>t</a:t>
            </a:r>
            <a:r>
              <a:rPr lang="vi-VN" sz="3000">
                <a:latin typeface="+mj-lt"/>
              </a:rPr>
              <a:t>iêu đề, mô tả, ghi chú </a:t>
            </a:r>
            <a:endParaRPr lang="en-US" sz="3000">
              <a:latin typeface="+mj-lt"/>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BB46AB3-C995-4D4F-AE1C-DF0913E914CA}"/>
              </a:ext>
            </a:extLst>
          </p:cNvPr>
          <p:cNvPicPr>
            <a:picLocks noChangeAspect="1"/>
          </p:cNvPicPr>
          <p:nvPr/>
        </p:nvPicPr>
        <p:blipFill>
          <a:blip r:embed="rId3"/>
          <a:stretch>
            <a:fillRect/>
          </a:stretch>
        </p:blipFill>
        <p:spPr>
          <a:xfrm>
            <a:off x="7521655" y="1038137"/>
            <a:ext cx="4178470" cy="2083480"/>
          </a:xfrm>
          <a:prstGeom prst="rect">
            <a:avLst/>
          </a:prstGeom>
        </p:spPr>
      </p:pic>
      <p:sp>
        <p:nvSpPr>
          <p:cNvPr id="7" name="Rectangle 6">
            <a:extLst>
              <a:ext uri="{FF2B5EF4-FFF2-40B4-BE49-F238E27FC236}">
                <a16:creationId xmlns:a16="http://schemas.microsoft.com/office/drawing/2014/main" id="{A4511218-0A97-4903-9226-474AF066E87F}"/>
              </a:ext>
            </a:extLst>
          </p:cNvPr>
          <p:cNvSpPr/>
          <p:nvPr/>
        </p:nvSpPr>
        <p:spPr>
          <a:xfrm>
            <a:off x="0" y="2149012"/>
            <a:ext cx="8154296" cy="2677656"/>
          </a:xfrm>
          <a:prstGeom prst="rect">
            <a:avLst/>
          </a:prstGeom>
        </p:spPr>
        <p:txBody>
          <a:bodyPr wrap="square">
            <a:spAutoFit/>
          </a:bodyPr>
          <a:lstStyle/>
          <a:p>
            <a:r>
              <a:rPr lang="en-US" sz="20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Label</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="ĐÂY LÀ LABEL"</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FontSize</a:t>
            </a:r>
            <a:r>
              <a:rPr lang="en-US" sz="2400">
                <a:solidFill>
                  <a:srgbClr val="0000FF"/>
                </a:solidFill>
                <a:latin typeface="Consolas" panose="020B0609020204030204" pitchFamily="49" charset="0"/>
              </a:rPr>
              <a:t>="16"</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FontWeight</a:t>
            </a:r>
            <a:r>
              <a:rPr lang="en-US" sz="2400">
                <a:solidFill>
                  <a:srgbClr val="0000FF"/>
                </a:solidFill>
                <a:latin typeface="Consolas" panose="020B0609020204030204" pitchFamily="49" charset="0"/>
              </a:rPr>
              <a:t>="Bold"</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p>
        </p:txBody>
      </p:sp>
      <p:sp>
        <p:nvSpPr>
          <p:cNvPr id="8" name="Rectangle 7">
            <a:extLst>
              <a:ext uri="{FF2B5EF4-FFF2-40B4-BE49-F238E27FC236}">
                <a16:creationId xmlns:a16="http://schemas.microsoft.com/office/drawing/2014/main" id="{360A58BA-2E46-49C8-802F-D73023287E52}"/>
              </a:ext>
            </a:extLst>
          </p:cNvPr>
          <p:cNvSpPr/>
          <p:nvPr/>
        </p:nvSpPr>
        <p:spPr>
          <a:xfrm>
            <a:off x="2875427" y="5586613"/>
            <a:ext cx="1547218" cy="701859"/>
          </a:xfrm>
          <a:prstGeom prst="rect">
            <a:avLst/>
          </a:prstGeom>
        </p:spPr>
        <p:txBody>
          <a:bodyPr wrap="none">
            <a:spAutoFit/>
          </a:body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XAML</a:t>
            </a:r>
          </a:p>
        </p:txBody>
      </p:sp>
      <p:sp>
        <p:nvSpPr>
          <p:cNvPr id="9" name="Arrow: Right 8">
            <a:extLst>
              <a:ext uri="{FF2B5EF4-FFF2-40B4-BE49-F238E27FC236}">
                <a16:creationId xmlns:a16="http://schemas.microsoft.com/office/drawing/2014/main" id="{3FD2DA9C-CD14-40F0-823E-C2A85ABECFB2}"/>
              </a:ext>
            </a:extLst>
          </p:cNvPr>
          <p:cNvSpPr/>
          <p:nvPr/>
        </p:nvSpPr>
        <p:spPr>
          <a:xfrm rot="16200000">
            <a:off x="3031330" y="4874517"/>
            <a:ext cx="1235412" cy="3561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074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TEXTBLOCK + HYPERLINK</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679470"/>
            <a:ext cx="9445214" cy="21318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Hiển thị văn bản, có thể chèn liên kết Hyperlink.</a:t>
            </a: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6488213-3350-463B-AB5C-71B8E7A2D017}"/>
              </a:ext>
            </a:extLst>
          </p:cNvPr>
          <p:cNvPicPr>
            <a:picLocks noChangeAspect="1"/>
          </p:cNvPicPr>
          <p:nvPr/>
        </p:nvPicPr>
        <p:blipFill>
          <a:blip r:embed="rId3"/>
          <a:stretch>
            <a:fillRect/>
          </a:stretch>
        </p:blipFill>
        <p:spPr>
          <a:xfrm>
            <a:off x="8242907" y="982402"/>
            <a:ext cx="3870913" cy="1464456"/>
          </a:xfrm>
          <a:prstGeom prst="rect">
            <a:avLst/>
          </a:prstGeom>
        </p:spPr>
      </p:pic>
      <p:sp>
        <p:nvSpPr>
          <p:cNvPr id="3" name="Rectangle 2">
            <a:extLst>
              <a:ext uri="{FF2B5EF4-FFF2-40B4-BE49-F238E27FC236}">
                <a16:creationId xmlns:a16="http://schemas.microsoft.com/office/drawing/2014/main" id="{606460D3-9956-41BE-9663-41D3D4C5486F}"/>
              </a:ext>
            </a:extLst>
          </p:cNvPr>
          <p:cNvSpPr/>
          <p:nvPr/>
        </p:nvSpPr>
        <p:spPr>
          <a:xfrm>
            <a:off x="0" y="2477047"/>
            <a:ext cx="12192000" cy="1569660"/>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Hyperlink</a:t>
            </a:r>
            <a:r>
              <a:rPr lang="en-US" sz="2400">
                <a:solidFill>
                  <a:srgbClr val="FF0000"/>
                </a:solidFill>
                <a:latin typeface="Consolas" panose="020B0609020204030204" pitchFamily="49" charset="0"/>
              </a:rPr>
              <a:t> NavigateUri</a:t>
            </a:r>
            <a:r>
              <a:rPr lang="en-US" sz="2400">
                <a:solidFill>
                  <a:srgbClr val="0000FF"/>
                </a:solidFill>
                <a:latin typeface="Consolas" panose="020B0609020204030204" pitchFamily="49" charset="0"/>
              </a:rPr>
              <a:t>="https://kcntt.duytan.edu.vn/"</a:t>
            </a:r>
            <a:r>
              <a:rPr lang="en-US" sz="2400">
                <a:solidFill>
                  <a:srgbClr val="FF0000"/>
                </a:solidFill>
                <a:latin typeface="Consolas" panose="020B0609020204030204" pitchFamily="49" charset="0"/>
              </a:rPr>
              <a:t> RequestNavigate</a:t>
            </a:r>
            <a:r>
              <a:rPr lang="en-US" sz="2400">
                <a:solidFill>
                  <a:srgbClr val="0000FF"/>
                </a:solidFill>
                <a:latin typeface="Consolas" panose="020B0609020204030204" pitchFamily="49" charset="0"/>
              </a:rPr>
              <a:t>="Hyperlink_RequestNavigate"&gt;</a:t>
            </a:r>
            <a:r>
              <a:rPr lang="en-US" sz="2400">
                <a:solidFill>
                  <a:srgbClr val="000000"/>
                </a:solidFill>
                <a:latin typeface="Consolas" panose="020B0609020204030204" pitchFamily="49" charset="0"/>
              </a:rPr>
              <a:t>https://kcntt.duytan.edu.vn</a:t>
            </a: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Hyperlink</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endParaRPr lang="en-US" sz="2400"/>
          </a:p>
        </p:txBody>
      </p:sp>
      <p:sp>
        <p:nvSpPr>
          <p:cNvPr id="8" name="Rectangle 7">
            <a:extLst>
              <a:ext uri="{FF2B5EF4-FFF2-40B4-BE49-F238E27FC236}">
                <a16:creationId xmlns:a16="http://schemas.microsoft.com/office/drawing/2014/main" id="{46B1F95D-1AF4-4F6B-9669-585E252071F9}"/>
              </a:ext>
            </a:extLst>
          </p:cNvPr>
          <p:cNvSpPr/>
          <p:nvPr/>
        </p:nvSpPr>
        <p:spPr>
          <a:xfrm>
            <a:off x="4966247" y="3792847"/>
            <a:ext cx="1547218" cy="701859"/>
          </a:xfrm>
          <a:prstGeom prst="rect">
            <a:avLst/>
          </a:prstGeom>
        </p:spPr>
        <p:txBody>
          <a:bodyPr wrap="none">
            <a:spAutoFit/>
          </a:body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XAML</a:t>
            </a:r>
          </a:p>
        </p:txBody>
      </p:sp>
      <p:sp>
        <p:nvSpPr>
          <p:cNvPr id="9" name="Arrow: Right 8">
            <a:extLst>
              <a:ext uri="{FF2B5EF4-FFF2-40B4-BE49-F238E27FC236}">
                <a16:creationId xmlns:a16="http://schemas.microsoft.com/office/drawing/2014/main" id="{392C763C-441D-4001-8724-C92D5E5FC749}"/>
              </a:ext>
            </a:extLst>
          </p:cNvPr>
          <p:cNvSpPr/>
          <p:nvPr/>
        </p:nvSpPr>
        <p:spPr>
          <a:xfrm rot="16200000">
            <a:off x="5617555" y="3404121"/>
            <a:ext cx="600746" cy="3561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C33BC1-15D9-4F17-8FEC-0576ECC78395}"/>
              </a:ext>
            </a:extLst>
          </p:cNvPr>
          <p:cNvSpPr/>
          <p:nvPr/>
        </p:nvSpPr>
        <p:spPr>
          <a:xfrm>
            <a:off x="2990717" y="4588768"/>
            <a:ext cx="9298376" cy="1938992"/>
          </a:xfrm>
          <a:prstGeom prst="rect">
            <a:avLst/>
          </a:prstGeom>
        </p:spPr>
        <p:txBody>
          <a:bodyPr wrap="square">
            <a:spAutoFit/>
          </a:bodyPr>
          <a:lstStyle/>
          <a:p>
            <a:r>
              <a:rPr lang="en-US" sz="2400">
                <a:solidFill>
                  <a:srgbClr val="0000FF"/>
                </a:solidFill>
                <a:latin typeface="Consolas" panose="020B0609020204030204" pitchFamily="49" charset="0"/>
              </a:rPr>
              <a:t>private</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void</a:t>
            </a:r>
            <a:r>
              <a:rPr lang="en-US" sz="2400">
                <a:solidFill>
                  <a:srgbClr val="000000"/>
                </a:solidFill>
                <a:latin typeface="Consolas" panose="020B0609020204030204" pitchFamily="49" charset="0"/>
              </a:rPr>
              <a:t> Hyperlink_RequestNavigate(</a:t>
            </a:r>
            <a:r>
              <a:rPr lang="en-US" sz="2400">
                <a:solidFill>
                  <a:srgbClr val="0000FF"/>
                </a:solidFill>
                <a:latin typeface="Consolas" panose="020B0609020204030204" pitchFamily="49" charset="0"/>
              </a:rPr>
              <a:t>object</a:t>
            </a:r>
            <a:r>
              <a:rPr lang="en-US" sz="2400">
                <a:solidFill>
                  <a:srgbClr val="000000"/>
                </a:solidFill>
                <a:latin typeface="Consolas" panose="020B0609020204030204" pitchFamily="49" charset="0"/>
              </a:rPr>
              <a:t> sender,RequestNavigateEventArgs e)</a:t>
            </a:r>
          </a:p>
          <a:p>
            <a:r>
              <a:rPr lang="en-US" sz="2400">
                <a:solidFill>
                  <a:srgbClr val="000000"/>
                </a:solidFill>
                <a:latin typeface="Consolas" panose="020B0609020204030204" pitchFamily="49" charset="0"/>
              </a:rPr>
              <a:t>{</a:t>
            </a:r>
          </a:p>
          <a:p>
            <a:r>
              <a:rPr lang="en-US" sz="2400">
                <a:solidFill>
                  <a:srgbClr val="000000"/>
                </a:solidFill>
                <a:latin typeface="Consolas" panose="020B0609020204030204" pitchFamily="49" charset="0"/>
              </a:rPr>
              <a:t>	</a:t>
            </a:r>
            <a:r>
              <a:rPr lang="en-US" sz="2400">
                <a:latin typeface="Consolas" panose="020B0609020204030204" pitchFamily="49" charset="0"/>
              </a:rPr>
              <a:t>Process.Start(e.Uri.ToString());</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a:t>
            </a:r>
            <a:endParaRPr lang="en-US" sz="2400">
              <a:latin typeface="Consolas" panose="020B0609020204030204" pitchFamily="49" charset="0"/>
            </a:endParaRPr>
          </a:p>
        </p:txBody>
      </p:sp>
      <p:sp>
        <p:nvSpPr>
          <p:cNvPr id="14" name="Rectangle 13">
            <a:extLst>
              <a:ext uri="{FF2B5EF4-FFF2-40B4-BE49-F238E27FC236}">
                <a16:creationId xmlns:a16="http://schemas.microsoft.com/office/drawing/2014/main" id="{F5628D2C-B7C7-4D3F-94CD-1A83FAA4B129}"/>
              </a:ext>
            </a:extLst>
          </p:cNvPr>
          <p:cNvSpPr/>
          <p:nvPr/>
        </p:nvSpPr>
        <p:spPr>
          <a:xfrm>
            <a:off x="0" y="5280765"/>
            <a:ext cx="2007281" cy="701859"/>
          </a:xfrm>
          <a:prstGeom prst="rect">
            <a:avLst/>
          </a:prstGeom>
        </p:spPr>
        <p:txBody>
          <a:bodyPr wrap="none">
            <a:spAutoFit/>
          </a:body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CODE C#</a:t>
            </a:r>
          </a:p>
        </p:txBody>
      </p:sp>
      <p:sp>
        <p:nvSpPr>
          <p:cNvPr id="15" name="Arrow: Right 14">
            <a:extLst>
              <a:ext uri="{FF2B5EF4-FFF2-40B4-BE49-F238E27FC236}">
                <a16:creationId xmlns:a16="http://schemas.microsoft.com/office/drawing/2014/main" id="{E1CC8023-D0C6-497D-8200-61D0A9EA14A7}"/>
              </a:ext>
            </a:extLst>
          </p:cNvPr>
          <p:cNvSpPr/>
          <p:nvPr/>
        </p:nvSpPr>
        <p:spPr>
          <a:xfrm>
            <a:off x="2153033" y="5490853"/>
            <a:ext cx="691932" cy="3561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0124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TEXTBOX</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49778"/>
            <a:ext cx="7605656"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Dùng để nhập liệu văn bản (input text từ người dùng).</a:t>
            </a:r>
          </a:p>
          <a:p>
            <a:pPr marL="228600" lvl="1" indent="0">
              <a:lnSpc>
                <a:spcPct val="150000"/>
              </a:lnSpc>
              <a:spcBef>
                <a:spcPts val="0"/>
              </a:spcBef>
              <a:buNone/>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28782" y="2951752"/>
            <a:ext cx="11257714" cy="2308324"/>
          </a:xfrm>
          <a:prstGeom prst="rect">
            <a:avLst/>
          </a:prstGeom>
        </p:spPr>
        <p:txBody>
          <a:bodyPr wrap="square">
            <a:spAutoFit/>
          </a:bodyPr>
          <a:lstStyle/>
          <a:p>
            <a:r>
              <a:rPr lang="en-US" sz="16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FF0000"/>
                </a:solidFill>
                <a:latin typeface="Consolas" panose="020B0609020204030204" pitchFamily="49" charset="0"/>
              </a:rPr>
              <a:t> Title</a:t>
            </a:r>
            <a:r>
              <a:rPr lang="en-US" sz="2400">
                <a:solidFill>
                  <a:srgbClr val="0000FF"/>
                </a:solidFill>
                <a:latin typeface="Consolas" panose="020B0609020204030204" pitchFamily="49" charset="0"/>
              </a:rPr>
              <a:t>="Ví Dụ TextBox"</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="150"</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="300"&gt;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TextBox</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="200"</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="30"</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p>
        </p:txBody>
      </p:sp>
      <p:pic>
        <p:nvPicPr>
          <p:cNvPr id="13" name="Picture 12">
            <a:extLst>
              <a:ext uri="{FF2B5EF4-FFF2-40B4-BE49-F238E27FC236}">
                <a16:creationId xmlns:a16="http://schemas.microsoft.com/office/drawing/2014/main" id="{446E4168-909B-42BF-96C3-5690DC2704EF}"/>
              </a:ext>
            </a:extLst>
          </p:cNvPr>
          <p:cNvPicPr>
            <a:picLocks noChangeAspect="1"/>
          </p:cNvPicPr>
          <p:nvPr/>
        </p:nvPicPr>
        <p:blipFill>
          <a:blip r:embed="rId3"/>
          <a:stretch>
            <a:fillRect/>
          </a:stretch>
        </p:blipFill>
        <p:spPr>
          <a:xfrm>
            <a:off x="7474841" y="909227"/>
            <a:ext cx="3811655" cy="1895298"/>
          </a:xfrm>
          <a:prstGeom prst="rect">
            <a:avLst/>
          </a:prstGeom>
        </p:spPr>
      </p:pic>
    </p:spTree>
    <p:extLst>
      <p:ext uri="{BB962C8B-B14F-4D97-AF65-F5344CB8AC3E}">
        <p14:creationId xmlns:p14="http://schemas.microsoft.com/office/powerpoint/2010/main" val="2456331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BUTTON</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679470"/>
            <a:ext cx="12003578" cy="54385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Dùng để thực thi một hành động khi người dùng bấm vào.</a:t>
            </a: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0" y="4523023"/>
            <a:ext cx="11249907" cy="1200329"/>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Button</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="Nhấn vào tôi"</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="150"</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="40"</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="Bottom"</a:t>
            </a:r>
            <a:r>
              <a:rPr lang="en-US" sz="2400">
                <a:solidFill>
                  <a:srgbClr val="FF0000"/>
                </a:solidFill>
                <a:latin typeface="Consolas" panose="020B0609020204030204" pitchFamily="49" charset="0"/>
              </a:rPr>
              <a:t> Margin</a:t>
            </a:r>
            <a:r>
              <a:rPr lang="en-US" sz="2400">
                <a:solidFill>
                  <a:srgbClr val="0000FF"/>
                </a:solidFill>
                <a:latin typeface="Consolas" panose="020B0609020204030204" pitchFamily="49" charset="0"/>
              </a:rPr>
              <a:t>="72,0,71,40"/&gt;</a:t>
            </a:r>
            <a:endParaRPr lang="en-US" sz="2400">
              <a:solidFill>
                <a:srgbClr val="000000"/>
              </a:solidFill>
              <a:latin typeface="Consolas" panose="020B0609020204030204" pitchFamily="49" charset="0"/>
            </a:endParaRPr>
          </a:p>
        </p:txBody>
      </p:sp>
      <p:pic>
        <p:nvPicPr>
          <p:cNvPr id="2" name="Picture 1">
            <a:extLst>
              <a:ext uri="{FF2B5EF4-FFF2-40B4-BE49-F238E27FC236}">
                <a16:creationId xmlns:a16="http://schemas.microsoft.com/office/drawing/2014/main" id="{CA99A85D-CE8B-4F2D-AA71-DEF922AE0B42}"/>
              </a:ext>
            </a:extLst>
          </p:cNvPr>
          <p:cNvPicPr>
            <a:picLocks noChangeAspect="1"/>
          </p:cNvPicPr>
          <p:nvPr/>
        </p:nvPicPr>
        <p:blipFill>
          <a:blip r:embed="rId3"/>
          <a:stretch>
            <a:fillRect/>
          </a:stretch>
        </p:blipFill>
        <p:spPr>
          <a:xfrm>
            <a:off x="3850981" y="2098309"/>
            <a:ext cx="4490037" cy="2257422"/>
          </a:xfrm>
          <a:prstGeom prst="rect">
            <a:avLst/>
          </a:prstGeom>
        </p:spPr>
      </p:pic>
    </p:spTree>
    <p:extLst>
      <p:ext uri="{BB962C8B-B14F-4D97-AF65-F5344CB8AC3E}">
        <p14:creationId xmlns:p14="http://schemas.microsoft.com/office/powerpoint/2010/main" val="2070443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CHECKBOX</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11770467"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Cho phép chọn nhiều lựa chọn cùng lúc (chọn hoặc bỏ chọn). </a:t>
            </a: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884820" y="3870206"/>
            <a:ext cx="10422360" cy="2308324"/>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WrapPanel</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fr-FR" sz="2400">
                <a:solidFill>
                  <a:srgbClr val="000000"/>
                </a:solidFill>
                <a:latin typeface="Consolas" panose="020B0609020204030204" pitchFamily="49" charset="0"/>
              </a:rPr>
              <a:t>            </a:t>
            </a:r>
            <a:r>
              <a:rPr lang="fr-FR" sz="2400">
                <a:solidFill>
                  <a:srgbClr val="0000FF"/>
                </a:solidFill>
                <a:latin typeface="Consolas" panose="020B0609020204030204" pitchFamily="49" charset="0"/>
              </a:rPr>
              <a:t>&lt;</a:t>
            </a:r>
            <a:r>
              <a:rPr lang="fr-FR" sz="2400">
                <a:solidFill>
                  <a:srgbClr val="A31515"/>
                </a:solidFill>
                <a:latin typeface="Consolas" panose="020B0609020204030204" pitchFamily="49" charset="0"/>
              </a:rPr>
              <a:t>CheckBox</a:t>
            </a:r>
            <a:r>
              <a:rPr lang="fr-FR" sz="2400">
                <a:solidFill>
                  <a:srgbClr val="FF0000"/>
                </a:solidFill>
                <a:latin typeface="Consolas" panose="020B0609020204030204" pitchFamily="49" charset="0"/>
              </a:rPr>
              <a:t> Content</a:t>
            </a:r>
            <a:r>
              <a:rPr lang="fr-FR" sz="2400">
                <a:solidFill>
                  <a:srgbClr val="0000FF"/>
                </a:solidFill>
                <a:latin typeface="Consolas" panose="020B0609020204030204" pitchFamily="49" charset="0"/>
              </a:rPr>
              <a:t>="Phật Giáo"</a:t>
            </a:r>
            <a:r>
              <a:rPr lang="fr-FR" sz="2400">
                <a:solidFill>
                  <a:srgbClr val="FF0000"/>
                </a:solidFill>
                <a:latin typeface="Consolas" panose="020B0609020204030204" pitchFamily="49" charset="0"/>
              </a:rPr>
              <a:t> Margin</a:t>
            </a:r>
            <a:r>
              <a:rPr lang="fr-FR" sz="2400">
                <a:solidFill>
                  <a:srgbClr val="0000FF"/>
                </a:solidFill>
                <a:latin typeface="Consolas" panose="020B0609020204030204" pitchFamily="49" charset="0"/>
              </a:rPr>
              <a:t>="5"/&gt;</a:t>
            </a:r>
            <a:endParaRPr lang="fr-FR"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CheckBox</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="Thiên Chúa"</a:t>
            </a:r>
            <a:r>
              <a:rPr lang="en-US" sz="2400">
                <a:solidFill>
                  <a:srgbClr val="FF0000"/>
                </a:solidFill>
                <a:latin typeface="Consolas" panose="020B0609020204030204" pitchFamily="49" charset="0"/>
              </a:rPr>
              <a:t> Margin</a:t>
            </a:r>
            <a:r>
              <a:rPr lang="en-US" sz="2400">
                <a:solidFill>
                  <a:srgbClr val="0000FF"/>
                </a:solidFill>
                <a:latin typeface="Consolas" panose="020B0609020204030204" pitchFamily="49" charset="0"/>
              </a:rPr>
              <a:t>="5"/&gt;</a:t>
            </a:r>
            <a:endParaRPr lang="en-US" sz="2400">
              <a:solidFill>
                <a:srgbClr val="000000"/>
              </a:solidFill>
              <a:latin typeface="Consolas" panose="020B0609020204030204" pitchFamily="49" charset="0"/>
            </a:endParaRPr>
          </a:p>
          <a:p>
            <a:r>
              <a:rPr lang="fr-FR" sz="2400">
                <a:solidFill>
                  <a:srgbClr val="000000"/>
                </a:solidFill>
                <a:latin typeface="Consolas" panose="020B0609020204030204" pitchFamily="49" charset="0"/>
              </a:rPr>
              <a:t>            </a:t>
            </a:r>
            <a:r>
              <a:rPr lang="fr-FR" sz="2400">
                <a:solidFill>
                  <a:srgbClr val="0000FF"/>
                </a:solidFill>
                <a:latin typeface="Consolas" panose="020B0609020204030204" pitchFamily="49" charset="0"/>
              </a:rPr>
              <a:t>&lt;</a:t>
            </a:r>
            <a:r>
              <a:rPr lang="fr-FR" sz="2400">
                <a:solidFill>
                  <a:srgbClr val="A31515"/>
                </a:solidFill>
                <a:latin typeface="Consolas" panose="020B0609020204030204" pitchFamily="49" charset="0"/>
              </a:rPr>
              <a:t>CheckBox</a:t>
            </a:r>
            <a:r>
              <a:rPr lang="fr-FR" sz="2400">
                <a:solidFill>
                  <a:srgbClr val="FF0000"/>
                </a:solidFill>
                <a:latin typeface="Consolas" panose="020B0609020204030204" pitchFamily="49" charset="0"/>
              </a:rPr>
              <a:t> Content</a:t>
            </a:r>
            <a:r>
              <a:rPr lang="fr-FR" sz="2400">
                <a:solidFill>
                  <a:srgbClr val="0000FF"/>
                </a:solidFill>
                <a:latin typeface="Consolas" panose="020B0609020204030204" pitchFamily="49" charset="0"/>
              </a:rPr>
              <a:t>="Tin Lành"</a:t>
            </a:r>
            <a:r>
              <a:rPr lang="fr-FR" sz="2400">
                <a:solidFill>
                  <a:srgbClr val="FF0000"/>
                </a:solidFill>
                <a:latin typeface="Consolas" panose="020B0609020204030204" pitchFamily="49" charset="0"/>
              </a:rPr>
              <a:t> Margin</a:t>
            </a:r>
            <a:r>
              <a:rPr lang="fr-FR" sz="2400">
                <a:solidFill>
                  <a:srgbClr val="0000FF"/>
                </a:solidFill>
                <a:latin typeface="Consolas" panose="020B0609020204030204" pitchFamily="49" charset="0"/>
              </a:rPr>
              <a:t>="5"/&gt;</a:t>
            </a:r>
            <a:endParaRPr lang="fr-FR" sz="2400">
              <a:solidFill>
                <a:srgbClr val="000000"/>
              </a:solidFill>
              <a:latin typeface="Consolas" panose="020B0609020204030204" pitchFamily="49" charset="0"/>
            </a:endParaRPr>
          </a:p>
          <a:p>
            <a:r>
              <a:rPr lang="fr-FR" sz="2400">
                <a:solidFill>
                  <a:srgbClr val="000000"/>
                </a:solidFill>
                <a:latin typeface="Consolas" panose="020B0609020204030204" pitchFamily="49" charset="0"/>
              </a:rPr>
              <a:t>            </a:t>
            </a:r>
            <a:r>
              <a:rPr lang="fr-FR" sz="2400">
                <a:solidFill>
                  <a:srgbClr val="0000FF"/>
                </a:solidFill>
                <a:latin typeface="Consolas" panose="020B0609020204030204" pitchFamily="49" charset="0"/>
              </a:rPr>
              <a:t>&lt;</a:t>
            </a:r>
            <a:r>
              <a:rPr lang="fr-FR" sz="2400">
                <a:solidFill>
                  <a:srgbClr val="A31515"/>
                </a:solidFill>
                <a:latin typeface="Consolas" panose="020B0609020204030204" pitchFamily="49" charset="0"/>
              </a:rPr>
              <a:t>CheckBox</a:t>
            </a:r>
            <a:r>
              <a:rPr lang="fr-FR" sz="2400">
                <a:solidFill>
                  <a:srgbClr val="FF0000"/>
                </a:solidFill>
                <a:latin typeface="Consolas" panose="020B0609020204030204" pitchFamily="49" charset="0"/>
              </a:rPr>
              <a:t> Content</a:t>
            </a:r>
            <a:r>
              <a:rPr lang="fr-FR" sz="2400">
                <a:solidFill>
                  <a:srgbClr val="0000FF"/>
                </a:solidFill>
                <a:latin typeface="Consolas" panose="020B0609020204030204" pitchFamily="49" charset="0"/>
              </a:rPr>
              <a:t>="Hồi Giáo"</a:t>
            </a:r>
            <a:r>
              <a:rPr lang="fr-FR" sz="2400">
                <a:solidFill>
                  <a:srgbClr val="FF0000"/>
                </a:solidFill>
                <a:latin typeface="Consolas" panose="020B0609020204030204" pitchFamily="49" charset="0"/>
              </a:rPr>
              <a:t> Margin</a:t>
            </a:r>
            <a:r>
              <a:rPr lang="fr-FR" sz="2400">
                <a:solidFill>
                  <a:srgbClr val="0000FF"/>
                </a:solidFill>
                <a:latin typeface="Consolas" panose="020B0609020204030204" pitchFamily="49" charset="0"/>
              </a:rPr>
              <a:t>="5"/&gt;</a:t>
            </a:r>
            <a:endParaRPr lang="fr-FR"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WrapPanel</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p:txBody>
      </p:sp>
      <p:pic>
        <p:nvPicPr>
          <p:cNvPr id="3" name="Picture 2">
            <a:extLst>
              <a:ext uri="{FF2B5EF4-FFF2-40B4-BE49-F238E27FC236}">
                <a16:creationId xmlns:a16="http://schemas.microsoft.com/office/drawing/2014/main" id="{8102C92D-B427-42FA-A1C7-CCA83F5AA3B3}"/>
              </a:ext>
            </a:extLst>
          </p:cNvPr>
          <p:cNvPicPr>
            <a:picLocks noChangeAspect="1"/>
          </p:cNvPicPr>
          <p:nvPr/>
        </p:nvPicPr>
        <p:blipFill>
          <a:blip r:embed="rId3"/>
          <a:stretch>
            <a:fillRect/>
          </a:stretch>
        </p:blipFill>
        <p:spPr>
          <a:xfrm>
            <a:off x="3467910" y="2268784"/>
            <a:ext cx="5256179" cy="1714500"/>
          </a:xfrm>
          <a:prstGeom prst="rect">
            <a:avLst/>
          </a:prstGeom>
        </p:spPr>
      </p:pic>
    </p:spTree>
    <p:extLst>
      <p:ext uri="{BB962C8B-B14F-4D97-AF65-F5344CB8AC3E}">
        <p14:creationId xmlns:p14="http://schemas.microsoft.com/office/powerpoint/2010/main" val="3766991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RADIOBUTTON</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679470"/>
            <a:ext cx="7315200"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Dùng để chọn một trong nhiều tùy chọn.</a:t>
            </a: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Khác với Checkbox: chỉ đ</a:t>
            </a:r>
            <a:r>
              <a:rPr lang="vi-VN" sz="3000">
                <a:latin typeface="Times New Roman" panose="02020603050405020304" pitchFamily="18" charset="0"/>
                <a:cs typeface="Times New Roman" panose="02020603050405020304" pitchFamily="18" charset="0"/>
              </a:rPr>
              <a:t>ư</a:t>
            </a:r>
            <a:r>
              <a:rPr lang="en-US" sz="3000">
                <a:latin typeface="Times New Roman" panose="02020603050405020304" pitchFamily="18" charset="0"/>
                <a:cs typeface="Times New Roman" panose="02020603050405020304" pitchFamily="18" charset="0"/>
              </a:rPr>
              <a:t>ợc chọn 1</a:t>
            </a: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362971" y="3597857"/>
            <a:ext cx="10695890" cy="2308324"/>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StackPanel</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RadioButton</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="Nam"</a:t>
            </a:r>
            <a:r>
              <a:rPr lang="en-US" sz="2400">
                <a:solidFill>
                  <a:srgbClr val="FF0000"/>
                </a:solidFill>
                <a:latin typeface="Consolas" panose="020B0609020204030204" pitchFamily="49" charset="0"/>
              </a:rPr>
              <a:t> GroupName</a:t>
            </a:r>
            <a:r>
              <a:rPr lang="en-US" sz="2400">
                <a:solidFill>
                  <a:srgbClr val="0000FF"/>
                </a:solidFill>
                <a:latin typeface="Consolas" panose="020B0609020204030204" pitchFamily="49" charset="0"/>
              </a:rPr>
              <a:t>="Gender"/&gt;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RadioButton</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="Nữ"</a:t>
            </a:r>
            <a:r>
              <a:rPr lang="en-US" sz="2400">
                <a:solidFill>
                  <a:srgbClr val="FF0000"/>
                </a:solidFill>
                <a:latin typeface="Consolas" panose="020B0609020204030204" pitchFamily="49" charset="0"/>
              </a:rPr>
              <a:t> GroupName</a:t>
            </a:r>
            <a:r>
              <a:rPr lang="en-US" sz="2400">
                <a:solidFill>
                  <a:srgbClr val="0000FF"/>
                </a:solidFill>
                <a:latin typeface="Consolas" panose="020B0609020204030204" pitchFamily="49" charset="0"/>
              </a:rPr>
              <a:t>="Gender"/&gt;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RadioButton</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="Khác"</a:t>
            </a:r>
            <a:r>
              <a:rPr lang="en-US" sz="2400">
                <a:solidFill>
                  <a:srgbClr val="FF0000"/>
                </a:solidFill>
                <a:latin typeface="Consolas" panose="020B0609020204030204" pitchFamily="49" charset="0"/>
              </a:rPr>
              <a:t> GroupName</a:t>
            </a:r>
            <a:r>
              <a:rPr lang="en-US" sz="2400">
                <a:solidFill>
                  <a:srgbClr val="0000FF"/>
                </a:solidFill>
                <a:latin typeface="Consolas" panose="020B0609020204030204" pitchFamily="49" charset="0"/>
              </a:rPr>
              <a:t>="Gender"/&gt;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StackPanel</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p:txBody>
      </p:sp>
      <p:pic>
        <p:nvPicPr>
          <p:cNvPr id="2" name="Picture 1">
            <a:extLst>
              <a:ext uri="{FF2B5EF4-FFF2-40B4-BE49-F238E27FC236}">
                <a16:creationId xmlns:a16="http://schemas.microsoft.com/office/drawing/2014/main" id="{AE28D7CB-D916-43F8-8629-95716C6B9308}"/>
              </a:ext>
            </a:extLst>
          </p:cNvPr>
          <p:cNvPicPr>
            <a:picLocks noChangeAspect="1"/>
          </p:cNvPicPr>
          <p:nvPr/>
        </p:nvPicPr>
        <p:blipFill>
          <a:blip r:embed="rId3"/>
          <a:stretch>
            <a:fillRect/>
          </a:stretch>
        </p:blipFill>
        <p:spPr>
          <a:xfrm>
            <a:off x="8183780" y="1104900"/>
            <a:ext cx="3467100" cy="2324100"/>
          </a:xfrm>
          <a:prstGeom prst="rect">
            <a:avLst/>
          </a:prstGeom>
        </p:spPr>
      </p:pic>
    </p:spTree>
    <p:extLst>
      <p:ext uri="{BB962C8B-B14F-4D97-AF65-F5344CB8AC3E}">
        <p14:creationId xmlns:p14="http://schemas.microsoft.com/office/powerpoint/2010/main" val="4170685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COMBOBOX</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8528859"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Cho phép chọn một mục từ danh sách xổ xuống.</a:t>
            </a: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4" indent="-457200">
              <a:lnSpc>
                <a:spcPct val="150000"/>
              </a:lnSpc>
              <a:spcBef>
                <a:spcPts val="0"/>
              </a:spcBef>
              <a:buFont typeface="Wingdings" panose="05000000000000000000" pitchFamily="2" charset="2"/>
              <a:buChar char="v"/>
              <a:defRPr/>
            </a:pPr>
            <a:endParaRPr lang="en-US" sz="24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0" y="3500874"/>
            <a:ext cx="12192001" cy="2677656"/>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="200"</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="Kinh"</a:t>
            </a:r>
            <a:r>
              <a:rPr lang="en-US" sz="2400">
                <a:solidFill>
                  <a:srgbClr val="FF0000"/>
                </a:solidFill>
                <a:latin typeface="Consolas" panose="020B0609020204030204" pitchFamily="49" charset="0"/>
              </a:rPr>
              <a:t> IsSelected</a:t>
            </a:r>
            <a:r>
              <a:rPr lang="en-US" sz="2400">
                <a:solidFill>
                  <a:srgbClr val="0000FF"/>
                </a:solidFill>
                <a:latin typeface="Consolas" panose="020B0609020204030204" pitchFamily="49" charset="0"/>
              </a:rPr>
              <a:t>="True"/&gt;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="Tày"/&gt;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="Nùng"/&gt;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="Khác"/&gt;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ComboBox</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p:txBody>
      </p:sp>
      <p:pic>
        <p:nvPicPr>
          <p:cNvPr id="3" name="Picture 2">
            <a:extLst>
              <a:ext uri="{FF2B5EF4-FFF2-40B4-BE49-F238E27FC236}">
                <a16:creationId xmlns:a16="http://schemas.microsoft.com/office/drawing/2014/main" id="{E46A0A36-1C21-421D-9E37-715DD7B256FF}"/>
              </a:ext>
            </a:extLst>
          </p:cNvPr>
          <p:cNvPicPr>
            <a:picLocks noChangeAspect="1"/>
          </p:cNvPicPr>
          <p:nvPr/>
        </p:nvPicPr>
        <p:blipFill>
          <a:blip r:embed="rId3"/>
          <a:stretch>
            <a:fillRect/>
          </a:stretch>
        </p:blipFill>
        <p:spPr>
          <a:xfrm>
            <a:off x="8251115" y="1115424"/>
            <a:ext cx="3619856" cy="2278796"/>
          </a:xfrm>
          <a:prstGeom prst="rect">
            <a:avLst/>
          </a:prstGeom>
        </p:spPr>
      </p:pic>
    </p:spTree>
    <p:extLst>
      <p:ext uri="{BB962C8B-B14F-4D97-AF65-F5344CB8AC3E}">
        <p14:creationId xmlns:p14="http://schemas.microsoft.com/office/powerpoint/2010/main" val="578286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LISTBOX</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8743951"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Hiển thị danh sách nhiều mục, cho phép chọn 1 hoặc nhiều mục</a:t>
            </a:r>
            <a:endParaRPr lang="en-US" sz="3000">
              <a:latin typeface="Times New Roman" panose="02020603050405020304" pitchFamily="18" charset="0"/>
              <a:cs typeface="Times New Roman" panose="02020603050405020304" pitchFamily="18" charset="0"/>
            </a:endParaRPr>
          </a:p>
          <a:p>
            <a:pPr lvl="4" indent="-457200">
              <a:lnSpc>
                <a:spcPct val="150000"/>
              </a:lnSpc>
              <a:spcBef>
                <a:spcPts val="0"/>
              </a:spcBef>
              <a:buFont typeface="Wingdings" panose="05000000000000000000" pitchFamily="2" charset="2"/>
              <a:buChar char="v"/>
              <a:defRPr/>
            </a:pPr>
            <a:endParaRPr lang="en-US" sz="24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0" y="2766420"/>
            <a:ext cx="9814560" cy="3785652"/>
          </a:xfrm>
          <a:prstGeom prst="rect">
            <a:avLst/>
          </a:prstGeom>
        </p:spPr>
        <p:txBody>
          <a:bodyPr wrap="square">
            <a:spAutoFit/>
          </a:bodyPr>
          <a:lstStyle/>
          <a:p>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="200"</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="150"</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HorizontalAlignment</a:t>
            </a:r>
            <a:r>
              <a:rPr lang="en-US" sz="2400">
                <a:solidFill>
                  <a:srgbClr val="0000FF"/>
                </a:solidFill>
                <a:latin typeface="Consolas" panose="020B0609020204030204" pitchFamily="49" charset="0"/>
              </a:rPr>
              <a:t>="Center"</a:t>
            </a:r>
            <a:r>
              <a:rPr lang="en-US" sz="2400">
                <a:solidFill>
                  <a:srgbClr val="FF0000"/>
                </a:solidFill>
                <a:latin typeface="Consolas" panose="020B0609020204030204" pitchFamily="49" charset="0"/>
              </a:rPr>
              <a:t> </a:t>
            </a:r>
          </a:p>
          <a:p>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a:t>
            </a:r>
            <a:r>
              <a:rPr lang="en-US" sz="2400">
                <a:solidFill>
                  <a:srgbClr val="000000"/>
                </a:solidFill>
                <a:latin typeface="Consolas" panose="020B0609020204030204" pitchFamily="49" charset="0"/>
              </a:rPr>
              <a:t> </a:t>
            </a: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SelectionMode</a:t>
            </a:r>
            <a:r>
              <a:rPr lang="en-US" sz="2400">
                <a:solidFill>
                  <a:srgbClr val="0000FF"/>
                </a:solidFill>
                <a:latin typeface="Consolas" panose="020B0609020204030204" pitchFamily="49" charset="0"/>
              </a:rPr>
              <a:t>="Multiple"&gt;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="Tiếng Anh"/&gt;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="Tiếng Pháp"/&gt;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="Tiếng Trung"/&gt;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ListBoxItem</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="Tiếng Nhật"/&gt;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ListBox</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p:txBody>
      </p:sp>
      <p:pic>
        <p:nvPicPr>
          <p:cNvPr id="6" name="Picture 5">
            <a:extLst>
              <a:ext uri="{FF2B5EF4-FFF2-40B4-BE49-F238E27FC236}">
                <a16:creationId xmlns:a16="http://schemas.microsoft.com/office/drawing/2014/main" id="{DB56C4B4-57B6-4120-8677-A82C6962C731}"/>
              </a:ext>
            </a:extLst>
          </p:cNvPr>
          <p:cNvPicPr>
            <a:picLocks noChangeAspect="1"/>
          </p:cNvPicPr>
          <p:nvPr/>
        </p:nvPicPr>
        <p:blipFill>
          <a:blip r:embed="rId3"/>
          <a:stretch>
            <a:fillRect/>
          </a:stretch>
        </p:blipFill>
        <p:spPr>
          <a:xfrm>
            <a:off x="8380209" y="1105751"/>
            <a:ext cx="3448050" cy="2914650"/>
          </a:xfrm>
          <a:prstGeom prst="rect">
            <a:avLst/>
          </a:prstGeom>
        </p:spPr>
      </p:pic>
    </p:spTree>
    <p:extLst>
      <p:ext uri="{BB962C8B-B14F-4D97-AF65-F5344CB8AC3E}">
        <p14:creationId xmlns:p14="http://schemas.microsoft.com/office/powerpoint/2010/main" val="2274207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DATEPICKER</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8743951"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3000">
                <a:latin typeface="Times New Roman" panose="02020603050405020304" pitchFamily="18" charset="0"/>
                <a:cs typeface="Times New Roman" panose="02020603050405020304" pitchFamily="18" charset="0"/>
              </a:rPr>
              <a:t>Mục đích:</a:t>
            </a:r>
          </a:p>
          <a:p>
            <a:pPr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Cho phép chọn ngày tháng năm từ lịch popup.</a:t>
            </a:r>
            <a:endParaRPr lang="en-US" sz="24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1" y="2176614"/>
            <a:ext cx="12192000" cy="830997"/>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DatePicker</a:t>
            </a:r>
            <a:r>
              <a:rPr lang="en-US" sz="2400">
                <a:solidFill>
                  <a:srgbClr val="FF0000"/>
                </a:solidFill>
                <a:latin typeface="Consolas" panose="020B0609020204030204" pitchFamily="49" charset="0"/>
              </a:rPr>
              <a:t> SelectedDate</a:t>
            </a:r>
            <a:r>
              <a:rPr lang="en-US" sz="2400">
                <a:solidFill>
                  <a:srgbClr val="0000FF"/>
                </a:solidFill>
                <a:latin typeface="Consolas" panose="020B0609020204030204" pitchFamily="49" charset="0"/>
              </a:rPr>
              <a:t>="{</a:t>
            </a:r>
            <a:r>
              <a:rPr lang="en-US" sz="2400">
                <a:solidFill>
                  <a:srgbClr val="A31515"/>
                </a:solidFill>
                <a:latin typeface="Consolas" panose="020B0609020204030204" pitchFamily="49" charset="0"/>
              </a:rPr>
              <a:t>x</a:t>
            </a:r>
            <a:r>
              <a:rPr lang="en-US" sz="2400">
                <a:solidFill>
                  <a:srgbClr val="0000FF"/>
                </a:solidFill>
                <a:latin typeface="Consolas" panose="020B0609020204030204" pitchFamily="49" charset="0"/>
              </a:rPr>
              <a:t>:</a:t>
            </a:r>
            <a:r>
              <a:rPr lang="en-US" sz="2400">
                <a:solidFill>
                  <a:srgbClr val="A31515"/>
                </a:solidFill>
                <a:latin typeface="Consolas" panose="020B0609020204030204" pitchFamily="49" charset="0"/>
              </a:rPr>
              <a:t>Static</a:t>
            </a:r>
            <a:r>
              <a:rPr lang="en-US" sz="2400">
                <a:solidFill>
                  <a:srgbClr val="FF0000"/>
                </a:solidFill>
                <a:latin typeface="Consolas" panose="020B0609020204030204" pitchFamily="49" charset="0"/>
              </a:rPr>
              <a:t> sys</a:t>
            </a:r>
            <a:r>
              <a:rPr lang="en-US" sz="2400">
                <a:solidFill>
                  <a:srgbClr val="0000FF"/>
                </a:solidFill>
                <a:latin typeface="Consolas" panose="020B0609020204030204" pitchFamily="49" charset="0"/>
              </a:rPr>
              <a:t>:</a:t>
            </a:r>
            <a:r>
              <a:rPr lang="en-US" sz="2400">
                <a:solidFill>
                  <a:srgbClr val="FF0000"/>
                </a:solidFill>
                <a:latin typeface="Consolas" panose="020B0609020204030204" pitchFamily="49" charset="0"/>
              </a:rPr>
              <a:t>DateTime</a:t>
            </a:r>
            <a:r>
              <a:rPr lang="en-US" sz="2400">
                <a:solidFill>
                  <a:srgbClr val="0000FF"/>
                </a:solidFill>
                <a:latin typeface="Consolas" panose="020B0609020204030204" pitchFamily="49" charset="0"/>
              </a:rPr>
              <a:t>.Now}"</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HorizontalAlignment</a:t>
            </a:r>
            <a:r>
              <a:rPr lang="en-US" sz="2400">
                <a:solidFill>
                  <a:srgbClr val="0000FF"/>
                </a:solidFill>
                <a:latin typeface="Consolas" panose="020B0609020204030204" pitchFamily="49" charset="0"/>
              </a:rPr>
              <a:t>="Center"</a:t>
            </a:r>
            <a:r>
              <a:rPr lang="en-US" sz="2400">
                <a:solidFill>
                  <a:srgbClr val="FF0000"/>
                </a:solidFill>
                <a:latin typeface="Consolas" panose="020B0609020204030204" pitchFamily="49" charset="0"/>
              </a:rPr>
              <a:t> VerticalAlignment</a:t>
            </a:r>
            <a:r>
              <a:rPr lang="en-US" sz="2400">
                <a:solidFill>
                  <a:srgbClr val="0000FF"/>
                </a:solidFill>
                <a:latin typeface="Consolas" panose="020B0609020204030204" pitchFamily="49" charset="0"/>
              </a:rPr>
              <a:t>="Center"/&gt;</a:t>
            </a:r>
            <a:endParaRPr lang="en-US" sz="2400">
              <a:solidFill>
                <a:srgbClr val="000000"/>
              </a:solidFill>
              <a:latin typeface="Consolas" panose="020B0609020204030204" pitchFamily="49" charset="0"/>
            </a:endParaRPr>
          </a:p>
        </p:txBody>
      </p:sp>
      <p:pic>
        <p:nvPicPr>
          <p:cNvPr id="3" name="Picture 2">
            <a:extLst>
              <a:ext uri="{FF2B5EF4-FFF2-40B4-BE49-F238E27FC236}">
                <a16:creationId xmlns:a16="http://schemas.microsoft.com/office/drawing/2014/main" id="{11EE3CEB-CD65-408A-AE99-97FC126DA7E9}"/>
              </a:ext>
            </a:extLst>
          </p:cNvPr>
          <p:cNvPicPr>
            <a:picLocks noChangeAspect="1"/>
          </p:cNvPicPr>
          <p:nvPr/>
        </p:nvPicPr>
        <p:blipFill>
          <a:blip r:embed="rId3"/>
          <a:stretch>
            <a:fillRect/>
          </a:stretch>
        </p:blipFill>
        <p:spPr>
          <a:xfrm>
            <a:off x="3881312" y="3515347"/>
            <a:ext cx="4429374" cy="2251395"/>
          </a:xfrm>
          <a:prstGeom prst="rect">
            <a:avLst/>
          </a:prstGeom>
        </p:spPr>
      </p:pic>
    </p:spTree>
    <p:extLst>
      <p:ext uri="{BB962C8B-B14F-4D97-AF65-F5344CB8AC3E}">
        <p14:creationId xmlns:p14="http://schemas.microsoft.com/office/powerpoint/2010/main" val="2026562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MENU</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10097312"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3000" b="1">
                <a:latin typeface="Times New Roman" panose="02020603050405020304" pitchFamily="18" charset="0"/>
                <a:cs typeface="Times New Roman" panose="02020603050405020304" pitchFamily="18" charset="0"/>
              </a:rPr>
              <a:t>Menu: </a:t>
            </a:r>
            <a:r>
              <a:rPr lang="vi-VN" sz="3000">
                <a:latin typeface="Times New Roman" panose="02020603050405020304" pitchFamily="18" charset="0"/>
                <a:cs typeface="Times New Roman" panose="02020603050405020304" pitchFamily="18" charset="0"/>
              </a:rPr>
              <a:t>Là Control điều hướng ➔ chứa các MenuItem con.</a:t>
            </a: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1827681" y="3980621"/>
            <a:ext cx="9815208" cy="1938992"/>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Menu</a:t>
            </a:r>
            <a:r>
              <a:rPr lang="en-US" sz="2400">
                <a:solidFill>
                  <a:srgbClr val="FF0000"/>
                </a:solidFill>
                <a:latin typeface="Consolas" panose="020B0609020204030204" pitchFamily="49" charset="0"/>
              </a:rPr>
              <a:t> DockPanel.Dock</a:t>
            </a:r>
            <a:r>
              <a:rPr lang="en-US" sz="2400">
                <a:solidFill>
                  <a:srgbClr val="0000FF"/>
                </a:solidFill>
                <a:latin typeface="Consolas" panose="020B0609020204030204" pitchFamily="49" charset="0"/>
              </a:rPr>
              <a:t>="Top"&gt;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MenuItem</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="Hệ thống"/&gt;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		 &lt;</a:t>
            </a:r>
            <a:r>
              <a:rPr lang="en-US" sz="2400">
                <a:solidFill>
                  <a:srgbClr val="A31515"/>
                </a:solidFill>
                <a:latin typeface="Consolas" panose="020B0609020204030204" pitchFamily="49" charset="0"/>
              </a:rPr>
              <a:t>MenuItem</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="Quản lý"/&gt;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		 &lt;</a:t>
            </a:r>
            <a:r>
              <a:rPr lang="en-US" sz="2400">
                <a:solidFill>
                  <a:srgbClr val="A31515"/>
                </a:solidFill>
                <a:latin typeface="Consolas" panose="020B0609020204030204" pitchFamily="49" charset="0"/>
              </a:rPr>
              <a:t>MenuItem</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="Trợ giúp"/&gt;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Menu</a:t>
            </a:r>
            <a:r>
              <a:rPr lang="en-US" sz="2400">
                <a:solidFill>
                  <a:srgbClr val="0000FF"/>
                </a:solidFill>
                <a:latin typeface="Consolas" panose="020B0609020204030204" pitchFamily="49" charset="0"/>
              </a:rPr>
              <a:t>&gt;</a:t>
            </a:r>
            <a:endParaRPr lang="en-US" sz="2400"/>
          </a:p>
        </p:txBody>
      </p:sp>
      <p:pic>
        <p:nvPicPr>
          <p:cNvPr id="6" name="Picture 5">
            <a:extLst>
              <a:ext uri="{FF2B5EF4-FFF2-40B4-BE49-F238E27FC236}">
                <a16:creationId xmlns:a16="http://schemas.microsoft.com/office/drawing/2014/main" id="{418FF600-2AB2-49D9-A15B-6EB221C40BF1}"/>
              </a:ext>
            </a:extLst>
          </p:cNvPr>
          <p:cNvPicPr>
            <a:picLocks noChangeAspect="1"/>
          </p:cNvPicPr>
          <p:nvPr/>
        </p:nvPicPr>
        <p:blipFill>
          <a:blip r:embed="rId3"/>
          <a:stretch>
            <a:fillRect/>
          </a:stretch>
        </p:blipFill>
        <p:spPr>
          <a:xfrm>
            <a:off x="2387715" y="1669942"/>
            <a:ext cx="7416569" cy="1759058"/>
          </a:xfrm>
          <a:prstGeom prst="rect">
            <a:avLst/>
          </a:prstGeom>
        </p:spPr>
      </p:pic>
      <p:sp>
        <p:nvSpPr>
          <p:cNvPr id="11" name="Rectangle 10">
            <a:extLst>
              <a:ext uri="{FF2B5EF4-FFF2-40B4-BE49-F238E27FC236}">
                <a16:creationId xmlns:a16="http://schemas.microsoft.com/office/drawing/2014/main" id="{0307A380-3E74-4B03-8009-BA2B59CE4AD8}"/>
              </a:ext>
            </a:extLst>
          </p:cNvPr>
          <p:cNvSpPr/>
          <p:nvPr/>
        </p:nvSpPr>
        <p:spPr>
          <a:xfrm>
            <a:off x="2387714" y="2053293"/>
            <a:ext cx="7416569" cy="270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1965914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GROUP BOX</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8848" y="714250"/>
            <a:ext cx="10097312"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3000" b="1">
                <a:latin typeface="Times New Roman" panose="02020603050405020304" pitchFamily="18" charset="0"/>
                <a:cs typeface="Times New Roman" panose="02020603050405020304" pitchFamily="18" charset="0"/>
              </a:rPr>
              <a:t>GroupBox - </a:t>
            </a:r>
            <a:r>
              <a:rPr lang="vi-VN" sz="3000">
                <a:latin typeface="Times New Roman" panose="02020603050405020304" pitchFamily="18" charset="0"/>
                <a:cs typeface="Times New Roman" panose="02020603050405020304" pitchFamily="18" charset="0"/>
              </a:rPr>
              <a:t>Nhóm các control lại cho dễ quản lý</a:t>
            </a:r>
            <a:endParaRPr lang="en-US" sz="3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BAC1BBE-588A-43B2-9D96-A4FEE65E3A29}"/>
              </a:ext>
            </a:extLst>
          </p:cNvPr>
          <p:cNvSpPr/>
          <p:nvPr/>
        </p:nvSpPr>
        <p:spPr>
          <a:xfrm>
            <a:off x="-548720" y="3263890"/>
            <a:ext cx="11232448" cy="3416320"/>
          </a:xfrm>
          <a:prstGeom prst="rect">
            <a:avLst/>
          </a:prstGeom>
        </p:spPr>
        <p:txBody>
          <a:bodyPr wrap="square">
            <a:spAutoFit/>
          </a:bodyPr>
          <a:lstStyle/>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GroupBox</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="Thông tin đăng nhập"</a:t>
            </a:r>
            <a:r>
              <a:rPr lang="en-US" sz="2400">
                <a:solidFill>
                  <a:srgbClr val="FF0000"/>
                </a:solidFill>
                <a:latin typeface="Consolas" panose="020B0609020204030204" pitchFamily="49" charset="0"/>
              </a:rPr>
              <a:t> Margin</a:t>
            </a:r>
            <a:r>
              <a:rPr lang="en-US" sz="2400">
                <a:solidFill>
                  <a:srgbClr val="0000FF"/>
                </a:solidFill>
                <a:latin typeface="Consolas" panose="020B0609020204030204" pitchFamily="49" charset="0"/>
              </a:rPr>
              <a:t>="20"&gt;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StackPanel</a:t>
            </a:r>
            <a:r>
              <a:rPr lang="en-US" sz="2400">
                <a:solidFill>
                  <a:srgbClr val="FF0000"/>
                </a:solidFill>
                <a:latin typeface="Consolas" panose="020B0609020204030204" pitchFamily="49" charset="0"/>
              </a:rPr>
              <a:t> Margin</a:t>
            </a:r>
            <a:r>
              <a:rPr lang="en-US" sz="2400">
                <a:solidFill>
                  <a:srgbClr val="0000FF"/>
                </a:solidFill>
                <a:latin typeface="Consolas" panose="020B0609020204030204" pitchFamily="49" charset="0"/>
              </a:rPr>
              <a:t>="10"&gt;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Label</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="Tên đăng nhập:"/&gt;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Label</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="Mật khẩu:"/&gt;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                &lt;</a:t>
            </a:r>
            <a:r>
              <a:rPr lang="en-US" sz="2400">
                <a:solidFill>
                  <a:srgbClr val="A31515"/>
                </a:solidFill>
                <a:latin typeface="Consolas" panose="020B0609020204030204" pitchFamily="49" charset="0"/>
              </a:rPr>
              <a:t>Button</a:t>
            </a:r>
            <a:r>
              <a:rPr lang="en-US" sz="2400">
                <a:solidFill>
                  <a:srgbClr val="FF0000"/>
                </a:solidFill>
                <a:latin typeface="Consolas" panose="020B0609020204030204" pitchFamily="49" charset="0"/>
              </a:rPr>
              <a:t> Content</a:t>
            </a:r>
            <a:r>
              <a:rPr lang="en-US" sz="2400">
                <a:solidFill>
                  <a:srgbClr val="0000FF"/>
                </a:solidFill>
                <a:latin typeface="Consolas" panose="020B0609020204030204" pitchFamily="49" charset="0"/>
              </a:rPr>
              <a:t>="Đăng nhập"</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="100"/&gt;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StackPanel</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GroupBox</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p>
        </p:txBody>
      </p:sp>
      <p:pic>
        <p:nvPicPr>
          <p:cNvPr id="3" name="Picture 2">
            <a:extLst>
              <a:ext uri="{FF2B5EF4-FFF2-40B4-BE49-F238E27FC236}">
                <a16:creationId xmlns:a16="http://schemas.microsoft.com/office/drawing/2014/main" id="{547633C6-4BCA-49C4-936C-A89395FC16DC}"/>
              </a:ext>
            </a:extLst>
          </p:cNvPr>
          <p:cNvPicPr>
            <a:picLocks noChangeAspect="1"/>
          </p:cNvPicPr>
          <p:nvPr/>
        </p:nvPicPr>
        <p:blipFill>
          <a:blip r:embed="rId3"/>
          <a:stretch>
            <a:fillRect/>
          </a:stretch>
        </p:blipFill>
        <p:spPr>
          <a:xfrm>
            <a:off x="3781425" y="1472304"/>
            <a:ext cx="3974839" cy="1995598"/>
          </a:xfrm>
          <a:prstGeom prst="rect">
            <a:avLst/>
          </a:prstGeom>
        </p:spPr>
      </p:pic>
      <p:sp>
        <p:nvSpPr>
          <p:cNvPr id="11" name="Rectangle 10">
            <a:extLst>
              <a:ext uri="{FF2B5EF4-FFF2-40B4-BE49-F238E27FC236}">
                <a16:creationId xmlns:a16="http://schemas.microsoft.com/office/drawing/2014/main" id="{0307A380-3E74-4B03-8009-BA2B59CE4AD8}"/>
              </a:ext>
            </a:extLst>
          </p:cNvPr>
          <p:cNvSpPr/>
          <p:nvPr/>
        </p:nvSpPr>
        <p:spPr>
          <a:xfrm>
            <a:off x="3964305" y="1995913"/>
            <a:ext cx="3619836" cy="1267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4114030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DATAGRID</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778874"/>
            <a:ext cx="11985084" cy="542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3000" b="1">
                <a:latin typeface="Times New Roman" panose="02020603050405020304" pitchFamily="18" charset="0"/>
                <a:cs typeface="Times New Roman" panose="02020603050405020304" pitchFamily="18" charset="0"/>
              </a:rPr>
              <a:t> DataGrid </a:t>
            </a:r>
            <a:r>
              <a:rPr lang="vi-VN" sz="3000">
                <a:latin typeface="Times New Roman" panose="02020603050405020304" pitchFamily="18" charset="0"/>
                <a:cs typeface="Times New Roman" panose="02020603050405020304" pitchFamily="18" charset="0"/>
              </a:rPr>
              <a:t>là control dùng để hiển thị và quản lý dữ liệu dạng bảng (table)</a:t>
            </a:r>
            <a:endParaRPr lang="en-US" sz="30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2275CF2-701C-4379-858B-8BDD90AA1A25}"/>
              </a:ext>
            </a:extLst>
          </p:cNvPr>
          <p:cNvSpPr/>
          <p:nvPr/>
        </p:nvSpPr>
        <p:spPr>
          <a:xfrm>
            <a:off x="-206916" y="3226390"/>
            <a:ext cx="12192000" cy="3416320"/>
          </a:xfrm>
          <a:prstGeom prst="rect">
            <a:avLst/>
          </a:prstGeom>
        </p:spPr>
        <p:txBody>
          <a:bodyPr wrap="square">
            <a:spAutoFit/>
          </a:bodyPr>
          <a:lstStyle/>
          <a:p>
            <a:r>
              <a:rPr lang="en-US" sz="16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a:t>
            </a:r>
            <a:r>
              <a:rPr lang="en-US" sz="2400">
                <a:solidFill>
                  <a:srgbClr val="FF0000"/>
                </a:solidFill>
                <a:latin typeface="Consolas" panose="020B0609020204030204" pitchFamily="49" charset="0"/>
              </a:rPr>
              <a:t> AutoGenerateColumns</a:t>
            </a:r>
            <a:r>
              <a:rPr lang="en-US" sz="2400">
                <a:solidFill>
                  <a:srgbClr val="0000FF"/>
                </a:solidFill>
                <a:latin typeface="Consolas" panose="020B0609020204030204" pitchFamily="49" charset="0"/>
              </a:rPr>
              <a:t>="False"</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="150"</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="300"&gt;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DataGrid.Columns</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DataGridTextColumn</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="MSSV"</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="50"/&gt;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DataGridTextColumn</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="Họ tên"</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="50"/&gt;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DataGridTextColumn</a:t>
            </a:r>
            <a:r>
              <a:rPr lang="en-US" sz="2400">
                <a:solidFill>
                  <a:srgbClr val="FF0000"/>
                </a:solidFill>
                <a:latin typeface="Consolas" panose="020B0609020204030204" pitchFamily="49" charset="0"/>
              </a:rPr>
              <a:t> Header</a:t>
            </a:r>
            <a:r>
              <a:rPr lang="en-US" sz="2400">
                <a:solidFill>
                  <a:srgbClr val="0000FF"/>
                </a:solidFill>
                <a:latin typeface="Consolas" panose="020B0609020204030204" pitchFamily="49" charset="0"/>
              </a:rPr>
              <a:t>="Địa chỉ"</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DataGrid.Columns</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DataGrid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p>
        </p:txBody>
      </p:sp>
      <p:pic>
        <p:nvPicPr>
          <p:cNvPr id="8" name="Picture 7">
            <a:extLst>
              <a:ext uri="{FF2B5EF4-FFF2-40B4-BE49-F238E27FC236}">
                <a16:creationId xmlns:a16="http://schemas.microsoft.com/office/drawing/2014/main" id="{3E628CFE-8BDA-45DC-873B-8DB19ADAB149}"/>
              </a:ext>
            </a:extLst>
          </p:cNvPr>
          <p:cNvPicPr>
            <a:picLocks noChangeAspect="1"/>
          </p:cNvPicPr>
          <p:nvPr/>
        </p:nvPicPr>
        <p:blipFill>
          <a:blip r:embed="rId3"/>
          <a:stretch>
            <a:fillRect/>
          </a:stretch>
        </p:blipFill>
        <p:spPr>
          <a:xfrm>
            <a:off x="4212616" y="1642515"/>
            <a:ext cx="3371525" cy="1786106"/>
          </a:xfrm>
          <a:prstGeom prst="rect">
            <a:avLst/>
          </a:prstGeom>
        </p:spPr>
      </p:pic>
      <p:sp>
        <p:nvSpPr>
          <p:cNvPr id="11" name="Rectangle 10">
            <a:extLst>
              <a:ext uri="{FF2B5EF4-FFF2-40B4-BE49-F238E27FC236}">
                <a16:creationId xmlns:a16="http://schemas.microsoft.com/office/drawing/2014/main" id="{0307A380-3E74-4B03-8009-BA2B59CE4AD8}"/>
              </a:ext>
            </a:extLst>
          </p:cNvPr>
          <p:cNvSpPr/>
          <p:nvPr/>
        </p:nvSpPr>
        <p:spPr>
          <a:xfrm>
            <a:off x="4579373" y="1958265"/>
            <a:ext cx="2595978" cy="13658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1390130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SỰ KIỆN (EVENTS) TRONG WPF</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762000"/>
            <a:ext cx="12192000" cy="62905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40080" lvl="1" indent="-457200">
              <a:lnSpc>
                <a:spcPct val="150000"/>
              </a:lnSpc>
              <a:spcBef>
                <a:spcPts val="0"/>
              </a:spcBef>
              <a:buFont typeface="Wingdings" panose="05000000000000000000" pitchFamily="2" charset="2"/>
              <a:buChar char="v"/>
              <a:defRPr/>
            </a:pPr>
            <a:r>
              <a:rPr lang="vi-VN" sz="3000">
                <a:latin typeface="Times New Roman" panose="02020603050405020304" pitchFamily="18" charset="0"/>
                <a:cs typeface="Times New Roman" panose="02020603050405020304" pitchFamily="18" charset="0"/>
              </a:rPr>
              <a:t>Sự kiện là hành động do người dùng gây ra trên giao diện (ví dụ: bấm nút, nhập liệu, chọn danh sách...).WPF Events hoạt động theo mô hình Event-driven → khi có sự kiện xảy ra, ta sẽ bắt và xử lý.</a:t>
            </a:r>
            <a:endParaRPr lang="en-US" sz="3000">
              <a:latin typeface="Times New Roman" panose="02020603050405020304" pitchFamily="18" charset="0"/>
              <a:cs typeface="Times New Roman" panose="02020603050405020304" pitchFamily="18" charset="0"/>
            </a:endParaRPr>
          </a:p>
          <a:p>
            <a:pPr marL="640080" indent="-457200">
              <a:lnSpc>
                <a:spcPct val="150000"/>
              </a:lnSpc>
              <a:buFont typeface="Wingdings" panose="05000000000000000000" pitchFamily="2" charset="2"/>
              <a:buChar char="v"/>
            </a:pPr>
            <a:r>
              <a:rPr lang="vi-VN" sz="3000">
                <a:latin typeface="Times New Roman" panose="02020603050405020304" pitchFamily="18" charset="0"/>
                <a:cs typeface="Times New Roman" panose="02020603050405020304" pitchFamily="18" charset="0"/>
              </a:rPr>
              <a:t>Mỗi sự kiện trong WPF thường gồm:</a:t>
            </a:r>
          </a:p>
          <a:p>
            <a:pPr marL="640080" lvl="2">
              <a:lnSpc>
                <a:spcPct val="150000"/>
              </a:lnSpc>
              <a:buFont typeface="Wingdings" panose="05000000000000000000" pitchFamily="2" charset="2"/>
              <a:buChar char="Ø"/>
            </a:pPr>
            <a:r>
              <a:rPr lang="en-US" sz="2600">
                <a:latin typeface="Times New Roman" panose="02020603050405020304" pitchFamily="18" charset="0"/>
                <a:cs typeface="Times New Roman" panose="02020603050405020304" pitchFamily="18" charset="0"/>
              </a:rPr>
              <a:t> </a:t>
            </a:r>
            <a:r>
              <a:rPr lang="vi-VN" sz="3000">
                <a:latin typeface="Times New Roman" panose="02020603050405020304" pitchFamily="18" charset="0"/>
                <a:cs typeface="Times New Roman" panose="02020603050405020304" pitchFamily="18" charset="0"/>
              </a:rPr>
              <a:t>Nguồn sự kiện: Đối tượng phát sinh sự kiện.</a:t>
            </a:r>
          </a:p>
          <a:p>
            <a:pPr marL="640080" lvl="2">
              <a:lnSpc>
                <a:spcPct val="150000"/>
              </a:lnSpc>
              <a:buFont typeface="Wingdings" panose="05000000000000000000" pitchFamily="2" charset="2"/>
              <a:buChar char="Ø"/>
            </a:pPr>
            <a:r>
              <a:rPr lang="en-US" sz="3000">
                <a:latin typeface="Times New Roman" panose="02020603050405020304" pitchFamily="18" charset="0"/>
                <a:cs typeface="Times New Roman" panose="02020603050405020304" pitchFamily="18" charset="0"/>
              </a:rPr>
              <a:t> </a:t>
            </a:r>
            <a:r>
              <a:rPr lang="vi-VN" sz="3000">
                <a:latin typeface="Times New Roman" panose="02020603050405020304" pitchFamily="18" charset="0"/>
                <a:cs typeface="Times New Roman" panose="02020603050405020304" pitchFamily="18" charset="0"/>
              </a:rPr>
              <a:t>Kiểu sự kiện: Loại hành động xảy ra.</a:t>
            </a:r>
          </a:p>
          <a:p>
            <a:pPr marL="640080" lvl="2">
              <a:lnSpc>
                <a:spcPct val="150000"/>
              </a:lnSpc>
              <a:buFont typeface="Wingdings" panose="05000000000000000000" pitchFamily="2" charset="2"/>
              <a:buChar char="Ø"/>
            </a:pPr>
            <a:r>
              <a:rPr lang="en-US" sz="3000">
                <a:latin typeface="Times New Roman" panose="02020603050405020304" pitchFamily="18" charset="0"/>
                <a:cs typeface="Times New Roman" panose="02020603050405020304" pitchFamily="18" charset="0"/>
              </a:rPr>
              <a:t> </a:t>
            </a:r>
            <a:r>
              <a:rPr lang="vi-VN" sz="3000">
                <a:latin typeface="Times New Roman" panose="02020603050405020304" pitchFamily="18" charset="0"/>
                <a:cs typeface="Times New Roman" panose="02020603050405020304" pitchFamily="18" charset="0"/>
              </a:rPr>
              <a:t>Bộ xử lý sự kiện: Phương thức sẽ được gọi khi sự kiện xảy ra.</a:t>
            </a: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8703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EA03970-B1C4-4CEE-AC5B-D9391D8CE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HỎI ĐÁP</a:t>
            </a:r>
          </a:p>
        </p:txBody>
      </p:sp>
      <p:sp>
        <p:nvSpPr>
          <p:cNvPr id="3" name="Rectangle 3">
            <a:extLst>
              <a:ext uri="{FF2B5EF4-FFF2-40B4-BE49-F238E27FC236}">
                <a16:creationId xmlns:a16="http://schemas.microsoft.com/office/drawing/2014/main" id="{6988C84B-EB08-4895-81AE-C1738DD8B9A7}"/>
              </a:ext>
            </a:extLst>
          </p:cNvPr>
          <p:cNvSpPr txBox="1">
            <a:spLocks noChangeArrowheads="1"/>
          </p:cNvSpPr>
          <p:nvPr/>
        </p:nvSpPr>
        <p:spPr>
          <a:xfrm>
            <a:off x="0" y="823912"/>
            <a:ext cx="12192000" cy="5262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457200">
              <a:lnSpc>
                <a:spcPct val="200000"/>
              </a:lnSpc>
              <a:spcBef>
                <a:spcPts val="0"/>
              </a:spcBef>
              <a:buFont typeface="Wingdings" panose="05000000000000000000" pitchFamily="2" charset="2"/>
              <a:buChar char="v"/>
            </a:pPr>
            <a:endParaRPr lang="en-US" altLang="vi-VN" sz="3000">
              <a:latin typeface="+mj-lt"/>
              <a:cs typeface="Times New Roman" panose="02020603050405020304" pitchFamily="18" charset="0"/>
            </a:endParaRPr>
          </a:p>
        </p:txBody>
      </p:sp>
      <p:pic>
        <p:nvPicPr>
          <p:cNvPr id="5" name="Picture 9" descr="j0434403[2]">
            <a:extLst>
              <a:ext uri="{FF2B5EF4-FFF2-40B4-BE49-F238E27FC236}">
                <a16:creationId xmlns:a16="http://schemas.microsoft.com/office/drawing/2014/main" id="{7D44C670-4EF4-4669-912C-06A604AB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706" y="3429000"/>
            <a:ext cx="2342588" cy="251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3C91A66-1CD2-A577-8D9A-74E82F4805B1}"/>
              </a:ext>
            </a:extLst>
          </p:cNvPr>
          <p:cNvSpPr txBox="1"/>
          <p:nvPr/>
        </p:nvSpPr>
        <p:spPr>
          <a:xfrm>
            <a:off x="0" y="771525"/>
            <a:ext cx="12192000" cy="2788327"/>
          </a:xfrm>
          <a:prstGeom prst="rect">
            <a:avLst/>
          </a:prstGeom>
          <a:noFill/>
        </p:spPr>
        <p:txBody>
          <a:bodyPr wrap="square">
            <a:spAutoFit/>
          </a:bodyPr>
          <a:lstStyle/>
          <a:p>
            <a:pPr marL="457200">
              <a:lnSpc>
                <a:spcPct val="150000"/>
              </a:lnSpc>
            </a:pPr>
            <a:r>
              <a:rPr lang="vi-VN" sz="3000">
                <a:latin typeface="+mj-lt"/>
              </a:rPr>
              <a:t>Cùng là điều khiển Button, nhưng theo bạn điều gì làm cho Button trong WPF khác biệt so với Button trong WinForms? Những điểm nào cho thấy control trong WPF có khả năng tùy biến và mở rộng cao hơn so với các công nghệ cũ?</a:t>
            </a:r>
            <a:endParaRPr lang="en-US" sz="3000">
              <a:latin typeface="+mj-lt"/>
            </a:endParaRPr>
          </a:p>
        </p:txBody>
      </p:sp>
    </p:spTree>
    <p:extLst>
      <p:ext uri="{BB962C8B-B14F-4D97-AF65-F5344CB8AC3E}">
        <p14:creationId xmlns:p14="http://schemas.microsoft.com/office/powerpoint/2010/main" val="2870285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cs typeface="Times New Roman" panose="02020603050405020304" pitchFamily="18" charset="0"/>
              </a:rPr>
              <a:t>CÁC SỰ KIỆN C</a:t>
            </a:r>
            <a:r>
              <a:rPr lang="vi-VN" altLang="en-US" sz="3600" b="1">
                <a:solidFill>
                  <a:schemeClr val="bg1"/>
                </a:solidFill>
                <a:cs typeface="Times New Roman" panose="02020603050405020304" pitchFamily="18" charset="0"/>
              </a:rPr>
              <a:t>Ơ</a:t>
            </a:r>
            <a:r>
              <a:rPr lang="en-US" altLang="en-US" sz="3600" b="1">
                <a:solidFill>
                  <a:schemeClr val="bg1"/>
                </a:solidFill>
                <a:cs typeface="Times New Roman" panose="02020603050405020304" pitchFamily="18" charset="0"/>
              </a:rPr>
              <a:t> BẢN</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69"/>
            <a:ext cx="12192000" cy="63730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endParaRPr lang="en-US" sz="3000" b="1">
              <a:latin typeface="Times New Roman" panose="02020603050405020304" pitchFamily="18" charset="0"/>
              <a:cs typeface="Times New Roman" panose="02020603050405020304" pitchFamily="18" charset="0"/>
            </a:endParaRPr>
          </a:p>
        </p:txBody>
      </p:sp>
      <p:graphicFrame>
        <p:nvGraphicFramePr>
          <p:cNvPr id="2" name="Bảng 1">
            <a:extLst>
              <a:ext uri="{FF2B5EF4-FFF2-40B4-BE49-F238E27FC236}">
                <a16:creationId xmlns:a16="http://schemas.microsoft.com/office/drawing/2014/main" id="{44755161-8817-4E99-B62C-5ECD7857760F}"/>
              </a:ext>
            </a:extLst>
          </p:cNvPr>
          <p:cNvGraphicFramePr>
            <a:graphicFrameLocks noGrp="1"/>
          </p:cNvGraphicFramePr>
          <p:nvPr>
            <p:extLst>
              <p:ext uri="{D42A27DB-BD31-4B8C-83A1-F6EECF244321}">
                <p14:modId xmlns:p14="http://schemas.microsoft.com/office/powerpoint/2010/main" val="844824842"/>
              </p:ext>
            </p:extLst>
          </p:nvPr>
        </p:nvGraphicFramePr>
        <p:xfrm>
          <a:off x="152399" y="897777"/>
          <a:ext cx="11798596" cy="5608320"/>
        </p:xfrm>
        <a:graphic>
          <a:graphicData uri="http://schemas.openxmlformats.org/drawingml/2006/table">
            <a:tbl>
              <a:tblPr firstRow="1" bandRow="1">
                <a:tableStyleId>{5C22544A-7EE6-4342-B048-85BDC9FD1C3A}</a:tableStyleId>
              </a:tblPr>
              <a:tblGrid>
                <a:gridCol w="2112336">
                  <a:extLst>
                    <a:ext uri="{9D8B030D-6E8A-4147-A177-3AD203B41FA5}">
                      <a16:colId xmlns:a16="http://schemas.microsoft.com/office/drawing/2014/main" val="3088187658"/>
                    </a:ext>
                  </a:extLst>
                </a:gridCol>
                <a:gridCol w="4312048">
                  <a:extLst>
                    <a:ext uri="{9D8B030D-6E8A-4147-A177-3AD203B41FA5}">
                      <a16:colId xmlns:a16="http://schemas.microsoft.com/office/drawing/2014/main" val="652622449"/>
                    </a:ext>
                  </a:extLst>
                </a:gridCol>
                <a:gridCol w="5374212">
                  <a:extLst>
                    <a:ext uri="{9D8B030D-6E8A-4147-A177-3AD203B41FA5}">
                      <a16:colId xmlns:a16="http://schemas.microsoft.com/office/drawing/2014/main" val="3034706518"/>
                    </a:ext>
                  </a:extLst>
                </a:gridCol>
              </a:tblGrid>
              <a:tr h="375137">
                <a:tc>
                  <a:txBody>
                    <a:bodyPr/>
                    <a:lstStyle/>
                    <a:p>
                      <a:pPr algn="l"/>
                      <a:r>
                        <a:rPr lang="en-US" sz="2400" b="1">
                          <a:effectLst/>
                          <a:latin typeface="Times New Roman" panose="02020603050405020304" pitchFamily="18" charset="0"/>
                          <a:cs typeface="Times New Roman" panose="02020603050405020304" pitchFamily="18" charset="0"/>
                        </a:rPr>
                        <a:t>Sự kiện</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b="1">
                          <a:effectLst/>
                          <a:latin typeface="Times New Roman" panose="02020603050405020304" pitchFamily="18" charset="0"/>
                          <a:cs typeface="Times New Roman" panose="02020603050405020304" pitchFamily="18" charset="0"/>
                        </a:rPr>
                        <a:t>Mô tả</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b="1">
                          <a:effectLst/>
                          <a:latin typeface="Times New Roman" panose="02020603050405020304" pitchFamily="18" charset="0"/>
                          <a:cs typeface="Times New Roman" panose="02020603050405020304" pitchFamily="18" charset="0"/>
                        </a:rPr>
                        <a:t>Control phổ biến</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20254220"/>
                  </a:ext>
                </a:extLst>
              </a:tr>
              <a:tr h="481988">
                <a:tc>
                  <a:txBody>
                    <a:bodyPr/>
                    <a:lstStyle/>
                    <a:p>
                      <a:pPr algn="l"/>
                      <a:r>
                        <a:rPr lang="en-US" sz="2400" b="1">
                          <a:effectLst/>
                          <a:latin typeface="Times New Roman" panose="02020603050405020304" pitchFamily="18" charset="0"/>
                          <a:cs typeface="Times New Roman" panose="02020603050405020304" pitchFamily="18" charset="0"/>
                        </a:rPr>
                        <a:t>Click</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N</a:t>
                      </a:r>
                      <a:r>
                        <a:rPr lang="vi-VN" sz="2400">
                          <a:effectLst/>
                          <a:latin typeface="Times New Roman" panose="02020603050405020304" pitchFamily="18" charset="0"/>
                          <a:cs typeface="Times New Roman" panose="02020603050405020304" pitchFamily="18" charset="0"/>
                        </a:rPr>
                        <a:t>gười dùng nhấn</a:t>
                      </a:r>
                      <a:r>
                        <a:rPr lang="en-US" sz="2400">
                          <a:effectLst/>
                          <a:latin typeface="Times New Roman" panose="02020603050405020304" pitchFamily="18" charset="0"/>
                          <a:cs typeface="Times New Roman" panose="02020603050405020304" pitchFamily="18" charset="0"/>
                        </a:rPr>
                        <a:t> chuột</a:t>
                      </a:r>
                      <a:endParaRPr lang="vi-VN"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Button, CheckBox, RadioButton, MenuItem, Hyperlink</a:t>
                      </a:r>
                    </a:p>
                  </a:txBody>
                  <a:tcPr marL="121920" marR="121920" marT="60960" marB="60960" anchor="ctr"/>
                </a:tc>
                <a:extLst>
                  <a:ext uri="{0D108BD9-81ED-4DB2-BD59-A6C34878D82A}">
                    <a16:rowId xmlns:a16="http://schemas.microsoft.com/office/drawing/2014/main" val="932453263"/>
                  </a:ext>
                </a:extLst>
              </a:tr>
              <a:tr h="460142">
                <a:tc>
                  <a:txBody>
                    <a:bodyPr/>
                    <a:lstStyle/>
                    <a:p>
                      <a:pPr algn="l"/>
                      <a:r>
                        <a:rPr lang="en-US" sz="2400" b="1">
                          <a:effectLst/>
                          <a:latin typeface="Times New Roman" panose="02020603050405020304" pitchFamily="18" charset="0"/>
                          <a:cs typeface="Times New Roman" panose="02020603050405020304" pitchFamily="18" charset="0"/>
                        </a:rPr>
                        <a:t>TextChanged</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Nội dung văn bản trong control thay đổi</a:t>
                      </a: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TextBox, RichTextBox, PasswordBox</a:t>
                      </a:r>
                    </a:p>
                  </a:txBody>
                  <a:tcPr marL="121920" marR="121920" marT="60960" marB="60960" anchor="ctr"/>
                </a:tc>
                <a:extLst>
                  <a:ext uri="{0D108BD9-81ED-4DB2-BD59-A6C34878D82A}">
                    <a16:rowId xmlns:a16="http://schemas.microsoft.com/office/drawing/2014/main" val="4138667569"/>
                  </a:ext>
                </a:extLst>
              </a:tr>
              <a:tr h="634848">
                <a:tc>
                  <a:txBody>
                    <a:bodyPr/>
                    <a:lstStyle/>
                    <a:p>
                      <a:pPr algn="l"/>
                      <a:r>
                        <a:rPr lang="en-US" sz="2400" b="1">
                          <a:effectLst/>
                          <a:latin typeface="Times New Roman" panose="02020603050405020304" pitchFamily="18" charset="0"/>
                          <a:cs typeface="Times New Roman" panose="02020603050405020304" pitchFamily="18" charset="0"/>
                        </a:rPr>
                        <a:t>SelectionChanged</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Lựa chọn trong control thay đổi</a:t>
                      </a: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ComboBox, ListBox, DataGrid, TabControl</a:t>
                      </a:r>
                    </a:p>
                  </a:txBody>
                  <a:tcPr marL="121920" marR="121920" marT="60960" marB="60960" anchor="ctr"/>
                </a:tc>
                <a:extLst>
                  <a:ext uri="{0D108BD9-81ED-4DB2-BD59-A6C34878D82A}">
                    <a16:rowId xmlns:a16="http://schemas.microsoft.com/office/drawing/2014/main" val="182280656"/>
                  </a:ext>
                </a:extLst>
              </a:tr>
              <a:tr h="634848">
                <a:tc>
                  <a:txBody>
                    <a:bodyPr/>
                    <a:lstStyle/>
                    <a:p>
                      <a:pPr algn="l"/>
                      <a:r>
                        <a:rPr lang="en-US" sz="2400" b="1">
                          <a:effectLst/>
                          <a:latin typeface="Times New Roman" panose="02020603050405020304" pitchFamily="18" charset="0"/>
                          <a:cs typeface="Times New Roman" panose="02020603050405020304" pitchFamily="18" charset="0"/>
                        </a:rPr>
                        <a:t>MouseEnter/</a:t>
                      </a:r>
                    </a:p>
                    <a:p>
                      <a:pPr algn="l"/>
                      <a:r>
                        <a:rPr lang="en-US" sz="2400" b="1">
                          <a:effectLst/>
                          <a:latin typeface="Times New Roman" panose="02020603050405020304" pitchFamily="18" charset="0"/>
                          <a:cs typeface="Times New Roman" panose="02020603050405020304" pitchFamily="18" charset="0"/>
                        </a:rPr>
                        <a:t>MouseLeave</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Con trỏ chuột di chuyển vào/ra khỏi vùng của control</a:t>
                      </a:r>
                    </a:p>
                  </a:txBody>
                  <a:tcPr marL="121920" marR="121920" marT="60960" marB="60960" anchor="ctr"/>
                </a:tc>
                <a:tc>
                  <a:txBody>
                    <a:bodyPr/>
                    <a:lstStyle/>
                    <a:p>
                      <a:pPr algn="l"/>
                      <a:r>
                        <a:rPr lang="vi-VN" sz="2400">
                          <a:effectLst/>
                          <a:latin typeface="Times New Roman" panose="02020603050405020304" pitchFamily="18" charset="0"/>
                          <a:cs typeface="Times New Roman" panose="02020603050405020304" pitchFamily="18" charset="0"/>
                        </a:rPr>
                        <a:t>Button, Image, và hầu hết các control có khả năng tương tác</a:t>
                      </a:r>
                    </a:p>
                  </a:txBody>
                  <a:tcPr marL="121920" marR="121920" marT="60960" marB="60960" anchor="ctr"/>
                </a:tc>
                <a:extLst>
                  <a:ext uri="{0D108BD9-81ED-4DB2-BD59-A6C34878D82A}">
                    <a16:rowId xmlns:a16="http://schemas.microsoft.com/office/drawing/2014/main" val="3895338904"/>
                  </a:ext>
                </a:extLst>
              </a:tr>
              <a:tr h="634848">
                <a:tc>
                  <a:txBody>
                    <a:bodyPr/>
                    <a:lstStyle/>
                    <a:p>
                      <a:pPr algn="l"/>
                      <a:r>
                        <a:rPr lang="en-US" sz="2400" b="1">
                          <a:effectLst/>
                          <a:latin typeface="Times New Roman" panose="02020603050405020304" pitchFamily="18" charset="0"/>
                          <a:cs typeface="Times New Roman" panose="02020603050405020304" pitchFamily="18" charset="0"/>
                        </a:rPr>
                        <a:t>KeyDown/</a:t>
                      </a:r>
                    </a:p>
                    <a:p>
                      <a:pPr algn="l"/>
                      <a:r>
                        <a:rPr lang="en-US" sz="2400" b="1">
                          <a:effectLst/>
                          <a:latin typeface="Times New Roman" panose="02020603050405020304" pitchFamily="18" charset="0"/>
                          <a:cs typeface="Times New Roman" panose="02020603050405020304" pitchFamily="18" charset="0"/>
                        </a:rPr>
                        <a:t>KeyUp</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N</a:t>
                      </a:r>
                      <a:r>
                        <a:rPr lang="vi-VN" sz="2400">
                          <a:effectLst/>
                          <a:latin typeface="Times New Roman" panose="02020603050405020304" pitchFamily="18" charset="0"/>
                          <a:cs typeface="Times New Roman" panose="02020603050405020304" pitchFamily="18" charset="0"/>
                        </a:rPr>
                        <a:t>gười dùng nhấn xuống/thả phím</a:t>
                      </a: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TextBox, Window, và mọi control có thể nhận focus</a:t>
                      </a:r>
                    </a:p>
                  </a:txBody>
                  <a:tcPr marL="121920" marR="121920" marT="60960" marB="60960" anchor="ctr"/>
                </a:tc>
                <a:extLst>
                  <a:ext uri="{0D108BD9-81ED-4DB2-BD59-A6C34878D82A}">
                    <a16:rowId xmlns:a16="http://schemas.microsoft.com/office/drawing/2014/main" val="536436063"/>
                  </a:ext>
                </a:extLst>
              </a:tr>
              <a:tr h="634848">
                <a:tc>
                  <a:txBody>
                    <a:bodyPr/>
                    <a:lstStyle/>
                    <a:p>
                      <a:pPr algn="l"/>
                      <a:r>
                        <a:rPr lang="en-US" sz="2400" b="1">
                          <a:effectLst/>
                          <a:latin typeface="Times New Roman" panose="02020603050405020304" pitchFamily="18" charset="0"/>
                          <a:cs typeface="Times New Roman" panose="02020603050405020304" pitchFamily="18" charset="0"/>
                        </a:rPr>
                        <a:t>Checked/</a:t>
                      </a:r>
                    </a:p>
                    <a:p>
                      <a:pPr algn="l"/>
                      <a:r>
                        <a:rPr lang="en-US" sz="2400" b="1">
                          <a:effectLst/>
                          <a:latin typeface="Times New Roman" panose="02020603050405020304" pitchFamily="18" charset="0"/>
                          <a:cs typeface="Times New Roman" panose="02020603050405020304" pitchFamily="18" charset="0"/>
                        </a:rPr>
                        <a:t>Unchecked</a:t>
                      </a:r>
                      <a:endParaRPr lang="en-US" sz="2400">
                        <a:effectLst/>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Trạng thái chọn/bỏ chọn của control thay đổi</a:t>
                      </a:r>
                    </a:p>
                  </a:txBody>
                  <a:tcPr marL="121920" marR="121920" marT="60960" marB="60960" anchor="ctr"/>
                </a:tc>
                <a:tc>
                  <a:txBody>
                    <a:bodyPr/>
                    <a:lstStyle/>
                    <a:p>
                      <a:pPr algn="l"/>
                      <a:r>
                        <a:rPr lang="en-US" sz="2400">
                          <a:effectLst/>
                          <a:latin typeface="Times New Roman" panose="02020603050405020304" pitchFamily="18" charset="0"/>
                          <a:cs typeface="Times New Roman" panose="02020603050405020304" pitchFamily="18" charset="0"/>
                        </a:rPr>
                        <a:t>CheckBox, RadioButton, ToggleButton</a:t>
                      </a:r>
                    </a:p>
                  </a:txBody>
                  <a:tcPr marL="121920" marR="121920" marT="60960" marB="60960" anchor="ctr"/>
                </a:tc>
                <a:extLst>
                  <a:ext uri="{0D108BD9-81ED-4DB2-BD59-A6C34878D82A}">
                    <a16:rowId xmlns:a16="http://schemas.microsoft.com/office/drawing/2014/main" val="2762103878"/>
                  </a:ext>
                </a:extLst>
              </a:tr>
            </a:tbl>
          </a:graphicData>
        </a:graphic>
      </p:graphicFrame>
    </p:spTree>
    <p:extLst>
      <p:ext uri="{BB962C8B-B14F-4D97-AF65-F5344CB8AC3E}">
        <p14:creationId xmlns:p14="http://schemas.microsoft.com/office/powerpoint/2010/main" val="1859155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600" b="1">
                <a:solidFill>
                  <a:schemeClr val="bg1"/>
                </a:solidFill>
              </a:rPr>
              <a:t>SỰ KIỆN CLICK</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12192000" cy="274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51435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XAML</a:t>
            </a:r>
          </a:p>
          <a:p>
            <a:pPr marL="228600" lvl="1" indent="0">
              <a:lnSpc>
                <a:spcPct val="150000"/>
              </a:lnSpc>
              <a:spcBef>
                <a:spcPts val="0"/>
              </a:spcBef>
              <a:buNone/>
              <a:defRPr/>
            </a:pPr>
            <a:endParaRPr lang="en-US">
              <a:solidFill>
                <a:srgbClr val="0000FF"/>
              </a:solidFill>
              <a:latin typeface="Consolas" panose="020B0609020204030204" pitchFamily="49" charset="0"/>
            </a:endParaRPr>
          </a:p>
          <a:p>
            <a:pPr lvl="1" indent="-457200">
              <a:lnSpc>
                <a:spcPct val="150000"/>
              </a:lnSpc>
              <a:spcBef>
                <a:spcPts val="0"/>
              </a:spcBef>
              <a:buFont typeface="Wingdings" panose="05000000000000000000" pitchFamily="2" charset="2"/>
              <a:buChar char="v"/>
              <a:defRPr/>
            </a:pP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Code-behind (MainWindow.xaml.cs):</a:t>
            </a:r>
          </a:p>
        </p:txBody>
      </p:sp>
      <p:sp>
        <p:nvSpPr>
          <p:cNvPr id="6" name="Rectangle 11">
            <a:extLst>
              <a:ext uri="{FF2B5EF4-FFF2-40B4-BE49-F238E27FC236}">
                <a16:creationId xmlns:a16="http://schemas.microsoft.com/office/drawing/2014/main" id="{1775BE7E-9C4A-4C90-8FD7-72D63F9AE91A}"/>
              </a:ext>
            </a:extLst>
          </p:cNvPr>
          <p:cNvSpPr/>
          <p:nvPr/>
        </p:nvSpPr>
        <p:spPr>
          <a:xfrm>
            <a:off x="0" y="3429000"/>
            <a:ext cx="12191999" cy="2308324"/>
          </a:xfrm>
          <a:prstGeom prst="rect">
            <a:avLst/>
          </a:prstGeom>
        </p:spPr>
        <p:txBody>
          <a:bodyPr wrap="square">
            <a:spAutoFit/>
          </a:bodyPr>
          <a:lstStyle/>
          <a:p>
            <a:pPr lvl="2"/>
            <a:r>
              <a:rPr lang="en-US" sz="2400">
                <a:solidFill>
                  <a:srgbClr val="0000FF"/>
                </a:solidFill>
                <a:latin typeface="Consolas" panose="020B0609020204030204" pitchFamily="49" charset="0"/>
              </a:rPr>
              <a:t>private</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void</a:t>
            </a:r>
            <a:r>
              <a:rPr lang="en-US" sz="2400">
                <a:solidFill>
                  <a:srgbClr val="000000"/>
                </a:solidFill>
                <a:latin typeface="Consolas" panose="020B0609020204030204" pitchFamily="49" charset="0"/>
              </a:rPr>
              <a:t> Button_Click(</a:t>
            </a:r>
            <a:r>
              <a:rPr lang="en-US" sz="2400">
                <a:solidFill>
                  <a:srgbClr val="0000FF"/>
                </a:solidFill>
                <a:latin typeface="Consolas" panose="020B0609020204030204" pitchFamily="49" charset="0"/>
              </a:rPr>
              <a:t>object</a:t>
            </a:r>
            <a:r>
              <a:rPr lang="en-US" sz="2400">
                <a:solidFill>
                  <a:srgbClr val="000000"/>
                </a:solidFill>
                <a:latin typeface="Consolas" panose="020B0609020204030204" pitchFamily="49" charset="0"/>
              </a:rPr>
              <a:t> sender, RoutedEventArgs e)</a:t>
            </a:r>
          </a:p>
          <a:p>
            <a:pPr lvl="2"/>
            <a:r>
              <a:rPr lang="en-US" sz="2400">
                <a:solidFill>
                  <a:srgbClr val="000000"/>
                </a:solidFill>
                <a:latin typeface="Consolas" panose="020B0609020204030204" pitchFamily="49" charset="0"/>
              </a:rPr>
              <a:t>{</a:t>
            </a:r>
          </a:p>
          <a:p>
            <a:pPr lvl="2"/>
            <a:r>
              <a:rPr lang="vi-VN" sz="2400">
                <a:solidFill>
                  <a:srgbClr val="000000"/>
                </a:solidFill>
                <a:latin typeface="Consolas" panose="020B0609020204030204" pitchFamily="49" charset="0"/>
              </a:rPr>
              <a:t> </a:t>
            </a:r>
            <a:r>
              <a:rPr lang="en-US" sz="2400">
                <a:solidFill>
                  <a:srgbClr val="000000"/>
                </a:solidFill>
                <a:latin typeface="Consolas" panose="020B0609020204030204" pitchFamily="49" charset="0"/>
              </a:rPr>
              <a:t>	</a:t>
            </a:r>
            <a:r>
              <a:rPr lang="vi-VN" sz="2400">
                <a:solidFill>
                  <a:srgbClr val="000000"/>
                </a:solidFill>
                <a:latin typeface="Consolas" panose="020B0609020204030204" pitchFamily="49" charset="0"/>
              </a:rPr>
              <a:t>//Viết sự kiện cho Button này</a:t>
            </a:r>
            <a:endParaRPr lang="en-US" sz="2400">
              <a:solidFill>
                <a:srgbClr val="000000"/>
              </a:solidFill>
              <a:latin typeface="Consolas" panose="020B0609020204030204" pitchFamily="49" charset="0"/>
            </a:endParaRPr>
          </a:p>
          <a:p>
            <a:pPr lvl="2"/>
            <a:r>
              <a:rPr lang="en-US" sz="2400">
                <a:solidFill>
                  <a:srgbClr val="000000"/>
                </a:solidFill>
                <a:latin typeface="Consolas" panose="020B0609020204030204" pitchFamily="49" charset="0"/>
              </a:rPr>
              <a:t>	</a:t>
            </a:r>
            <a:r>
              <a:rPr lang="vi-VN" sz="2400">
                <a:solidFill>
                  <a:srgbClr val="000000"/>
                </a:solidFill>
                <a:latin typeface="Consolas" panose="020B0609020204030204" pitchFamily="49" charset="0"/>
              </a:rPr>
              <a:t>MessageBox.Show(</a:t>
            </a:r>
            <a:r>
              <a:rPr lang="vi-VN" sz="2400">
                <a:solidFill>
                  <a:srgbClr val="A31515"/>
                </a:solidFill>
                <a:latin typeface="Consolas" panose="020B0609020204030204" pitchFamily="49" charset="0"/>
              </a:rPr>
              <a:t>"Bạn vừa bấm nút Lưu!"</a:t>
            </a:r>
            <a:r>
              <a:rPr lang="vi-VN" sz="2400">
                <a:solidFill>
                  <a:srgbClr val="000000"/>
                </a:solidFill>
                <a:latin typeface="Consolas" panose="020B0609020204030204" pitchFamily="49" charset="0"/>
              </a:rPr>
              <a:t>);</a:t>
            </a:r>
            <a:endParaRPr lang="en-US" sz="2400">
              <a:solidFill>
                <a:srgbClr val="000000"/>
              </a:solidFill>
              <a:latin typeface="Consolas" panose="020B0609020204030204" pitchFamily="49" charset="0"/>
            </a:endParaRPr>
          </a:p>
          <a:p>
            <a:pPr lvl="2"/>
            <a:r>
              <a:rPr lang="en-US" sz="2400">
                <a:solidFill>
                  <a:srgbClr val="000000"/>
                </a:solidFill>
                <a:latin typeface="Consolas" panose="020B0609020204030204" pitchFamily="49" charset="0"/>
              </a:rPr>
              <a:t>	</a:t>
            </a:r>
            <a:endParaRPr lang="vi-VN" sz="2400">
              <a:solidFill>
                <a:srgbClr val="000000"/>
              </a:solidFill>
              <a:latin typeface="Consolas" panose="020B0609020204030204" pitchFamily="49" charset="0"/>
            </a:endParaRPr>
          </a:p>
          <a:p>
            <a:pPr lvl="2"/>
            <a:r>
              <a:rPr lang="en-US" sz="2400">
                <a:solidFill>
                  <a:srgbClr val="000000"/>
                </a:solidFill>
                <a:latin typeface="Consolas" panose="020B0609020204030204" pitchFamily="49" charset="0"/>
              </a:rPr>
              <a:t>}</a:t>
            </a: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9ACE76F-F5EA-5DDA-BDE2-B5CDB9745885}"/>
              </a:ext>
            </a:extLst>
          </p:cNvPr>
          <p:cNvPicPr>
            <a:picLocks noChangeAspect="1"/>
          </p:cNvPicPr>
          <p:nvPr/>
        </p:nvPicPr>
        <p:blipFill>
          <a:blip r:embed="rId3"/>
          <a:stretch>
            <a:fillRect/>
          </a:stretch>
        </p:blipFill>
        <p:spPr>
          <a:xfrm>
            <a:off x="1426515" y="1523930"/>
            <a:ext cx="10202501" cy="1007846"/>
          </a:xfrm>
          <a:prstGeom prst="rect">
            <a:avLst/>
          </a:prstGeom>
        </p:spPr>
      </p:pic>
      <p:sp>
        <p:nvSpPr>
          <p:cNvPr id="8" name="Rectangle 7">
            <a:extLst>
              <a:ext uri="{FF2B5EF4-FFF2-40B4-BE49-F238E27FC236}">
                <a16:creationId xmlns:a16="http://schemas.microsoft.com/office/drawing/2014/main" id="{320811E7-C804-1DB3-A13C-7A16959A7E0B}"/>
              </a:ext>
            </a:extLst>
          </p:cNvPr>
          <p:cNvSpPr/>
          <p:nvPr/>
        </p:nvSpPr>
        <p:spPr>
          <a:xfrm>
            <a:off x="8208085" y="1420009"/>
            <a:ext cx="3496234" cy="1204857"/>
          </a:xfrm>
          <a:prstGeom prst="rect">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6392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SỰ KIỆN TEXTCHANGED</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762000"/>
            <a:ext cx="12192000" cy="27495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3000">
                <a:latin typeface="Times New Roman" panose="02020603050405020304" pitchFamily="18" charset="0"/>
                <a:cs typeface="Times New Roman" panose="02020603050405020304" pitchFamily="18" charset="0"/>
              </a:rPr>
              <a:t>Bắt sự kiện khi người dùng nhập hoặc sửa nội dung trong TextBox.</a:t>
            </a:r>
            <a:endParaRPr lang="en-US" sz="30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XAML</a:t>
            </a:r>
          </a:p>
          <a:p>
            <a:pPr marL="228600" lvl="1" indent="0">
              <a:lnSpc>
                <a:spcPct val="150000"/>
              </a:lnSpc>
              <a:spcBef>
                <a:spcPts val="0"/>
              </a:spcBef>
              <a:buNone/>
              <a:defRPr/>
            </a:pPr>
            <a:r>
              <a:rPr lang="en-US">
                <a:solidFill>
                  <a:srgbClr val="0000FF"/>
                </a:solidFill>
                <a:latin typeface="Consolas" panose="020B0609020204030204" pitchFamily="49" charset="0"/>
              </a:rPr>
              <a:t>&lt;</a:t>
            </a:r>
            <a:r>
              <a:rPr lang="en-US">
                <a:solidFill>
                  <a:srgbClr val="A31515"/>
                </a:solidFill>
                <a:latin typeface="Consolas" panose="020B0609020204030204" pitchFamily="49" charset="0"/>
              </a:rPr>
              <a:t>TextBox</a:t>
            </a:r>
            <a:r>
              <a:rPr lang="en-US">
                <a:solidFill>
                  <a:srgbClr val="FF0000"/>
                </a:solidFill>
                <a:latin typeface="Consolas" panose="020B0609020204030204" pitchFamily="49" charset="0"/>
              </a:rPr>
              <a:t> Width</a:t>
            </a:r>
            <a:r>
              <a:rPr lang="en-US">
                <a:solidFill>
                  <a:srgbClr val="0000FF"/>
                </a:solidFill>
                <a:latin typeface="Consolas" panose="020B0609020204030204" pitchFamily="49" charset="0"/>
              </a:rPr>
              <a:t>="200"</a:t>
            </a:r>
            <a:r>
              <a:rPr lang="en-US">
                <a:solidFill>
                  <a:srgbClr val="FF0000"/>
                </a:solidFill>
                <a:latin typeface="Consolas" panose="020B0609020204030204" pitchFamily="49" charset="0"/>
              </a:rPr>
              <a:t> TextChanged</a:t>
            </a:r>
            <a:r>
              <a:rPr lang="en-US">
                <a:solidFill>
                  <a:srgbClr val="0000FF"/>
                </a:solidFill>
                <a:latin typeface="Consolas" panose="020B0609020204030204" pitchFamily="49" charset="0"/>
              </a:rPr>
              <a:t>="TextBox_TextChanged"/&gt;</a:t>
            </a:r>
          </a:p>
          <a:p>
            <a:pPr lvl="1" indent="-457200">
              <a:lnSpc>
                <a:spcPct val="150000"/>
              </a:lnSpc>
              <a:spcBef>
                <a:spcPts val="0"/>
              </a:spcBef>
              <a:buFont typeface="Wingdings" panose="05000000000000000000" pitchFamily="2" charset="2"/>
              <a:buChar char="v"/>
              <a:defRPr/>
            </a:pPr>
            <a:r>
              <a:rPr lang="en-US" sz="3000">
                <a:latin typeface="Times New Roman" panose="02020603050405020304" pitchFamily="18" charset="0"/>
                <a:cs typeface="Times New Roman" panose="02020603050405020304" pitchFamily="18" charset="0"/>
              </a:rPr>
              <a:t>Code-behind (MainWindow.xaml.cs):</a:t>
            </a:r>
          </a:p>
          <a:p>
            <a:pPr marL="0" indent="0">
              <a:buNone/>
            </a:pPr>
            <a:r>
              <a:rPr lang="en-US" sz="1600">
                <a:solidFill>
                  <a:srgbClr val="0000FF"/>
                </a:solidFill>
                <a:latin typeface="Consolas" panose="020B0609020204030204" pitchFamily="49" charset="0"/>
              </a:rPr>
              <a:t>	</a:t>
            </a:r>
            <a:endParaRPr lang="en-US" sz="1600">
              <a:latin typeface="Times New Roman" panose="02020603050405020304" pitchFamily="18" charset="0"/>
              <a:cs typeface="Times New Roman" panose="02020603050405020304" pitchFamily="18" charset="0"/>
            </a:endParaRPr>
          </a:p>
        </p:txBody>
      </p:sp>
      <p:sp>
        <p:nvSpPr>
          <p:cNvPr id="6" name="Rectangle 11">
            <a:extLst>
              <a:ext uri="{FF2B5EF4-FFF2-40B4-BE49-F238E27FC236}">
                <a16:creationId xmlns:a16="http://schemas.microsoft.com/office/drawing/2014/main" id="{BA0A8B57-3FEC-40EB-993A-BD8A04CF7B8D}"/>
              </a:ext>
            </a:extLst>
          </p:cNvPr>
          <p:cNvSpPr/>
          <p:nvPr/>
        </p:nvSpPr>
        <p:spPr>
          <a:xfrm>
            <a:off x="0" y="3511531"/>
            <a:ext cx="12192000" cy="2308324"/>
          </a:xfrm>
          <a:prstGeom prst="rect">
            <a:avLst/>
          </a:prstGeom>
        </p:spPr>
        <p:txBody>
          <a:bodyPr wrap="square">
            <a:spAutoFit/>
          </a:bodyPr>
          <a:lstStyle/>
          <a:p>
            <a:r>
              <a:rPr lang="en-US" sz="2400">
                <a:solidFill>
                  <a:srgbClr val="0000FF"/>
                </a:solidFill>
                <a:latin typeface="Consolas" panose="020B0609020204030204" pitchFamily="49" charset="0"/>
              </a:rPr>
              <a:t>private</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void</a:t>
            </a:r>
            <a:r>
              <a:rPr lang="en-US" sz="2400">
                <a:solidFill>
                  <a:srgbClr val="000000"/>
                </a:solidFill>
                <a:latin typeface="Consolas" panose="020B0609020204030204" pitchFamily="49" charset="0"/>
              </a:rPr>
              <a:t> TextBox_TextChanged(</a:t>
            </a:r>
            <a:r>
              <a:rPr lang="en-US" sz="2400">
                <a:solidFill>
                  <a:srgbClr val="0000FF"/>
                </a:solidFill>
                <a:latin typeface="Consolas" panose="020B0609020204030204" pitchFamily="49" charset="0"/>
              </a:rPr>
              <a:t>object</a:t>
            </a:r>
            <a:r>
              <a:rPr lang="en-US" sz="2400">
                <a:solidFill>
                  <a:srgbClr val="000000"/>
                </a:solidFill>
                <a:latin typeface="Consolas" panose="020B0609020204030204" pitchFamily="49" charset="0"/>
              </a:rPr>
              <a:t> sender, TextChangedEventArgs e)</a:t>
            </a:r>
          </a:p>
          <a:p>
            <a:r>
              <a:rPr lang="en-US" sz="2400">
                <a:solidFill>
                  <a:srgbClr val="000000"/>
                </a:solidFill>
                <a:latin typeface="Consolas" panose="020B0609020204030204" pitchFamily="49" charset="0"/>
              </a:rPr>
              <a:t>{</a:t>
            </a:r>
          </a:p>
          <a:p>
            <a:r>
              <a:rPr lang="pt-BR" sz="2400">
                <a:solidFill>
                  <a:srgbClr val="000000"/>
                </a:solidFill>
                <a:latin typeface="Consolas" panose="020B0609020204030204" pitchFamily="49" charset="0"/>
              </a:rPr>
              <a:t>	TextBox textBox = sender </a:t>
            </a:r>
            <a:r>
              <a:rPr lang="pt-BR" sz="2400">
                <a:solidFill>
                  <a:srgbClr val="0000FF"/>
                </a:solidFill>
                <a:latin typeface="Consolas" panose="020B0609020204030204" pitchFamily="49" charset="0"/>
              </a:rPr>
              <a:t>as</a:t>
            </a:r>
            <a:r>
              <a:rPr lang="pt-BR" sz="2400">
                <a:solidFill>
                  <a:srgbClr val="000000"/>
                </a:solidFill>
                <a:latin typeface="Consolas" panose="020B0609020204030204" pitchFamily="49" charset="0"/>
              </a:rPr>
              <a:t> TextBox;</a:t>
            </a: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string</a:t>
            </a:r>
            <a:r>
              <a:rPr lang="en-US" sz="2400">
                <a:solidFill>
                  <a:srgbClr val="000000"/>
                </a:solidFill>
                <a:latin typeface="Consolas" panose="020B0609020204030204" pitchFamily="49" charset="0"/>
              </a:rPr>
              <a:t> text = textBox.Text;</a:t>
            </a: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this</a:t>
            </a:r>
            <a:r>
              <a:rPr lang="en-US" sz="2400">
                <a:solidFill>
                  <a:srgbClr val="000000"/>
                </a:solidFill>
                <a:latin typeface="Consolas" panose="020B0609020204030204" pitchFamily="49" charset="0"/>
              </a:rPr>
              <a:t>.Title = </a:t>
            </a:r>
            <a:r>
              <a:rPr lang="en-US" sz="2400">
                <a:solidFill>
                  <a:srgbClr val="A31515"/>
                </a:solidFill>
                <a:latin typeface="Consolas" panose="020B0609020204030204" pitchFamily="49" charset="0"/>
              </a:rPr>
              <a:t>$"Đang nhập: </a:t>
            </a:r>
            <a:r>
              <a:rPr lang="en-US" sz="2400">
                <a:solidFill>
                  <a:srgbClr val="000000"/>
                </a:solidFill>
                <a:latin typeface="Consolas" panose="020B0609020204030204" pitchFamily="49" charset="0"/>
              </a:rPr>
              <a:t>{text}</a:t>
            </a:r>
            <a:r>
              <a:rPr lang="en-US" sz="2400">
                <a:solidFill>
                  <a:srgbClr val="A31515"/>
                </a:solidFill>
                <a:latin typeface="Consolas" panose="020B0609020204030204" pitchFamily="49" charset="0"/>
              </a:rPr>
              <a:t>"</a:t>
            </a:r>
            <a:r>
              <a:rPr lang="en-US" sz="2400">
                <a:solidFill>
                  <a:srgbClr val="000000"/>
                </a:solidFill>
                <a:latin typeface="Consolas" panose="020B0609020204030204" pitchFamily="49" charset="0"/>
              </a:rPr>
              <a:t>;</a:t>
            </a:r>
          </a:p>
          <a:p>
            <a:r>
              <a:rPr lang="en-US" sz="2400">
                <a:solidFill>
                  <a:srgbClr val="000000"/>
                </a:solidFill>
                <a:latin typeface="Consolas" panose="020B0609020204030204" pitchFamily="49" charset="0"/>
              </a:rPr>
              <a: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507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1"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SỰ KIỆN SELECTIONCHANGED</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70"/>
            <a:ext cx="12192000" cy="12353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2800">
                <a:latin typeface="Times New Roman" panose="02020603050405020304" pitchFamily="18" charset="0"/>
                <a:cs typeface="Times New Roman" panose="02020603050405020304" pitchFamily="18" charset="0"/>
              </a:rPr>
              <a:t>Bắt sự kiện khi người dùng chọn mục khác trong danh sách.</a:t>
            </a:r>
            <a:endParaRPr lang="en-US" sz="2800">
              <a:latin typeface="Times New Roman" panose="02020603050405020304" pitchFamily="18" charset="0"/>
              <a:cs typeface="Times New Roman" panose="02020603050405020304" pitchFamily="18" charset="0"/>
            </a:endParaRPr>
          </a:p>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XAML</a:t>
            </a:r>
          </a:p>
          <a:p>
            <a:pPr marL="0" indent="0">
              <a:buNone/>
            </a:pPr>
            <a:r>
              <a:rPr lang="en-US" sz="2400">
                <a:solidFill>
                  <a:srgbClr val="000000"/>
                </a:solidFill>
                <a:latin typeface="Consolas" panose="020B0609020204030204" pitchFamily="49" charset="0"/>
              </a:rPr>
              <a:t> </a:t>
            </a:r>
            <a:endParaRPr lang="en-US" sz="2400">
              <a:solidFill>
                <a:srgbClr val="0000FF"/>
              </a:solidFill>
              <a:latin typeface="Consolas" panose="020B0609020204030204" pitchFamily="49" charset="0"/>
            </a:endParaRPr>
          </a:p>
        </p:txBody>
      </p:sp>
      <p:pic>
        <p:nvPicPr>
          <p:cNvPr id="3" name="Picture 2">
            <a:extLst>
              <a:ext uri="{FF2B5EF4-FFF2-40B4-BE49-F238E27FC236}">
                <a16:creationId xmlns:a16="http://schemas.microsoft.com/office/drawing/2014/main" id="{048DD4E8-1625-BE18-3820-3D841EF8A46E}"/>
              </a:ext>
            </a:extLst>
          </p:cNvPr>
          <p:cNvPicPr>
            <a:picLocks noChangeAspect="1"/>
          </p:cNvPicPr>
          <p:nvPr/>
        </p:nvPicPr>
        <p:blipFill>
          <a:blip r:embed="rId3"/>
          <a:stretch>
            <a:fillRect/>
          </a:stretch>
        </p:blipFill>
        <p:spPr>
          <a:xfrm>
            <a:off x="2409746" y="1517013"/>
            <a:ext cx="7745473" cy="1714233"/>
          </a:xfrm>
          <a:prstGeom prst="rect">
            <a:avLst/>
          </a:prstGeom>
        </p:spPr>
      </p:pic>
      <p:sp>
        <p:nvSpPr>
          <p:cNvPr id="6" name="Rectangle 5">
            <a:extLst>
              <a:ext uri="{FF2B5EF4-FFF2-40B4-BE49-F238E27FC236}">
                <a16:creationId xmlns:a16="http://schemas.microsoft.com/office/drawing/2014/main" id="{6F3AA03C-19A6-B96F-BD34-03895BFAEEBF}"/>
              </a:ext>
            </a:extLst>
          </p:cNvPr>
          <p:cNvSpPr/>
          <p:nvPr/>
        </p:nvSpPr>
        <p:spPr>
          <a:xfrm>
            <a:off x="3818964" y="1441470"/>
            <a:ext cx="6217921" cy="460558"/>
          </a:xfrm>
          <a:prstGeom prst="rect">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79031B3-A883-7D9E-56AE-ECD77445B933}"/>
              </a:ext>
            </a:extLst>
          </p:cNvPr>
          <p:cNvPicPr>
            <a:picLocks noChangeAspect="1"/>
          </p:cNvPicPr>
          <p:nvPr/>
        </p:nvPicPr>
        <p:blipFill>
          <a:blip r:embed="rId4"/>
          <a:stretch>
            <a:fillRect/>
          </a:stretch>
        </p:blipFill>
        <p:spPr>
          <a:xfrm>
            <a:off x="2075881" y="3986259"/>
            <a:ext cx="10116118" cy="2335419"/>
          </a:xfrm>
          <a:prstGeom prst="rect">
            <a:avLst/>
          </a:prstGeom>
        </p:spPr>
      </p:pic>
      <p:sp>
        <p:nvSpPr>
          <p:cNvPr id="13" name="Rectangle 8">
            <a:extLst>
              <a:ext uri="{FF2B5EF4-FFF2-40B4-BE49-F238E27FC236}">
                <a16:creationId xmlns:a16="http://schemas.microsoft.com/office/drawing/2014/main" id="{55205024-47DB-AF54-DBC4-5EB237992D5A}"/>
              </a:ext>
            </a:extLst>
          </p:cNvPr>
          <p:cNvSpPr txBox="1">
            <a:spLocks noChangeArrowheads="1"/>
          </p:cNvSpPr>
          <p:nvPr/>
        </p:nvSpPr>
        <p:spPr>
          <a:xfrm>
            <a:off x="-1" y="3203164"/>
            <a:ext cx="12192000" cy="12353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v"/>
            </a:pPr>
            <a:r>
              <a:rPr lang="en-US" sz="2800">
                <a:latin typeface="Times New Roman" panose="02020603050405020304" pitchFamily="18" charset="0"/>
                <a:cs typeface="Times New Roman" panose="02020603050405020304" pitchFamily="18" charset="0"/>
              </a:rPr>
              <a:t>Code-behind</a:t>
            </a:r>
          </a:p>
          <a:p>
            <a:pPr marL="0" indent="0">
              <a:buNone/>
            </a:pPr>
            <a:r>
              <a:rPr lang="en-US" sz="2400">
                <a:solidFill>
                  <a:srgbClr val="000000"/>
                </a:solidFill>
                <a:latin typeface="Consolas" panose="020B0609020204030204" pitchFamily="49" charset="0"/>
              </a:rPr>
              <a:t> </a:t>
            </a:r>
            <a:endParaRPr lang="en-US" sz="2400">
              <a:solidFill>
                <a:srgbClr val="0000FF"/>
              </a:solidFill>
              <a:latin typeface="Consolas" panose="020B0609020204030204" pitchFamily="49" charset="0"/>
            </a:endParaRPr>
          </a:p>
        </p:txBody>
      </p:sp>
    </p:spTree>
    <p:extLst>
      <p:ext uri="{BB962C8B-B14F-4D97-AF65-F5344CB8AC3E}">
        <p14:creationId xmlns:p14="http://schemas.microsoft.com/office/powerpoint/2010/main" val="2126704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1"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SỰ KIỆN LOAD</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0" y="596804"/>
            <a:ext cx="12092247" cy="7393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vi-VN" sz="3000">
                <a:latin typeface="Times New Roman" panose="02020603050405020304" pitchFamily="18" charset="0"/>
                <a:cs typeface="Times New Roman" panose="02020603050405020304" pitchFamily="18" charset="0"/>
              </a:rPr>
              <a:t>Bắt sự kiện khi form hoặc control được tải xong.</a:t>
            </a:r>
            <a:endParaRPr lang="en-US" sz="30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endParaRPr lang="en-US" sz="2800">
              <a:latin typeface="Times New Roman" panose="02020603050405020304" pitchFamily="18" charset="0"/>
              <a:cs typeface="Times New Roman" panose="02020603050405020304" pitchFamily="18" charset="0"/>
            </a:endParaRPr>
          </a:p>
          <a:p>
            <a:pPr marL="228600" lvl="1" indent="0">
              <a:lnSpc>
                <a:spcPct val="150000"/>
              </a:lnSpc>
              <a:spcBef>
                <a:spcPts val="0"/>
              </a:spcBef>
              <a:buNone/>
              <a:defRPr/>
            </a:pPr>
            <a:endParaRPr lang="en-US" sz="2800">
              <a:latin typeface="Times New Roman" panose="02020603050405020304" pitchFamily="18" charset="0"/>
              <a:cs typeface="Times New Roman" panose="02020603050405020304" pitchFamily="18" charset="0"/>
            </a:endParaRPr>
          </a:p>
          <a:p>
            <a:pPr marL="0" indent="0">
              <a:buNone/>
            </a:pPr>
            <a:endParaRPr lang="en-US" sz="2400">
              <a:latin typeface="Times New Roman" panose="02020603050405020304" pitchFamily="18" charset="0"/>
              <a:cs typeface="Times New Roman" panose="02020603050405020304" pitchFamily="18" charset="0"/>
            </a:endParaRPr>
          </a:p>
        </p:txBody>
      </p:sp>
      <p:sp>
        <p:nvSpPr>
          <p:cNvPr id="6" name="Rectangle 11">
            <a:extLst>
              <a:ext uri="{FF2B5EF4-FFF2-40B4-BE49-F238E27FC236}">
                <a16:creationId xmlns:a16="http://schemas.microsoft.com/office/drawing/2014/main" id="{2AF75F1A-2E2A-4CB5-B101-184032053D3A}"/>
              </a:ext>
            </a:extLst>
          </p:cNvPr>
          <p:cNvSpPr/>
          <p:nvPr/>
        </p:nvSpPr>
        <p:spPr>
          <a:xfrm>
            <a:off x="2912388" y="1402369"/>
            <a:ext cx="9179859" cy="2308324"/>
          </a:xfrm>
          <a:prstGeom prst="rect">
            <a:avLst/>
          </a:prstGeom>
        </p:spPr>
        <p:txBody>
          <a:bodyPr wrap="square">
            <a:spAutoFit/>
          </a:bodyPr>
          <a:lstStyle/>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Window</a:t>
            </a:r>
            <a:r>
              <a:rPr lang="en-US" sz="2400">
                <a:solidFill>
                  <a:srgbClr val="FF0000"/>
                </a:solidFill>
                <a:latin typeface="Consolas" panose="020B0609020204030204" pitchFamily="49" charset="0"/>
              </a:rPr>
              <a:t> x</a:t>
            </a:r>
            <a:r>
              <a:rPr lang="en-US" sz="2400">
                <a:solidFill>
                  <a:srgbClr val="0000FF"/>
                </a:solidFill>
                <a:latin typeface="Consolas" panose="020B0609020204030204" pitchFamily="49" charset="0"/>
              </a:rPr>
              <a:t>:</a:t>
            </a:r>
            <a:r>
              <a:rPr lang="en-US" sz="2400">
                <a:solidFill>
                  <a:srgbClr val="FF0000"/>
                </a:solidFill>
                <a:latin typeface="Consolas" panose="020B0609020204030204" pitchFamily="49" charset="0"/>
              </a:rPr>
              <a:t>Class</a:t>
            </a:r>
            <a:r>
              <a:rPr lang="en-US" sz="2400">
                <a:solidFill>
                  <a:srgbClr val="0000FF"/>
                </a:solidFill>
                <a:latin typeface="Consolas" panose="020B0609020204030204" pitchFamily="49" charset="0"/>
              </a:rPr>
              <a:t>="WpfApp1.MainWindow”</a:t>
            </a:r>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Title</a:t>
            </a:r>
            <a:r>
              <a:rPr lang="en-US" sz="2400">
                <a:solidFill>
                  <a:srgbClr val="0000FF"/>
                </a:solidFill>
                <a:latin typeface="Consolas" panose="020B0609020204030204" pitchFamily="49" charset="0"/>
              </a:rPr>
              <a:t>="Ví Dụ Loaded"</a:t>
            </a:r>
            <a:r>
              <a:rPr lang="en-US" sz="2400">
                <a:solidFill>
                  <a:srgbClr val="FF0000"/>
                </a:solidFill>
                <a:latin typeface="Consolas" panose="020B0609020204030204" pitchFamily="49" charset="0"/>
              </a:rPr>
              <a:t> Height</a:t>
            </a:r>
            <a:r>
              <a:rPr lang="en-US" sz="2400">
                <a:solidFill>
                  <a:srgbClr val="0000FF"/>
                </a:solidFill>
                <a:latin typeface="Consolas" panose="020B0609020204030204" pitchFamily="49" charset="0"/>
              </a:rPr>
              <a:t>="150"</a:t>
            </a:r>
            <a:r>
              <a:rPr lang="en-US" sz="2400">
                <a:solidFill>
                  <a:srgbClr val="FF0000"/>
                </a:solidFill>
                <a:latin typeface="Consolas" panose="020B0609020204030204" pitchFamily="49" charset="0"/>
              </a:rPr>
              <a:t> Width</a:t>
            </a:r>
            <a:r>
              <a:rPr lang="en-US" sz="2400">
                <a:solidFill>
                  <a:srgbClr val="0000FF"/>
                </a:solidFill>
                <a:latin typeface="Consolas" panose="020B0609020204030204" pitchFamily="49" charset="0"/>
              </a:rPr>
              <a:t>="300"</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FF0000"/>
                </a:solidFill>
                <a:latin typeface="Consolas" panose="020B0609020204030204" pitchFamily="49" charset="0"/>
              </a:rPr>
              <a:t> Loaded</a:t>
            </a:r>
            <a:r>
              <a:rPr lang="en-US" sz="2400">
                <a:solidFill>
                  <a:srgbClr val="0000FF"/>
                </a:solidFill>
                <a:latin typeface="Consolas" panose="020B0609020204030204" pitchFamily="49" charset="0"/>
              </a:rPr>
              <a:t>="Window_Loaded"&gt;</a:t>
            </a:r>
            <a:endParaRPr lang="en-US" sz="2400">
              <a:solidFill>
                <a:srgbClr val="000000"/>
              </a:solidFill>
              <a:latin typeface="Consolas" panose="020B0609020204030204" pitchFamily="49" charset="0"/>
            </a:endParaRPr>
          </a:p>
          <a:p>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endParaRPr lang="en-US" sz="2400">
              <a:solidFill>
                <a:srgbClr val="000000"/>
              </a:solidFill>
              <a:latin typeface="Consolas" panose="020B0609020204030204" pitchFamily="49" charset="0"/>
            </a:endParaRPr>
          </a:p>
          <a:p>
            <a:r>
              <a:rPr lang="en-US" sz="2400">
                <a:solidFill>
                  <a:srgbClr val="0000FF"/>
                </a:solidFill>
                <a:latin typeface="Consolas" panose="020B0609020204030204" pitchFamily="49" charset="0"/>
              </a:rPr>
              <a:t>	    &lt;/</a:t>
            </a:r>
            <a:r>
              <a:rPr lang="en-US" sz="2400">
                <a:solidFill>
                  <a:srgbClr val="A31515"/>
                </a:solidFill>
                <a:latin typeface="Consolas" panose="020B0609020204030204" pitchFamily="49" charset="0"/>
              </a:rPr>
              <a:t>Grid</a:t>
            </a:r>
            <a:r>
              <a:rPr lang="en-US" sz="2400">
                <a:solidFill>
                  <a:srgbClr val="0000FF"/>
                </a:solidFill>
                <a:latin typeface="Consolas" panose="020B0609020204030204" pitchFamily="49" charset="0"/>
              </a:rPr>
              <a:t>&gt;</a:t>
            </a:r>
          </a:p>
          <a:p>
            <a:r>
              <a:rPr lang="en-US" sz="2400">
                <a:solidFill>
                  <a:srgbClr val="0000FF"/>
                </a:solidFill>
                <a:latin typeface="Consolas" panose="020B0609020204030204" pitchFamily="49" charset="0"/>
              </a:rPr>
              <a:t>&lt;/</a:t>
            </a:r>
            <a:r>
              <a:rPr lang="en-US" sz="2400">
                <a:solidFill>
                  <a:srgbClr val="A31515"/>
                </a:solidFill>
                <a:latin typeface="Consolas" panose="020B0609020204030204" pitchFamily="49" charset="0"/>
              </a:rPr>
              <a:t>Window</a:t>
            </a:r>
            <a:r>
              <a:rPr lang="en-US" sz="2400">
                <a:solidFill>
                  <a:srgbClr val="0000FF"/>
                </a:solidFill>
                <a:latin typeface="Consolas" panose="020B0609020204030204" pitchFamily="49" charset="0"/>
              </a:rPr>
              <a:t>&gt;</a:t>
            </a:r>
          </a:p>
        </p:txBody>
      </p:sp>
      <p:sp>
        <p:nvSpPr>
          <p:cNvPr id="7" name="Rectangle 8">
            <a:extLst>
              <a:ext uri="{FF2B5EF4-FFF2-40B4-BE49-F238E27FC236}">
                <a16:creationId xmlns:a16="http://schemas.microsoft.com/office/drawing/2014/main" id="{70CF7B62-7BAC-43D1-ADA0-BE1827834786}"/>
              </a:ext>
            </a:extLst>
          </p:cNvPr>
          <p:cNvSpPr txBox="1">
            <a:spLocks noChangeArrowheads="1"/>
          </p:cNvSpPr>
          <p:nvPr/>
        </p:nvSpPr>
        <p:spPr>
          <a:xfrm>
            <a:off x="2721685" y="4113173"/>
            <a:ext cx="9470315" cy="23083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solidFill>
                  <a:srgbClr val="0000FF"/>
                </a:solidFill>
                <a:latin typeface="Consolas" panose="020B0609020204030204" pitchFamily="49" charset="0"/>
              </a:rPr>
              <a:t>private</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void</a:t>
            </a:r>
            <a:r>
              <a:rPr lang="en-US" sz="2400">
                <a:solidFill>
                  <a:srgbClr val="000000"/>
                </a:solidFill>
                <a:latin typeface="Consolas" panose="020B0609020204030204" pitchFamily="49" charset="0"/>
              </a:rPr>
              <a:t> Window_Loaded(</a:t>
            </a:r>
            <a:r>
              <a:rPr lang="en-US" sz="2400">
                <a:solidFill>
                  <a:srgbClr val="0000FF"/>
                </a:solidFill>
                <a:latin typeface="Consolas" panose="020B0609020204030204" pitchFamily="49" charset="0"/>
              </a:rPr>
              <a:t>object</a:t>
            </a:r>
            <a:r>
              <a:rPr lang="en-US" sz="2400">
                <a:solidFill>
                  <a:srgbClr val="000000"/>
                </a:solidFill>
                <a:latin typeface="Consolas" panose="020B0609020204030204" pitchFamily="49" charset="0"/>
              </a:rPr>
              <a:t> sender, RoutedEventArgs e)</a:t>
            </a:r>
          </a:p>
          <a:p>
            <a:pPr marL="0" indent="0">
              <a:buNone/>
            </a:pPr>
            <a:r>
              <a:rPr lang="en-US" sz="2400">
                <a:solidFill>
                  <a:srgbClr val="000000"/>
                </a:solidFill>
                <a:latin typeface="Consolas" panose="020B0609020204030204" pitchFamily="49" charset="0"/>
              </a:rPr>
              <a:t>        {</a:t>
            </a:r>
          </a:p>
          <a:p>
            <a:pPr marL="0" indent="0">
              <a:buNone/>
            </a:pPr>
            <a:r>
              <a:rPr lang="en-US" sz="2400">
                <a:solidFill>
                  <a:srgbClr val="000000"/>
                </a:solidFill>
                <a:latin typeface="Consolas" panose="020B0609020204030204" pitchFamily="49" charset="0"/>
              </a:rPr>
              <a:t>            MessageBox.Show(</a:t>
            </a:r>
            <a:r>
              <a:rPr lang="en-US" sz="2400">
                <a:solidFill>
                  <a:srgbClr val="A31515"/>
                </a:solidFill>
                <a:latin typeface="Consolas" panose="020B0609020204030204" pitchFamily="49" charset="0"/>
              </a:rPr>
              <a:t>"Form đã load xong!"</a:t>
            </a:r>
            <a:r>
              <a:rPr lang="en-US" sz="2400">
                <a:solidFill>
                  <a:srgbClr val="000000"/>
                </a:solidFill>
                <a:latin typeface="Consolas" panose="020B0609020204030204" pitchFamily="49" charset="0"/>
              </a:rPr>
              <a:t>);</a:t>
            </a:r>
          </a:p>
          <a:p>
            <a:pPr marL="0" indent="0">
              <a:buNone/>
            </a:pPr>
            <a:r>
              <a:rPr lang="en-US" sz="2400">
                <a:solidFill>
                  <a:srgbClr val="000000"/>
                </a:solidFill>
                <a:latin typeface="Consolas" panose="020B0609020204030204" pitchFamily="49" charset="0"/>
              </a:rPr>
              <a:t>        }</a:t>
            </a:r>
            <a:endParaRPr lang="en-US" sz="2400">
              <a:latin typeface="Times New Roman" panose="02020603050405020304" pitchFamily="18" charset="0"/>
              <a:cs typeface="Times New Roman" panose="02020603050405020304" pitchFamily="18" charset="0"/>
            </a:endParaRPr>
          </a:p>
        </p:txBody>
      </p:sp>
      <p:sp>
        <p:nvSpPr>
          <p:cNvPr id="2" name="Rectangle 8">
            <a:extLst>
              <a:ext uri="{FF2B5EF4-FFF2-40B4-BE49-F238E27FC236}">
                <a16:creationId xmlns:a16="http://schemas.microsoft.com/office/drawing/2014/main" id="{7FB8B2F7-B64D-EFF5-0354-326112AB7716}"/>
              </a:ext>
            </a:extLst>
          </p:cNvPr>
          <p:cNvSpPr txBox="1">
            <a:spLocks noChangeArrowheads="1"/>
          </p:cNvSpPr>
          <p:nvPr/>
        </p:nvSpPr>
        <p:spPr>
          <a:xfrm>
            <a:off x="0" y="1262349"/>
            <a:ext cx="2366682" cy="5823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XAML</a:t>
            </a:r>
          </a:p>
          <a:p>
            <a:pPr marL="0" indent="0">
              <a:buNone/>
            </a:pPr>
            <a:r>
              <a:rPr lang="en-US" sz="2400">
                <a:solidFill>
                  <a:srgbClr val="000000"/>
                </a:solidFill>
                <a:latin typeface="Consolas" panose="020B0609020204030204" pitchFamily="49" charset="0"/>
              </a:rPr>
              <a:t> </a:t>
            </a:r>
            <a:endParaRPr lang="en-US" sz="2400">
              <a:solidFill>
                <a:srgbClr val="0000FF"/>
              </a:solidFill>
              <a:latin typeface="Consolas" panose="020B0609020204030204" pitchFamily="49" charset="0"/>
            </a:endParaRPr>
          </a:p>
        </p:txBody>
      </p:sp>
      <p:sp>
        <p:nvSpPr>
          <p:cNvPr id="3" name="Rectangle 8">
            <a:extLst>
              <a:ext uri="{FF2B5EF4-FFF2-40B4-BE49-F238E27FC236}">
                <a16:creationId xmlns:a16="http://schemas.microsoft.com/office/drawing/2014/main" id="{3A027C02-86A1-1242-E80D-581F185B9B53}"/>
              </a:ext>
            </a:extLst>
          </p:cNvPr>
          <p:cNvSpPr txBox="1">
            <a:spLocks noChangeArrowheads="1"/>
          </p:cNvSpPr>
          <p:nvPr/>
        </p:nvSpPr>
        <p:spPr>
          <a:xfrm>
            <a:off x="-99752" y="4028412"/>
            <a:ext cx="2902772" cy="5823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Font typeface="Wingdings" panose="05000000000000000000" pitchFamily="2" charset="2"/>
              <a:buChar char="v"/>
              <a:defRPr/>
            </a:pPr>
            <a:r>
              <a:rPr lang="en-US" sz="2800">
                <a:latin typeface="Times New Roman" panose="02020603050405020304" pitchFamily="18" charset="0"/>
                <a:cs typeface="Times New Roman" panose="02020603050405020304" pitchFamily="18" charset="0"/>
              </a:rPr>
              <a:t>Code-behind</a:t>
            </a:r>
          </a:p>
          <a:p>
            <a:pPr marL="0" indent="0">
              <a:buNone/>
            </a:pPr>
            <a:r>
              <a:rPr lang="en-US" sz="2400">
                <a:solidFill>
                  <a:srgbClr val="000000"/>
                </a:solidFill>
                <a:latin typeface="Consolas" panose="020B0609020204030204" pitchFamily="49" charset="0"/>
              </a:rPr>
              <a:t> </a:t>
            </a:r>
            <a:endParaRPr lang="en-US" sz="2400">
              <a:solidFill>
                <a:srgbClr val="0000FF"/>
              </a:solidFill>
              <a:latin typeface="Consolas" panose="020B0609020204030204" pitchFamily="49" charset="0"/>
            </a:endParaRPr>
          </a:p>
        </p:txBody>
      </p:sp>
    </p:spTree>
    <p:extLst>
      <p:ext uri="{BB962C8B-B14F-4D97-AF65-F5344CB8AC3E}">
        <p14:creationId xmlns:p14="http://schemas.microsoft.com/office/powerpoint/2010/main" val="3024917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942B267-4653-4F80-B98F-D740019EB207}"/>
              </a:ext>
            </a:extLst>
          </p:cNvPr>
          <p:cNvSpPr txBox="1">
            <a:spLocks noChangeArrowheads="1"/>
          </p:cNvSpPr>
          <p:nvPr/>
        </p:nvSpPr>
        <p:spPr bwMode="auto">
          <a:xfrm>
            <a:off x="-1"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BÀI TẬP DEMO</a:t>
            </a:r>
          </a:p>
        </p:txBody>
      </p:sp>
      <p:sp>
        <p:nvSpPr>
          <p:cNvPr id="5" name="Rectangle 8">
            <a:extLst>
              <a:ext uri="{FF2B5EF4-FFF2-40B4-BE49-F238E27FC236}">
                <a16:creationId xmlns:a16="http://schemas.microsoft.com/office/drawing/2014/main" id="{100F49D3-EC41-4463-B895-4E3093B5D4D3}"/>
              </a:ext>
            </a:extLst>
          </p:cNvPr>
          <p:cNvSpPr txBox="1">
            <a:spLocks noChangeArrowheads="1"/>
          </p:cNvSpPr>
          <p:nvPr/>
        </p:nvSpPr>
        <p:spPr>
          <a:xfrm>
            <a:off x="-1" y="679469"/>
            <a:ext cx="12192000" cy="63730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nSpc>
                <a:spcPct val="150000"/>
              </a:lnSpc>
              <a:spcBef>
                <a:spcPts val="0"/>
              </a:spcBef>
              <a:buNone/>
              <a:defRPr/>
            </a:pPr>
            <a:r>
              <a:rPr lang="en-US" sz="2800" b="1">
                <a:latin typeface="Times New Roman" panose="02020603050405020304" pitchFamily="18" charset="0"/>
                <a:cs typeface="Times New Roman" panose="02020603050405020304" pitchFamily="18" charset="0"/>
              </a:rPr>
              <a:t>Tạo WPF nh</a:t>
            </a:r>
            <a:r>
              <a:rPr lang="vi-VN" sz="2800" b="1">
                <a:latin typeface="Times New Roman" panose="02020603050405020304" pitchFamily="18" charset="0"/>
                <a:cs typeface="Times New Roman" panose="02020603050405020304" pitchFamily="18" charset="0"/>
              </a:rPr>
              <a:t>ư</a:t>
            </a:r>
            <a:r>
              <a:rPr lang="en-US" sz="2800" b="1">
                <a:latin typeface="Times New Roman" panose="02020603050405020304" pitchFamily="18" charset="0"/>
                <a:cs typeface="Times New Roman" panose="02020603050405020304" pitchFamily="18" charset="0"/>
              </a:rPr>
              <a:t> sau</a:t>
            </a:r>
          </a:p>
          <a:p>
            <a:pPr marL="228600" lvl="1" indent="0">
              <a:lnSpc>
                <a:spcPct val="150000"/>
              </a:lnSpc>
              <a:spcBef>
                <a:spcPts val="0"/>
              </a:spcBef>
              <a:buNone/>
              <a:defRPr/>
            </a:pPr>
            <a:r>
              <a:rPr lang="en-US" sz="2800">
                <a:latin typeface="Times New Roman" panose="02020603050405020304" pitchFamily="18" charset="0"/>
                <a:cs typeface="Times New Roman" panose="02020603050405020304" pitchFamily="18" charset="0"/>
              </a:rPr>
              <a:t>	Yêu cầu: </a:t>
            </a:r>
            <a:r>
              <a:rPr lang="vi-VN" sz="2800">
                <a:latin typeface="Times New Roman" panose="02020603050405020304" pitchFamily="18" charset="0"/>
                <a:cs typeface="Times New Roman" panose="02020603050405020304" pitchFamily="18" charset="0"/>
              </a:rPr>
              <a:t>Khi chạy chương trình (Loaded), giao diện hiện 2 TextBox để nhập số</a:t>
            </a:r>
            <a:r>
              <a:rPr lang="en-US" sz="2800">
                <a:latin typeface="Times New Roman" panose="02020603050405020304" pitchFamily="18" charset="0"/>
                <a:cs typeface="Times New Roman" panose="02020603050405020304" pitchFamily="18" charset="0"/>
              </a:rPr>
              <a:t> và 4 bu</a:t>
            </a:r>
            <a:r>
              <a:rPr lang="vi-VN" sz="2800">
                <a:latin typeface="Times New Roman" panose="02020603050405020304" pitchFamily="18" charset="0"/>
                <a:cs typeface="Times New Roman" panose="02020603050405020304" pitchFamily="18" charset="0"/>
              </a:rPr>
              <a:t>tton: Cộng, Trừ, Nhân, Chia.</a:t>
            </a:r>
          </a:p>
          <a:p>
            <a:pPr marL="228600" lvl="1" indent="0">
              <a:lnSpc>
                <a:spcPct val="150000"/>
              </a:lnSpc>
              <a:spcBef>
                <a:spcPts val="0"/>
              </a:spcBef>
              <a:buNone/>
              <a:defRPr/>
            </a:pPr>
            <a:r>
              <a:rPr lang="vi-VN" sz="2800">
                <a:latin typeface="Times New Roman" panose="02020603050405020304" pitchFamily="18" charset="0"/>
                <a:cs typeface="Times New Roman" panose="02020603050405020304" pitchFamily="18" charset="0"/>
              </a:rPr>
              <a:t>Khi bấm từng nút, tính toán và hiện kết quả ra Label.</a:t>
            </a:r>
            <a:endParaRPr lang="en-US" sz="16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FAA315E-7603-4A94-8540-8842B559DB98}"/>
              </a:ext>
            </a:extLst>
          </p:cNvPr>
          <p:cNvPicPr>
            <a:picLocks noChangeAspect="1"/>
          </p:cNvPicPr>
          <p:nvPr/>
        </p:nvPicPr>
        <p:blipFill>
          <a:blip r:embed="rId3"/>
          <a:stretch>
            <a:fillRect/>
          </a:stretch>
        </p:blipFill>
        <p:spPr>
          <a:xfrm>
            <a:off x="3786186" y="3429000"/>
            <a:ext cx="4619625" cy="2943225"/>
          </a:xfrm>
          <a:prstGeom prst="rect">
            <a:avLst/>
          </a:prstGeom>
        </p:spPr>
      </p:pic>
    </p:spTree>
    <p:extLst>
      <p:ext uri="{BB962C8B-B14F-4D97-AF65-F5344CB8AC3E}">
        <p14:creationId xmlns:p14="http://schemas.microsoft.com/office/powerpoint/2010/main" val="1763923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EA03970-B1C4-4CEE-AC5B-D9391D8CE207}"/>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HỎI ĐÁP</a:t>
            </a:r>
          </a:p>
        </p:txBody>
      </p:sp>
      <p:sp>
        <p:nvSpPr>
          <p:cNvPr id="3" name="Rectangle 3">
            <a:extLst>
              <a:ext uri="{FF2B5EF4-FFF2-40B4-BE49-F238E27FC236}">
                <a16:creationId xmlns:a16="http://schemas.microsoft.com/office/drawing/2014/main" id="{6988C84B-EB08-4895-81AE-C1738DD8B9A7}"/>
              </a:ext>
            </a:extLst>
          </p:cNvPr>
          <p:cNvSpPr txBox="1">
            <a:spLocks noChangeArrowheads="1"/>
          </p:cNvSpPr>
          <p:nvPr/>
        </p:nvSpPr>
        <p:spPr>
          <a:xfrm>
            <a:off x="0" y="823912"/>
            <a:ext cx="12192000" cy="5262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457200">
              <a:lnSpc>
                <a:spcPct val="200000"/>
              </a:lnSpc>
              <a:spcBef>
                <a:spcPts val="0"/>
              </a:spcBef>
              <a:buFont typeface="Wingdings" panose="05000000000000000000" pitchFamily="2" charset="2"/>
              <a:buChar char="v"/>
            </a:pPr>
            <a:endParaRPr lang="en-US" altLang="vi-VN" sz="3000">
              <a:latin typeface="+mj-lt"/>
              <a:cs typeface="Times New Roman" panose="02020603050405020304" pitchFamily="18" charset="0"/>
            </a:endParaRPr>
          </a:p>
        </p:txBody>
      </p:sp>
      <p:pic>
        <p:nvPicPr>
          <p:cNvPr id="5" name="Picture 9" descr="j0434403[2]">
            <a:extLst>
              <a:ext uri="{FF2B5EF4-FFF2-40B4-BE49-F238E27FC236}">
                <a16:creationId xmlns:a16="http://schemas.microsoft.com/office/drawing/2014/main" id="{7D44C670-4EF4-4669-912C-06A604AB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706" y="3719456"/>
            <a:ext cx="2342588" cy="251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3C91A66-1CD2-A577-8D9A-74E82F4805B1}"/>
              </a:ext>
            </a:extLst>
          </p:cNvPr>
          <p:cNvSpPr txBox="1"/>
          <p:nvPr/>
        </p:nvSpPr>
        <p:spPr>
          <a:xfrm>
            <a:off x="0" y="771525"/>
            <a:ext cx="12192000" cy="3480825"/>
          </a:xfrm>
          <a:prstGeom prst="rect">
            <a:avLst/>
          </a:prstGeom>
          <a:noFill/>
        </p:spPr>
        <p:txBody>
          <a:bodyPr wrap="square">
            <a:spAutoFit/>
          </a:bodyPr>
          <a:lstStyle/>
          <a:p>
            <a:pPr marL="457200">
              <a:lnSpc>
                <a:spcPct val="150000"/>
              </a:lnSpc>
            </a:pPr>
            <a:r>
              <a:rPr lang="vi-VN" sz="3000">
                <a:latin typeface="+mj-lt"/>
              </a:rPr>
              <a:t>Giả sử bạn thiết kế một giao diện WPF có nhiều TextBox để nhập dữ liệu. Khi người dùng nhấn Enter trong bất kỳ TextBox nào, bạn muốn tự động chuyển focus sang TextBox kế tiếp mà không cần dùng chuột. Theo bạn nên xử lý sự kiện nào? Nên xử lý ở từng TextBox hay xử lý tập trung tại cấp cao hơn? Vì sao?</a:t>
            </a:r>
            <a:endParaRPr lang="en-US" sz="3000">
              <a:latin typeface="+mj-lt"/>
            </a:endParaRPr>
          </a:p>
        </p:txBody>
      </p:sp>
    </p:spTree>
    <p:extLst>
      <p:ext uri="{BB962C8B-B14F-4D97-AF65-F5344CB8AC3E}">
        <p14:creationId xmlns:p14="http://schemas.microsoft.com/office/powerpoint/2010/main" val="3723789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A917-BE72-4B56-7515-BF38F145EF78}"/>
              </a:ext>
            </a:extLst>
          </p:cNvPr>
          <p:cNvSpPr txBox="1"/>
          <p:nvPr/>
        </p:nvSpPr>
        <p:spPr>
          <a:xfrm>
            <a:off x="215265" y="934135"/>
            <a:ext cx="11761470" cy="3323987"/>
          </a:xfrm>
          <a:prstGeom prst="rect">
            <a:avLst/>
          </a:prstGeom>
          <a:noFill/>
        </p:spPr>
        <p:txBody>
          <a:bodyPr wrap="square">
            <a:spAutoFit/>
          </a:bodyPr>
          <a:lstStyle/>
          <a:p>
            <a:r>
              <a:rPr lang="en-US" sz="3000">
                <a:latin typeface="Times New Roman" panose="02020603050405020304" pitchFamily="18" charset="0"/>
                <a:cs typeface="Times New Roman" panose="02020603050405020304" pitchFamily="18" charset="0"/>
              </a:rPr>
              <a:t>[1]</a:t>
            </a:r>
          </a:p>
          <a:p>
            <a:r>
              <a:rPr lang="en-US" sz="3000">
                <a:latin typeface="Times New Roman" panose="02020603050405020304" pitchFamily="18" charset="0"/>
                <a:cs typeface="Times New Roman" panose="02020603050405020304" pitchFamily="18" charset="0"/>
                <a:hlinkClick r:id="rId2"/>
              </a:rPr>
              <a:t>https://www.youtube.com/watch?v=6T7KerBydm0&amp;list=PLLXCN-2OVrTvRa10LXLBok5rNhbi2NZ4g</a:t>
            </a:r>
            <a:br>
              <a:rPr lang="en-US" sz="3000">
                <a:latin typeface="Times New Roman" panose="02020603050405020304" pitchFamily="18" charset="0"/>
                <a:cs typeface="Times New Roman" panose="02020603050405020304" pitchFamily="18" charset="0"/>
              </a:rPr>
            </a:br>
            <a:br>
              <a:rPr lang="en-US" sz="3000">
                <a:latin typeface="Times New Roman" panose="02020603050405020304" pitchFamily="18" charset="0"/>
                <a:cs typeface="Times New Roman" panose="02020603050405020304" pitchFamily="18" charset="0"/>
              </a:rPr>
            </a:br>
            <a:r>
              <a:rPr lang="en-US" sz="3000">
                <a:latin typeface="Times New Roman" panose="02020603050405020304" pitchFamily="18" charset="0"/>
                <a:cs typeface="Times New Roman" panose="02020603050405020304" pitchFamily="18" charset="0"/>
              </a:rPr>
              <a:t>[2]</a:t>
            </a:r>
          </a:p>
          <a:p>
            <a:r>
              <a:rPr lang="en-US" sz="3000">
                <a:latin typeface="Times New Roman" panose="02020603050405020304" pitchFamily="18" charset="0"/>
                <a:cs typeface="Times New Roman" panose="02020603050405020304" pitchFamily="18" charset="0"/>
                <a:hlinkClick r:id="rId3"/>
              </a:rPr>
              <a:t>https://www.youtube.com/watch?v=hpekloDuPDM</a:t>
            </a:r>
            <a:endParaRPr lang="en-US" sz="3000">
              <a:latin typeface="Times New Roman" panose="02020603050405020304" pitchFamily="18" charset="0"/>
              <a:cs typeface="Times New Roman" panose="02020603050405020304" pitchFamily="18" charset="0"/>
            </a:endParaRPr>
          </a:p>
          <a:p>
            <a:endParaRPr lang="en-US" sz="300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23A65387-BE33-EF45-2876-D768E86A833E}"/>
              </a:ext>
            </a:extLst>
          </p:cNvPr>
          <p:cNvSpPr txBox="1">
            <a:spLocks noChangeArrowheads="1"/>
          </p:cNvSpPr>
          <p:nvPr/>
        </p:nvSpPr>
        <p:spPr bwMode="auto">
          <a:xfrm>
            <a:off x="0" y="0"/>
            <a:ext cx="1219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600" b="1">
                <a:solidFill>
                  <a:schemeClr val="bg1"/>
                </a:solidFill>
              </a:rPr>
              <a:t>LINK YOUTUBE THAM KHẢO</a:t>
            </a:r>
          </a:p>
        </p:txBody>
      </p:sp>
    </p:spTree>
    <p:extLst>
      <p:ext uri="{BB962C8B-B14F-4D97-AF65-F5344CB8AC3E}">
        <p14:creationId xmlns:p14="http://schemas.microsoft.com/office/powerpoint/2010/main" val="3498683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2849</TotalTime>
  <Words>1996</Words>
  <Application>Microsoft Office PowerPoint</Application>
  <PresentationFormat>Widescreen</PresentationFormat>
  <Paragraphs>280</Paragraphs>
  <Slides>28</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Consolas</vt:lpstr>
      <vt:lpstr>Times New Roman</vt:lpstr>
      <vt:lpstr>Times New Roman (Headings)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LENOVO</dc:creator>
  <cp:lastModifiedBy>Nguyễn Tấn Quốc</cp:lastModifiedBy>
  <cp:revision>257</cp:revision>
  <dcterms:created xsi:type="dcterms:W3CDTF">2025-03-30T10:07:54Z</dcterms:created>
  <dcterms:modified xsi:type="dcterms:W3CDTF">2025-06-24T09:06:00Z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C51896B4DA5740E9A7EC8E23EEC4123E_12</vt:lpwstr>
  </property>
  <property fmtid="{D5CDD505-2E9C-101B-9397-08002B2CF9AE}" pid="3" name="KSOProductBuildVer">
    <vt:lpwstr>1033-12.2.0.20326</vt:lpwstr>
  </property>
</Properties>
</file>