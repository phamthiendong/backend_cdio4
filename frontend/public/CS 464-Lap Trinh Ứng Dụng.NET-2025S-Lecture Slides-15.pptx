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274" r:id="rId2"/>
    <p:sldId id="402" r:id="rId3"/>
    <p:sldId id="257" r:id="rId4"/>
    <p:sldId id="367" r:id="rId5"/>
    <p:sldId id="394" r:id="rId6"/>
    <p:sldId id="417" r:id="rId7"/>
    <p:sldId id="418" r:id="rId8"/>
    <p:sldId id="419" r:id="rId9"/>
    <p:sldId id="395" r:id="rId10"/>
    <p:sldId id="420" r:id="rId11"/>
    <p:sldId id="421" r:id="rId12"/>
    <p:sldId id="427" r:id="rId13"/>
    <p:sldId id="401" r:id="rId14"/>
    <p:sldId id="422" r:id="rId15"/>
    <p:sldId id="423" r:id="rId16"/>
    <p:sldId id="424" r:id="rId17"/>
    <p:sldId id="425" r:id="rId18"/>
    <p:sldId id="426" r:id="rId19"/>
    <p:sldId id="416" r:id="rId20"/>
    <p:sldId id="304" r:id="rId21"/>
    <p:sldId id="42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2" clrIdx="0">
    <p:extLst>
      <p:ext uri="{19B8F6BF-5375-455C-9EA6-DF929625EA0E}">
        <p15:presenceInfo xmlns:p15="http://schemas.microsoft.com/office/powerpoint/2012/main" userId="66150182aa11afe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E4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996" autoAdjust="0"/>
    <p:restoredTop sz="72478" autoAdjust="0"/>
  </p:normalViewPr>
  <p:slideViewPr>
    <p:cSldViewPr snapToGrid="0">
      <p:cViewPr varScale="1">
        <p:scale>
          <a:sx n="80" d="100"/>
          <a:sy n="80" d="100"/>
        </p:scale>
        <p:origin x="662" y="4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3" d="100"/>
          <a:sy n="63" d="100"/>
        </p:scale>
        <p:origin x="3134"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B62B64-9DDC-4864-A353-2BD1CCED57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EE8770E-AB6F-44B3-A9C4-ABA4570819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78CB15-CBEE-47AE-A1C8-84542C20DA53}" type="datetimeFigureOut">
              <a:rPr lang="en-US" smtClean="0"/>
              <a:t>24/06/2025</a:t>
            </a:fld>
            <a:endParaRPr lang="en-US"/>
          </a:p>
        </p:txBody>
      </p:sp>
      <p:sp>
        <p:nvSpPr>
          <p:cNvPr id="4" name="Footer Placeholder 3">
            <a:extLst>
              <a:ext uri="{FF2B5EF4-FFF2-40B4-BE49-F238E27FC236}">
                <a16:creationId xmlns:a16="http://schemas.microsoft.com/office/drawing/2014/main" id="{E8DDCFB6-8FC7-43A2-BB01-F199DFEBC3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A2E0FFD-61E7-4AE0-AAD5-202C950227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37A443-2AB1-4CB2-87E9-CC34918A3B94}" type="slidenum">
              <a:rPr lang="en-US" smtClean="0"/>
              <a:t>‹#›</a:t>
            </a:fld>
            <a:endParaRPr lang="en-US"/>
          </a:p>
        </p:txBody>
      </p:sp>
    </p:spTree>
    <p:extLst>
      <p:ext uri="{BB962C8B-B14F-4D97-AF65-F5344CB8AC3E}">
        <p14:creationId xmlns:p14="http://schemas.microsoft.com/office/powerpoint/2010/main" val="30729339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D82F9A-4E4E-4646-A1FD-948DCCAE47E8}" type="datetimeFigureOut">
              <a:rPr lang="en-US" smtClean="0"/>
              <a:t>24/06/2025</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05DF2C-1ACC-45EB-A73A-44A09673471D}" type="slidenum">
              <a:rPr lang="en-US" smtClean="0"/>
              <a:t>‹#›</a:t>
            </a:fld>
            <a:endParaRPr lang="en-US"/>
          </a:p>
        </p:txBody>
      </p:sp>
    </p:spTree>
    <p:extLst>
      <p:ext uri="{BB962C8B-B14F-4D97-AF65-F5344CB8AC3E}">
        <p14:creationId xmlns:p14="http://schemas.microsoft.com/office/powerpoint/2010/main" val="3915548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2</a:t>
            </a:fld>
            <a:endParaRPr lang="en-US"/>
          </a:p>
        </p:txBody>
      </p:sp>
    </p:spTree>
    <p:extLst>
      <p:ext uri="{BB962C8B-B14F-4D97-AF65-F5344CB8AC3E}">
        <p14:creationId xmlns:p14="http://schemas.microsoft.com/office/powerpoint/2010/main" val="3741201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3D05DF2C-1ACC-45EB-A73A-44A09673471D}" type="slidenum">
              <a:rPr lang="en-US" smtClean="0"/>
              <a:t>4</a:t>
            </a:fld>
            <a:endParaRPr lang="en-US"/>
          </a:p>
        </p:txBody>
      </p:sp>
    </p:spTree>
    <p:extLst>
      <p:ext uri="{BB962C8B-B14F-4D97-AF65-F5344CB8AC3E}">
        <p14:creationId xmlns:p14="http://schemas.microsoft.com/office/powerpoint/2010/main" val="3500777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3D05DF2C-1ACC-45EB-A73A-44A09673471D}" type="slidenum">
              <a:rPr lang="en-US" smtClean="0"/>
              <a:t>5</a:t>
            </a:fld>
            <a:endParaRPr lang="en-US"/>
          </a:p>
        </p:txBody>
      </p:sp>
    </p:spTree>
    <p:extLst>
      <p:ext uri="{BB962C8B-B14F-4D97-AF65-F5344CB8AC3E}">
        <p14:creationId xmlns:p14="http://schemas.microsoft.com/office/powerpoint/2010/main" val="1134495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3D05DF2C-1ACC-45EB-A73A-44A09673471D}" type="slidenum">
              <a:rPr lang="en-US" smtClean="0"/>
              <a:t>6</a:t>
            </a:fld>
            <a:endParaRPr lang="en-US"/>
          </a:p>
        </p:txBody>
      </p:sp>
    </p:spTree>
    <p:extLst>
      <p:ext uri="{BB962C8B-B14F-4D97-AF65-F5344CB8AC3E}">
        <p14:creationId xmlns:p14="http://schemas.microsoft.com/office/powerpoint/2010/main" val="1701118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3D05DF2C-1ACC-45EB-A73A-44A09673471D}" type="slidenum">
              <a:rPr lang="en-US" smtClean="0"/>
              <a:t>7</a:t>
            </a:fld>
            <a:endParaRPr lang="en-US"/>
          </a:p>
        </p:txBody>
      </p:sp>
    </p:spTree>
    <p:extLst>
      <p:ext uri="{BB962C8B-B14F-4D97-AF65-F5344CB8AC3E}">
        <p14:creationId xmlns:p14="http://schemas.microsoft.com/office/powerpoint/2010/main" val="2289298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3D05DF2C-1ACC-45EB-A73A-44A09673471D}" type="slidenum">
              <a:rPr lang="en-US" smtClean="0"/>
              <a:t>8</a:t>
            </a:fld>
            <a:endParaRPr lang="en-US"/>
          </a:p>
        </p:txBody>
      </p:sp>
    </p:spTree>
    <p:extLst>
      <p:ext uri="{BB962C8B-B14F-4D97-AF65-F5344CB8AC3E}">
        <p14:creationId xmlns:p14="http://schemas.microsoft.com/office/powerpoint/2010/main" val="1303336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3D05DF2C-1ACC-45EB-A73A-44A09673471D}" type="slidenum">
              <a:rPr lang="en-US" smtClean="0"/>
              <a:t>9</a:t>
            </a:fld>
            <a:endParaRPr lang="en-US"/>
          </a:p>
        </p:txBody>
      </p:sp>
    </p:spTree>
    <p:extLst>
      <p:ext uri="{BB962C8B-B14F-4D97-AF65-F5344CB8AC3E}">
        <p14:creationId xmlns:p14="http://schemas.microsoft.com/office/powerpoint/2010/main" val="2135671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3D05DF2C-1ACC-45EB-A73A-44A09673471D}" type="slidenum">
              <a:rPr lang="en-US" smtClean="0"/>
              <a:t>10</a:t>
            </a:fld>
            <a:endParaRPr lang="en-US"/>
          </a:p>
        </p:txBody>
      </p:sp>
    </p:spTree>
    <p:extLst>
      <p:ext uri="{BB962C8B-B14F-4D97-AF65-F5344CB8AC3E}">
        <p14:creationId xmlns:p14="http://schemas.microsoft.com/office/powerpoint/2010/main" val="3566165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3D05DF2C-1ACC-45EB-A73A-44A09673471D}" type="slidenum">
              <a:rPr lang="en-US" smtClean="0"/>
              <a:t>11</a:t>
            </a:fld>
            <a:endParaRPr lang="en-US"/>
          </a:p>
        </p:txBody>
      </p:sp>
    </p:spTree>
    <p:extLst>
      <p:ext uri="{BB962C8B-B14F-4D97-AF65-F5344CB8AC3E}">
        <p14:creationId xmlns:p14="http://schemas.microsoft.com/office/powerpoint/2010/main" val="4110967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3D05DF2C-1ACC-45EB-A73A-44A09673471D}" type="slidenum">
              <a:rPr lang="en-US" smtClean="0"/>
              <a:t>12</a:t>
            </a:fld>
            <a:endParaRPr lang="en-US"/>
          </a:p>
        </p:txBody>
      </p:sp>
    </p:spTree>
    <p:extLst>
      <p:ext uri="{BB962C8B-B14F-4D97-AF65-F5344CB8AC3E}">
        <p14:creationId xmlns:p14="http://schemas.microsoft.com/office/powerpoint/2010/main" val="1350049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13</a:t>
            </a:fld>
            <a:endParaRPr lang="en-US"/>
          </a:p>
        </p:txBody>
      </p:sp>
    </p:spTree>
    <p:extLst>
      <p:ext uri="{BB962C8B-B14F-4D97-AF65-F5344CB8AC3E}">
        <p14:creationId xmlns:p14="http://schemas.microsoft.com/office/powerpoint/2010/main" val="3949523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EnsureCreated()</a:t>
            </a:r>
            <a:r>
              <a:rPr lang="en-US"/>
              <a:t> ➔ Chỉ dùng </a:t>
            </a:r>
            <a:r>
              <a:rPr lang="en-US" b="1"/>
              <a:t>lúc khởi đầu</a:t>
            </a:r>
            <a:r>
              <a:rPr lang="en-US"/>
              <a:t> để tạo database nhanh.</a:t>
            </a:r>
          </a:p>
          <a:p>
            <a:r>
              <a:rPr lang="en-US" b="1"/>
              <a:t>Migrate()</a:t>
            </a:r>
            <a:r>
              <a:rPr lang="en-US"/>
              <a:t> ➔ Dùng </a:t>
            </a:r>
            <a:r>
              <a:rPr lang="en-US" b="1"/>
              <a:t>khi dự án phát triển lâu dài</a:t>
            </a:r>
            <a:r>
              <a:rPr lang="en-US"/>
              <a:t>, cần theo dõi và cập nhật thay đổi database.</a:t>
            </a:r>
          </a:p>
        </p:txBody>
      </p:sp>
      <p:sp>
        <p:nvSpPr>
          <p:cNvPr id="4" name="Slide Number Placeholder 3"/>
          <p:cNvSpPr>
            <a:spLocks noGrp="1"/>
          </p:cNvSpPr>
          <p:nvPr>
            <p:ph type="sldNum" sz="quarter" idx="5"/>
          </p:nvPr>
        </p:nvSpPr>
        <p:spPr/>
        <p:txBody>
          <a:bodyPr/>
          <a:lstStyle/>
          <a:p>
            <a:fld id="{3D05DF2C-1ACC-45EB-A73A-44A09673471D}" type="slidenum">
              <a:rPr lang="en-US" smtClean="0"/>
              <a:t>14</a:t>
            </a:fld>
            <a:endParaRPr lang="en-US"/>
          </a:p>
        </p:txBody>
      </p:sp>
    </p:spTree>
    <p:extLst>
      <p:ext uri="{BB962C8B-B14F-4D97-AF65-F5344CB8AC3E}">
        <p14:creationId xmlns:p14="http://schemas.microsoft.com/office/powerpoint/2010/main" val="11357345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EnsureCreated()</a:t>
            </a:r>
            <a:r>
              <a:rPr lang="en-US"/>
              <a:t> ➔ Chỉ dùng </a:t>
            </a:r>
            <a:r>
              <a:rPr lang="en-US" b="1"/>
              <a:t>lúc khởi đầu</a:t>
            </a:r>
            <a:r>
              <a:rPr lang="en-US"/>
              <a:t> để tạo database nhanh.</a:t>
            </a:r>
          </a:p>
          <a:p>
            <a:r>
              <a:rPr lang="en-US" b="1"/>
              <a:t>Migrate()</a:t>
            </a:r>
            <a:r>
              <a:rPr lang="en-US"/>
              <a:t> ➔ Dùng </a:t>
            </a:r>
            <a:r>
              <a:rPr lang="en-US" b="1"/>
              <a:t>khi dự án phát triển lâu dài</a:t>
            </a:r>
            <a:r>
              <a:rPr lang="en-US"/>
              <a:t>, cần theo dõi và cập nhật thay đổi database.</a:t>
            </a:r>
          </a:p>
        </p:txBody>
      </p:sp>
      <p:sp>
        <p:nvSpPr>
          <p:cNvPr id="4" name="Slide Number Placeholder 3"/>
          <p:cNvSpPr>
            <a:spLocks noGrp="1"/>
          </p:cNvSpPr>
          <p:nvPr>
            <p:ph type="sldNum" sz="quarter" idx="5"/>
          </p:nvPr>
        </p:nvSpPr>
        <p:spPr/>
        <p:txBody>
          <a:bodyPr/>
          <a:lstStyle/>
          <a:p>
            <a:fld id="{3D05DF2C-1ACC-45EB-A73A-44A09673471D}" type="slidenum">
              <a:rPr lang="en-US" smtClean="0"/>
              <a:t>15</a:t>
            </a:fld>
            <a:endParaRPr lang="en-US"/>
          </a:p>
        </p:txBody>
      </p:sp>
    </p:spTree>
    <p:extLst>
      <p:ext uri="{BB962C8B-B14F-4D97-AF65-F5344CB8AC3E}">
        <p14:creationId xmlns:p14="http://schemas.microsoft.com/office/powerpoint/2010/main" val="2016498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EnsureCreated()</a:t>
            </a:r>
            <a:r>
              <a:rPr lang="en-US"/>
              <a:t> ➔ Chỉ dùng </a:t>
            </a:r>
            <a:r>
              <a:rPr lang="en-US" b="1"/>
              <a:t>lúc khởi đầu</a:t>
            </a:r>
            <a:r>
              <a:rPr lang="en-US"/>
              <a:t> để tạo database nhanh.</a:t>
            </a:r>
          </a:p>
          <a:p>
            <a:r>
              <a:rPr lang="en-US" b="1"/>
              <a:t>Migrate()</a:t>
            </a:r>
            <a:r>
              <a:rPr lang="en-US"/>
              <a:t> ➔ Dùng </a:t>
            </a:r>
            <a:r>
              <a:rPr lang="en-US" b="1"/>
              <a:t>khi dự án phát triển lâu dài</a:t>
            </a:r>
            <a:r>
              <a:rPr lang="en-US"/>
              <a:t>, cần theo dõi và cập nhật thay đổi database.</a:t>
            </a:r>
          </a:p>
        </p:txBody>
      </p:sp>
      <p:sp>
        <p:nvSpPr>
          <p:cNvPr id="4" name="Slide Number Placeholder 3"/>
          <p:cNvSpPr>
            <a:spLocks noGrp="1"/>
          </p:cNvSpPr>
          <p:nvPr>
            <p:ph type="sldNum" sz="quarter" idx="5"/>
          </p:nvPr>
        </p:nvSpPr>
        <p:spPr/>
        <p:txBody>
          <a:bodyPr/>
          <a:lstStyle/>
          <a:p>
            <a:fld id="{3D05DF2C-1ACC-45EB-A73A-44A09673471D}" type="slidenum">
              <a:rPr lang="en-US" smtClean="0"/>
              <a:t>16</a:t>
            </a:fld>
            <a:endParaRPr lang="en-US"/>
          </a:p>
        </p:txBody>
      </p:sp>
    </p:spTree>
    <p:extLst>
      <p:ext uri="{BB962C8B-B14F-4D97-AF65-F5344CB8AC3E}">
        <p14:creationId xmlns:p14="http://schemas.microsoft.com/office/powerpoint/2010/main" val="2536198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EnsureCreated()</a:t>
            </a:r>
            <a:r>
              <a:rPr lang="en-US"/>
              <a:t> ➔ Chỉ dùng </a:t>
            </a:r>
            <a:r>
              <a:rPr lang="en-US" b="1"/>
              <a:t>lúc khởi đầu</a:t>
            </a:r>
            <a:r>
              <a:rPr lang="en-US"/>
              <a:t> để tạo database nhanh.</a:t>
            </a:r>
          </a:p>
          <a:p>
            <a:r>
              <a:rPr lang="en-US" b="1"/>
              <a:t>Migrate()</a:t>
            </a:r>
            <a:r>
              <a:rPr lang="en-US"/>
              <a:t> ➔ Dùng </a:t>
            </a:r>
            <a:r>
              <a:rPr lang="en-US" b="1"/>
              <a:t>khi dự án phát triển lâu dài</a:t>
            </a:r>
            <a:r>
              <a:rPr lang="en-US"/>
              <a:t>, cần theo dõi và cập nhật thay đổi database.</a:t>
            </a:r>
          </a:p>
        </p:txBody>
      </p:sp>
      <p:sp>
        <p:nvSpPr>
          <p:cNvPr id="4" name="Slide Number Placeholder 3"/>
          <p:cNvSpPr>
            <a:spLocks noGrp="1"/>
          </p:cNvSpPr>
          <p:nvPr>
            <p:ph type="sldNum" sz="quarter" idx="5"/>
          </p:nvPr>
        </p:nvSpPr>
        <p:spPr/>
        <p:txBody>
          <a:bodyPr/>
          <a:lstStyle/>
          <a:p>
            <a:fld id="{3D05DF2C-1ACC-45EB-A73A-44A09673471D}" type="slidenum">
              <a:rPr lang="en-US" smtClean="0"/>
              <a:t>17</a:t>
            </a:fld>
            <a:endParaRPr lang="en-US"/>
          </a:p>
        </p:txBody>
      </p:sp>
    </p:spTree>
    <p:extLst>
      <p:ext uri="{BB962C8B-B14F-4D97-AF65-F5344CB8AC3E}">
        <p14:creationId xmlns:p14="http://schemas.microsoft.com/office/powerpoint/2010/main" val="2949132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EnsureCreated()</a:t>
            </a:r>
            <a:r>
              <a:rPr lang="en-US"/>
              <a:t> ➔ Chỉ dùng </a:t>
            </a:r>
            <a:r>
              <a:rPr lang="en-US" b="1"/>
              <a:t>lúc khởi đầu</a:t>
            </a:r>
            <a:r>
              <a:rPr lang="en-US"/>
              <a:t> để tạo database nhanh.</a:t>
            </a:r>
          </a:p>
          <a:p>
            <a:r>
              <a:rPr lang="en-US" b="1"/>
              <a:t>Migrate()</a:t>
            </a:r>
            <a:r>
              <a:rPr lang="en-US"/>
              <a:t> ➔ Dùng </a:t>
            </a:r>
            <a:r>
              <a:rPr lang="en-US" b="1"/>
              <a:t>khi dự án phát triển lâu dài</a:t>
            </a:r>
            <a:r>
              <a:rPr lang="en-US"/>
              <a:t>, cần theo dõi và cập nhật thay đổi database.</a:t>
            </a:r>
          </a:p>
        </p:txBody>
      </p:sp>
      <p:sp>
        <p:nvSpPr>
          <p:cNvPr id="4" name="Slide Number Placeholder 3"/>
          <p:cNvSpPr>
            <a:spLocks noGrp="1"/>
          </p:cNvSpPr>
          <p:nvPr>
            <p:ph type="sldNum" sz="quarter" idx="5"/>
          </p:nvPr>
        </p:nvSpPr>
        <p:spPr/>
        <p:txBody>
          <a:bodyPr/>
          <a:lstStyle/>
          <a:p>
            <a:fld id="{3D05DF2C-1ACC-45EB-A73A-44A09673471D}" type="slidenum">
              <a:rPr lang="en-US" smtClean="0"/>
              <a:t>18</a:t>
            </a:fld>
            <a:endParaRPr lang="en-US"/>
          </a:p>
        </p:txBody>
      </p:sp>
    </p:spTree>
    <p:extLst>
      <p:ext uri="{BB962C8B-B14F-4D97-AF65-F5344CB8AC3E}">
        <p14:creationId xmlns:p14="http://schemas.microsoft.com/office/powerpoint/2010/main" val="619861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a:t>
            </a:r>
            <a:r>
              <a:rPr lang="vi-VN" b="1"/>
              <a:t>Bước 3 – Xây dựng pipeline</a:t>
            </a:r>
          </a:p>
          <a:p>
            <a:r>
              <a:rPr lang="vi-VN"/>
              <a:t>Pipeline là quy trình gồm nhiều bước để xử lý dữ liệu và huấn luyện mô hình.</a:t>
            </a:r>
          </a:p>
          <a:p>
            <a:r>
              <a:rPr lang="vi-VN" b="1"/>
              <a:t>Gồm các bước chính:</a:t>
            </a:r>
          </a:p>
          <a:p>
            <a:r>
              <a:rPr lang="vi-VN" b="1"/>
              <a:t>Chuyển đổi nhãn (Label):</a:t>
            </a:r>
            <a:endParaRPr lang="vi-VN"/>
          </a:p>
          <a:p>
            <a:pPr lvl="1"/>
            <a:r>
              <a:rPr lang="vi-VN"/>
              <a:t>Vì máy học không hiểu “Yes” hay “No”, nên cần chuyển thành số (ví dụ: Yes → 1, No → 0).</a:t>
            </a:r>
          </a:p>
          <a:p>
            <a:r>
              <a:rPr lang="vi-VN" b="1"/>
              <a:t>Ghép các đặc trưng lại thành “Features”:</a:t>
            </a:r>
            <a:endParaRPr lang="vi-VN"/>
          </a:p>
          <a:p>
            <a:pPr lvl="1"/>
            <a:r>
              <a:rPr lang="vi-VN"/>
              <a:t>Các cột như điểm, chuyên cần, số môn rớt… sẽ được gộp thành một mảng đầu vào để huấn luyện.</a:t>
            </a:r>
          </a:p>
          <a:p>
            <a:r>
              <a:rPr lang="vi-VN" b="1"/>
              <a:t>Chọn thuật toán học máy:</a:t>
            </a:r>
            <a:endParaRPr lang="vi-VN"/>
          </a:p>
          <a:p>
            <a:pPr lvl="1"/>
            <a:r>
              <a:rPr lang="vi-VN"/>
              <a:t>Dùng thuật toán phù hợp, ví dụ:</a:t>
            </a:r>
          </a:p>
          <a:p>
            <a:pPr lvl="2"/>
            <a:r>
              <a:rPr lang="vi-VN" b="1"/>
              <a:t>SDCA (Stochastic Dual Coordinate Ascent)</a:t>
            </a:r>
            <a:r>
              <a:rPr lang="vi-VN"/>
              <a:t> – dùng cho bài toán phân loại nhị phân (bỏ học / không bỏ học)</a:t>
            </a:r>
          </a:p>
          <a:p>
            <a:pPr lvl="2"/>
            <a:r>
              <a:rPr lang="vi-VN"/>
              <a:t>Hoặc thuật toán khác như LightGBM, FastTree tùy mục đích.</a:t>
            </a:r>
          </a:p>
        </p:txBody>
      </p:sp>
      <p:sp>
        <p:nvSpPr>
          <p:cNvPr id="4" name="Slide Number Placeholder 3"/>
          <p:cNvSpPr>
            <a:spLocks noGrp="1"/>
          </p:cNvSpPr>
          <p:nvPr>
            <p:ph type="sldNum" sz="quarter" idx="5"/>
          </p:nvPr>
        </p:nvSpPr>
        <p:spPr/>
        <p:txBody>
          <a:bodyPr/>
          <a:lstStyle/>
          <a:p>
            <a:fld id="{3D05DF2C-1ACC-45EB-A73A-44A09673471D}" type="slidenum">
              <a:rPr lang="en-US" smtClean="0"/>
              <a:t>19</a:t>
            </a:fld>
            <a:endParaRPr lang="en-US"/>
          </a:p>
        </p:txBody>
      </p:sp>
    </p:spTree>
    <p:extLst>
      <p:ext uri="{BB962C8B-B14F-4D97-AF65-F5344CB8AC3E}">
        <p14:creationId xmlns:p14="http://schemas.microsoft.com/office/powerpoint/2010/main" val="54926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3D05DF2C-1ACC-45EB-A73A-44A09673471D}" type="slidenum">
              <a:rPr lang="en-US" smtClean="0"/>
              <a:t>20</a:t>
            </a:fld>
            <a:endParaRPr lang="en-US"/>
          </a:p>
        </p:txBody>
      </p:sp>
    </p:spTree>
    <p:extLst>
      <p:ext uri="{BB962C8B-B14F-4D97-AF65-F5344CB8AC3E}">
        <p14:creationId xmlns:p14="http://schemas.microsoft.com/office/powerpoint/2010/main" val="3035587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712EE6A-18AE-44BB-A988-BED4AFF36A4F}"/>
              </a:ext>
            </a:extLst>
          </p:cNvPr>
          <p:cNvPicPr>
            <a:picLocks noChangeAspect="1"/>
          </p:cNvPicPr>
          <p:nvPr userDrawn="1"/>
        </p:nvPicPr>
        <p:blipFill>
          <a:blip r:embed="rId13"/>
          <a:stretch>
            <a:fillRect/>
          </a:stretch>
        </p:blipFill>
        <p:spPr>
          <a:xfrm>
            <a:off x="0" y="0"/>
            <a:ext cx="12192000" cy="823031"/>
          </a:xfrm>
          <a:prstGeom prst="rect">
            <a:avLst/>
          </a:prstGeom>
        </p:spPr>
      </p:pic>
      <p:sp>
        <p:nvSpPr>
          <p:cNvPr id="9" name="Freeform 2">
            <a:extLst>
              <a:ext uri="{FF2B5EF4-FFF2-40B4-BE49-F238E27FC236}">
                <a16:creationId xmlns:a16="http://schemas.microsoft.com/office/drawing/2014/main" id="{C2F1E705-6B71-4A3E-BB25-FA5C4BDD3B0C}"/>
              </a:ext>
            </a:extLst>
          </p:cNvPr>
          <p:cNvSpPr/>
          <p:nvPr userDrawn="1"/>
        </p:nvSpPr>
        <p:spPr>
          <a:xfrm>
            <a:off x="0" y="177952"/>
            <a:ext cx="1362456" cy="407264"/>
          </a:xfrm>
          <a:custGeom>
            <a:avLst/>
            <a:gdLst/>
            <a:ahLst/>
            <a:cxnLst/>
            <a:rect l="l" t="t" r="r" b="b"/>
            <a:pathLst>
              <a:path w="2878352" h="854332">
                <a:moveTo>
                  <a:pt x="0" y="0"/>
                </a:moveTo>
                <a:lnTo>
                  <a:pt x="2878352" y="0"/>
                </a:lnTo>
                <a:lnTo>
                  <a:pt x="2878352" y="854332"/>
                </a:lnTo>
                <a:lnTo>
                  <a:pt x="0" y="854332"/>
                </a:lnTo>
                <a:lnTo>
                  <a:pt x="0" y="0"/>
                </a:lnTo>
                <a:close/>
              </a:path>
            </a:pathLst>
          </a:custGeom>
          <a:blipFill>
            <a:blip r:embed="rId14"/>
            <a:stretch>
              <a:fillRect/>
            </a:stretch>
          </a:blipFill>
        </p:spPr>
        <p:txBody>
          <a:bodyPr/>
          <a:lstStyle/>
          <a:p>
            <a:endParaRPr lang="en-US"/>
          </a:p>
        </p:txBody>
      </p:sp>
      <p:pic>
        <p:nvPicPr>
          <p:cNvPr id="16" name="Picture 15">
            <a:extLst>
              <a:ext uri="{FF2B5EF4-FFF2-40B4-BE49-F238E27FC236}">
                <a16:creationId xmlns:a16="http://schemas.microsoft.com/office/drawing/2014/main" id="{83F4E514-5826-433E-80E4-ABA59F77D207}"/>
              </a:ext>
            </a:extLst>
          </p:cNvPr>
          <p:cNvPicPr>
            <a:picLocks noChangeAspect="1"/>
          </p:cNvPicPr>
          <p:nvPr userDrawn="1"/>
        </p:nvPicPr>
        <p:blipFill>
          <a:blip r:embed="rId15"/>
          <a:stretch>
            <a:fillRect/>
          </a:stretch>
        </p:blipFill>
        <p:spPr>
          <a:xfrm>
            <a:off x="0" y="6583186"/>
            <a:ext cx="12192000" cy="276999"/>
          </a:xfrm>
          <a:prstGeom prst="rect">
            <a:avLst/>
          </a:prstGeom>
        </p:spPr>
      </p:pic>
      <p:sp>
        <p:nvSpPr>
          <p:cNvPr id="17" name="Text Box 59">
            <a:extLst>
              <a:ext uri="{FF2B5EF4-FFF2-40B4-BE49-F238E27FC236}">
                <a16:creationId xmlns:a16="http://schemas.microsoft.com/office/drawing/2014/main" id="{53F2A1B6-2296-44B6-BE90-2020E69B02B1}"/>
              </a:ext>
            </a:extLst>
          </p:cNvPr>
          <p:cNvSpPr txBox="1"/>
          <p:nvPr userDrawn="1"/>
        </p:nvSpPr>
        <p:spPr>
          <a:xfrm>
            <a:off x="10058399" y="6593927"/>
            <a:ext cx="2133601" cy="276999"/>
          </a:xfrm>
          <a:prstGeom prst="rect">
            <a:avLst/>
          </a:prstGeom>
          <a:noFill/>
        </p:spPr>
        <p:txBody>
          <a:bodyPr wrap="square" rtlCol="0" anchor="t">
            <a:spAutoFit/>
          </a:bodyPr>
          <a:lstStyle/>
          <a:p>
            <a:r>
              <a:rPr lang="en-US" sz="1200" b="1" kern="120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a:rPr>
              <a:t>Ngày: </a:t>
            </a:r>
            <a:fld id="{78D3B142-DE8D-4639-ADC3-2E9E71C7000A}" type="datetime1">
              <a:rPr lang="en-US" sz="1200" b="1" kern="1200" smtClean="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a:rPr>
              <a:t>24/06/2025</a:t>
            </a:fld>
            <a:endParaRPr lang="en-US" sz="1200" b="1" kern="120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a:endParaRPr>
          </a:p>
        </p:txBody>
      </p:sp>
      <p:sp>
        <p:nvSpPr>
          <p:cNvPr id="18" name="Rectangle 23">
            <a:extLst>
              <a:ext uri="{FF2B5EF4-FFF2-40B4-BE49-F238E27FC236}">
                <a16:creationId xmlns:a16="http://schemas.microsoft.com/office/drawing/2014/main" id="{A31C5594-2F3D-4115-AD8B-62A3ED562DBA}"/>
              </a:ext>
            </a:extLst>
          </p:cNvPr>
          <p:cNvSpPr>
            <a:spLocks noChangeArrowheads="1"/>
          </p:cNvSpPr>
          <p:nvPr userDrawn="1"/>
        </p:nvSpPr>
        <p:spPr bwMode="auto">
          <a:xfrm>
            <a:off x="11165078" y="6483097"/>
            <a:ext cx="1189990" cy="49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en-US" sz="1200" b="1" kern="1200" noProof="0">
                <a:solidFill>
                  <a:schemeClr val="tx1"/>
                </a:solidFill>
                <a:latin typeface="Times New Roman" panose="02020603050405020304" pitchFamily="18" charset="0"/>
                <a:ea typeface="+mn-ea"/>
                <a:cs typeface="Times New Roman" panose="02020603050405020304" pitchFamily="18" charset="0"/>
              </a:rPr>
              <a:t>Slide </a:t>
            </a:r>
            <a:fld id="{424E4EC7-4D6E-45CC-9960-6842771F254B}" type="slidenum">
              <a:rPr lang="en-US" altLang="en-US" sz="1200" b="1" kern="1200" noProof="0" smtClean="0">
                <a:solidFill>
                  <a:schemeClr val="tx1"/>
                </a:solidFill>
                <a:latin typeface="Times New Roman" panose="02020603050405020304" pitchFamily="18" charset="0"/>
                <a:ea typeface="+mn-ea"/>
                <a:cs typeface="Times New Roman" panose="02020603050405020304" pitchFamily="18" charset="0"/>
              </a:rPr>
              <a:pPr marL="0" marR="0" lvl="0" indent="0" algn="ctr" defTabSz="914400" rtl="0" eaLnBrk="1" fontAlgn="base" latinLnBrk="0" hangingPunct="1">
                <a:lnSpc>
                  <a:spcPct val="100000"/>
                </a:lnSpc>
                <a:spcBef>
                  <a:spcPct val="0"/>
                </a:spcBef>
                <a:spcAft>
                  <a:spcPct val="0"/>
                </a:spcAft>
                <a:buClrTx/>
                <a:buSzTx/>
                <a:buFontTx/>
                <a:buNone/>
                <a:defRPr/>
              </a:pPr>
              <a:t>‹#›</a:t>
            </a:fld>
            <a:r>
              <a:rPr lang="en-US" altLang="en-US" sz="1200" b="1" kern="1200" noProof="0">
                <a:solidFill>
                  <a:schemeClr val="tx1"/>
                </a:solidFill>
                <a:latin typeface="Times New Roman" panose="02020603050405020304" pitchFamily="18" charset="0"/>
                <a:ea typeface="+mn-ea"/>
                <a:cs typeface="Times New Roman" panose="02020603050405020304" pitchFamily="18" charset="0"/>
              </a:rPr>
              <a:t>/21</a:t>
            </a:r>
          </a:p>
        </p:txBody>
      </p:sp>
      <p:sp>
        <p:nvSpPr>
          <p:cNvPr id="19" name="TextBox 10">
            <a:extLst>
              <a:ext uri="{FF2B5EF4-FFF2-40B4-BE49-F238E27FC236}">
                <a16:creationId xmlns:a16="http://schemas.microsoft.com/office/drawing/2014/main" id="{01DC6D8B-F6B5-4800-A8F7-D985EA5C494F}"/>
              </a:ext>
            </a:extLst>
          </p:cNvPr>
          <p:cNvSpPr txBox="1"/>
          <p:nvPr userDrawn="1"/>
        </p:nvSpPr>
        <p:spPr>
          <a:xfrm>
            <a:off x="3375305" y="6426768"/>
            <a:ext cx="5877017" cy="498660"/>
          </a:xfrm>
          <a:prstGeom prst="rect">
            <a:avLst/>
          </a:prstGeom>
        </p:spPr>
        <p:txBody>
          <a:bodyPr wrap="square" lIns="0" tIns="0" rIns="0" bIns="0" rtlCol="0" anchor="t">
            <a:noAutofit/>
          </a:bodyPr>
          <a:lstStyle/>
          <a:p>
            <a:pPr algn="ctr" rtl="0" eaLnBrk="1" fontAlgn="base" hangingPunct="1">
              <a:lnSpc>
                <a:spcPts val="3600"/>
              </a:lnSpc>
              <a:spcBef>
                <a:spcPct val="0"/>
              </a:spcBef>
              <a:spcAft>
                <a:spcPct val="0"/>
              </a:spcAft>
              <a:defRPr/>
            </a:pPr>
            <a:r>
              <a:rPr lang="en-US" sz="1200" b="1" kern="1200">
                <a:solidFill>
                  <a:schemeClr val="tx1"/>
                </a:solidFill>
                <a:latin typeface="Arial" charset="0"/>
                <a:ea typeface="+mn-ea"/>
                <a:cs typeface="+mn-cs"/>
                <a:sym typeface="Times New Roman" panose="02020603050405020304"/>
              </a:rPr>
              <a:t>Môn: Lập trình ứng dụng .NET</a:t>
            </a:r>
            <a:r>
              <a:rPr lang="vi-VN" altLang="en-US" sz="1200" b="1" kern="1200">
                <a:solidFill>
                  <a:schemeClr val="tx1"/>
                </a:solidFill>
                <a:latin typeface="Arial" charset="0"/>
                <a:ea typeface="+mn-ea"/>
                <a:cs typeface="+mn-cs"/>
                <a:sym typeface="Times New Roman" panose="02020603050405020304"/>
              </a:rPr>
              <a:t> – </a:t>
            </a:r>
            <a:r>
              <a:rPr lang="en-US" altLang="en-US" sz="1200" b="1" kern="1200">
                <a:solidFill>
                  <a:schemeClr val="tx1"/>
                </a:solidFill>
                <a:latin typeface="Arial" charset="0"/>
                <a:ea typeface="+mn-ea"/>
                <a:cs typeface="+mn-cs"/>
                <a:sym typeface="Times New Roman" panose="02020603050405020304"/>
              </a:rPr>
              <a:t>Ch</a:t>
            </a:r>
            <a:r>
              <a:rPr lang="vi-VN" altLang="en-US" sz="1200" b="1" kern="1200">
                <a:solidFill>
                  <a:schemeClr val="tx1"/>
                </a:solidFill>
                <a:latin typeface="Arial" charset="0"/>
                <a:ea typeface="+mn-ea"/>
                <a:cs typeface="+mn-cs"/>
                <a:sym typeface="Times New Roman" panose="02020603050405020304"/>
              </a:rPr>
              <a:t>ư</a:t>
            </a:r>
            <a:r>
              <a:rPr lang="en-US" altLang="en-US" sz="1200" b="1" kern="1200">
                <a:solidFill>
                  <a:schemeClr val="tx1"/>
                </a:solidFill>
                <a:latin typeface="Arial" charset="0"/>
                <a:ea typeface="+mn-ea"/>
                <a:cs typeface="+mn-cs"/>
                <a:sym typeface="Times New Roman" panose="02020603050405020304"/>
              </a:rPr>
              <a:t>ơng 6: Tích Hợp AI Vào Ứng Dụng .Net </a:t>
            </a:r>
          </a:p>
          <a:p>
            <a:pPr algn="ctr" rtl="0" eaLnBrk="1" fontAlgn="base" hangingPunct="1">
              <a:lnSpc>
                <a:spcPts val="3600"/>
              </a:lnSpc>
              <a:spcBef>
                <a:spcPct val="0"/>
              </a:spcBef>
              <a:spcAft>
                <a:spcPct val="0"/>
              </a:spcAft>
              <a:defRPr/>
            </a:pPr>
            <a:r>
              <a:rPr lang="en-US" altLang="en-US" sz="1200" b="1" kern="1200">
                <a:solidFill>
                  <a:schemeClr val="tx1"/>
                </a:solidFill>
                <a:latin typeface="Arial" charset="0"/>
                <a:ea typeface="+mn-ea"/>
                <a:cs typeface="+mn-cs"/>
                <a:sym typeface="Times New Roman" panose="02020603050405020304"/>
              </a:rPr>
              <a:t> </a:t>
            </a:r>
            <a:endParaRPr lang="en-US" sz="1200" b="1" kern="1200">
              <a:solidFill>
                <a:schemeClr val="tx1"/>
              </a:solidFill>
              <a:latin typeface="Arial" charset="0"/>
              <a:ea typeface="+mn-ea"/>
              <a:cs typeface="+mn-cs"/>
              <a:sym typeface="Times New Roman" panose="02020603050405020304"/>
            </a:endParaRPr>
          </a:p>
        </p:txBody>
      </p:sp>
      <p:sp>
        <p:nvSpPr>
          <p:cNvPr id="20" name="Text Box 59">
            <a:extLst>
              <a:ext uri="{FF2B5EF4-FFF2-40B4-BE49-F238E27FC236}">
                <a16:creationId xmlns:a16="http://schemas.microsoft.com/office/drawing/2014/main" id="{8477D983-1123-4BD0-B5A4-3D39D23DE117}"/>
              </a:ext>
            </a:extLst>
          </p:cNvPr>
          <p:cNvSpPr txBox="1"/>
          <p:nvPr userDrawn="1"/>
        </p:nvSpPr>
        <p:spPr>
          <a:xfrm>
            <a:off x="-43408" y="6595089"/>
            <a:ext cx="3255645" cy="276999"/>
          </a:xfrm>
          <a:prstGeom prst="rect">
            <a:avLst/>
          </a:prstGeom>
          <a:noFill/>
        </p:spPr>
        <p:txBody>
          <a:bodyPr wrap="square" rtlCol="0" anchor="t">
            <a:spAutoFit/>
          </a:bodyPr>
          <a:lstStyle/>
          <a:p>
            <a:r>
              <a:rPr lang="en-US" sz="1200" b="1" kern="1200">
                <a:solidFill>
                  <a:schemeClr val="tx1"/>
                </a:solidFill>
                <a:latin typeface="Arial" charset="0"/>
                <a:ea typeface="+mn-ea"/>
                <a:cs typeface="+mn-cs"/>
                <a:sym typeface="Times New Roman" panose="02020603050405020304"/>
              </a:rPr>
              <a:t>Faculty Of Information Technology</a:t>
            </a:r>
            <a:endParaRPr lang="en-US" sz="1200" b="1" spc="17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Yf7VXj1etdw&amp;t=97s" TargetMode="External"/><Relationship Id="rId2" Type="http://schemas.openxmlformats.org/officeDocument/2006/relationships/hyperlink" Target="https://www.youtube.com/watch?v=FhAIc0tlyaQ&amp;list=PL33lvabfss1wUj15ea6W0A-TtDOrWWSRK" TargetMode="External"/><Relationship Id="rId1" Type="http://schemas.openxmlformats.org/officeDocument/2006/relationships/slideLayout" Target="../slideLayouts/slideLayout2.xml"/><Relationship Id="rId4" Type="http://schemas.openxmlformats.org/officeDocument/2006/relationships/hyperlink" Target="https://www.youtube.com/watch?v=v7_g1Zoapk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
            <a:extLst>
              <a:ext uri="{FF2B5EF4-FFF2-40B4-BE49-F238E27FC236}">
                <a16:creationId xmlns:a16="http://schemas.microsoft.com/office/drawing/2014/main" id="{07FAED01-EBE6-4851-8FFD-1DCCC69ACA55}"/>
              </a:ext>
            </a:extLst>
          </p:cNvPr>
          <p:cNvSpPr>
            <a:spLocks noChangeArrowheads="1"/>
          </p:cNvSpPr>
          <p:nvPr/>
        </p:nvSpPr>
        <p:spPr bwMode="auto">
          <a:xfrm>
            <a:off x="471486" y="1252538"/>
            <a:ext cx="11720513"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4400" b="1">
                <a:solidFill>
                  <a:srgbClr val="990000"/>
                </a:solidFill>
              </a:rPr>
              <a:t>BÀI 15: </a:t>
            </a:r>
          </a:p>
          <a:p>
            <a:r>
              <a:rPr lang="en-US" altLang="en-US" sz="4400" b="1">
                <a:solidFill>
                  <a:srgbClr val="990000"/>
                </a:solidFill>
              </a:rPr>
              <a:t>ỨNG DỤNG ONNX RUNTIME</a:t>
            </a:r>
          </a:p>
        </p:txBody>
      </p:sp>
      <p:sp>
        <p:nvSpPr>
          <p:cNvPr id="5" name="Text Box 3">
            <a:extLst>
              <a:ext uri="{FF2B5EF4-FFF2-40B4-BE49-F238E27FC236}">
                <a16:creationId xmlns:a16="http://schemas.microsoft.com/office/drawing/2014/main" id="{B398E5A3-D60C-4516-A9D6-245EBE3094A5}"/>
              </a:ext>
            </a:extLst>
          </p:cNvPr>
          <p:cNvSpPr txBox="1">
            <a:spLocks noChangeArrowheads="1"/>
          </p:cNvSpPr>
          <p:nvPr/>
        </p:nvSpPr>
        <p:spPr bwMode="auto">
          <a:xfrm>
            <a:off x="6331742" y="4553262"/>
            <a:ext cx="5262563" cy="1569660"/>
          </a:xfrm>
          <a:prstGeom prst="rect">
            <a:avLst/>
          </a:prstGeom>
          <a:noFill/>
          <a:ln w="57150" cap="rnd">
            <a:solidFill>
              <a:srgbClr val="FF66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b="1"/>
              <a:t>Ng</a:t>
            </a:r>
            <a:r>
              <a:rPr lang="vi-VN" altLang="en-US" b="1"/>
              <a:t>ư</a:t>
            </a:r>
            <a:r>
              <a:rPr lang="en-US" altLang="en-US" b="1" err="1"/>
              <a:t>ời</a:t>
            </a:r>
            <a:r>
              <a:rPr lang="en-US" altLang="en-US" b="1"/>
              <a:t> </a:t>
            </a:r>
            <a:r>
              <a:rPr lang="en-US" altLang="en-US" b="1" err="1"/>
              <a:t>thực</a:t>
            </a:r>
            <a:r>
              <a:rPr lang="en-US" altLang="en-US" b="1"/>
              <a:t> </a:t>
            </a:r>
            <a:r>
              <a:rPr lang="en-US" altLang="en-US" b="1" err="1"/>
              <a:t>hiện</a:t>
            </a:r>
            <a:r>
              <a:rPr lang="en-GB" altLang="en-US" b="1"/>
              <a:t>:</a:t>
            </a:r>
            <a:r>
              <a:rPr lang="en-US" altLang="en-US" b="1"/>
              <a:t> </a:t>
            </a:r>
            <a:r>
              <a:rPr lang="en-US" altLang="en-US" b="1" err="1"/>
              <a:t>Nguyễn</a:t>
            </a:r>
            <a:r>
              <a:rPr lang="en-US" altLang="en-US" b="1"/>
              <a:t> </a:t>
            </a:r>
            <a:r>
              <a:rPr lang="en-US" altLang="en-US" b="1" err="1"/>
              <a:t>Tấn</a:t>
            </a:r>
            <a:r>
              <a:rPr lang="en-US" altLang="en-US" b="1"/>
              <a:t> </a:t>
            </a:r>
            <a:r>
              <a:rPr lang="en-US" altLang="en-US" b="1" err="1"/>
              <a:t>Quốc</a:t>
            </a:r>
            <a:endParaRPr lang="en-US" altLang="en-US" b="1"/>
          </a:p>
          <a:p>
            <a:pPr eaLnBrk="1" hangingPunct="1">
              <a:spcBef>
                <a:spcPct val="50000"/>
              </a:spcBef>
            </a:pPr>
            <a:r>
              <a:rPr lang="en-US" altLang="en-US" b="1"/>
              <a:t>Email: tquoc05072002@gmail.com </a:t>
            </a:r>
          </a:p>
          <a:p>
            <a:pPr eaLnBrk="1" hangingPunct="1">
              <a:spcBef>
                <a:spcPct val="50000"/>
              </a:spcBef>
            </a:pPr>
            <a:r>
              <a:rPr lang="en-US" altLang="en-US" b="1" err="1"/>
              <a:t>Điện</a:t>
            </a:r>
            <a:r>
              <a:rPr lang="en-US" altLang="en-US" b="1"/>
              <a:t> </a:t>
            </a:r>
            <a:r>
              <a:rPr lang="en-US" altLang="en-US" b="1" err="1"/>
              <a:t>thoại</a:t>
            </a:r>
            <a:r>
              <a:rPr lang="en-US" altLang="en-US" b="1"/>
              <a:t>: 0328490344</a:t>
            </a:r>
          </a:p>
        </p:txBody>
      </p:sp>
      <p:sp>
        <p:nvSpPr>
          <p:cNvPr id="6" name="Text Box 3">
            <a:extLst>
              <a:ext uri="{FF2B5EF4-FFF2-40B4-BE49-F238E27FC236}">
                <a16:creationId xmlns:a16="http://schemas.microsoft.com/office/drawing/2014/main" id="{ABAE1FC6-BECB-4466-B391-C668C57D1B8F}"/>
              </a:ext>
            </a:extLst>
          </p:cNvPr>
          <p:cNvSpPr txBox="1">
            <a:spLocks noChangeArrowheads="1"/>
          </p:cNvSpPr>
          <p:nvPr/>
        </p:nvSpPr>
        <p:spPr bwMode="auto">
          <a:xfrm>
            <a:off x="681233" y="3198167"/>
            <a:ext cx="5262563" cy="461665"/>
          </a:xfrm>
          <a:prstGeom prst="rect">
            <a:avLst/>
          </a:prstGeom>
          <a:noFill/>
          <a:ln w="57150" cap="rnd">
            <a:solidFill>
              <a:srgbClr val="FF66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b="1"/>
              <a:t>Thời gian: 120 phút</a:t>
            </a:r>
          </a:p>
        </p:txBody>
      </p:sp>
    </p:spTree>
    <p:extLst>
      <p:ext uri="{BB962C8B-B14F-4D97-AF65-F5344CB8AC3E}">
        <p14:creationId xmlns:p14="http://schemas.microsoft.com/office/powerpoint/2010/main" val="2123178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414D18-CC54-4C8D-A1A6-1D96A977B0E6}"/>
              </a:ext>
            </a:extLst>
          </p:cNvPr>
          <p:cNvSpPr txBox="1">
            <a:spLocks noChangeArrowheads="1"/>
          </p:cNvSpPr>
          <p:nvPr/>
        </p:nvSpPr>
        <p:spPr>
          <a:xfrm>
            <a:off x="0" y="0"/>
            <a:ext cx="12192000" cy="787299"/>
          </a:xfrm>
          <a:prstGeom prst="rect">
            <a:avLst/>
          </a:prstGeom>
        </p:spPr>
        <p:txBody>
          <a:bodyP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a:lstStyle>
          <a:p>
            <a:pPr eaLnBrk="1" hangingPunct="1">
              <a:defRPr/>
            </a:pPr>
            <a:r>
              <a:rPr lang="en-US" sz="3600">
                <a:latin typeface="Times New Roman" panose="02020603050405020304" pitchFamily="18" charset="0"/>
                <a:ea typeface="+mn-ea"/>
                <a:cs typeface="+mn-cs"/>
              </a:rPr>
              <a:t>DÒNG THỜI GIAN BÀI GIẢNG</a:t>
            </a:r>
          </a:p>
        </p:txBody>
      </p:sp>
      <p:pic>
        <p:nvPicPr>
          <p:cNvPr id="6" name="Picture 5">
            <a:extLst>
              <a:ext uri="{FF2B5EF4-FFF2-40B4-BE49-F238E27FC236}">
                <a16:creationId xmlns:a16="http://schemas.microsoft.com/office/drawing/2014/main" id="{6C3E7C1C-B654-450C-B111-AFA676940C20}"/>
              </a:ext>
            </a:extLst>
          </p:cNvPr>
          <p:cNvPicPr>
            <a:picLocks noChangeAspect="1"/>
          </p:cNvPicPr>
          <p:nvPr/>
        </p:nvPicPr>
        <p:blipFill>
          <a:blip r:embed="rId3"/>
          <a:stretch>
            <a:fillRect/>
          </a:stretch>
        </p:blipFill>
        <p:spPr>
          <a:xfrm>
            <a:off x="6280879" y="1101320"/>
            <a:ext cx="5911121" cy="4336461"/>
          </a:xfrm>
          <a:prstGeom prst="rect">
            <a:avLst/>
          </a:prstGeom>
        </p:spPr>
      </p:pic>
      <p:sp>
        <p:nvSpPr>
          <p:cNvPr id="7" name="Rectangle 6">
            <a:extLst>
              <a:ext uri="{FF2B5EF4-FFF2-40B4-BE49-F238E27FC236}">
                <a16:creationId xmlns:a16="http://schemas.microsoft.com/office/drawing/2014/main" id="{C6113BE6-F77C-4FF6-8335-3B24C56F62A9}"/>
              </a:ext>
            </a:extLst>
          </p:cNvPr>
          <p:cNvSpPr/>
          <p:nvPr/>
        </p:nvSpPr>
        <p:spPr>
          <a:xfrm>
            <a:off x="6658353" y="1278741"/>
            <a:ext cx="4794067" cy="815288"/>
          </a:xfrm>
          <a:prstGeom prst="rect">
            <a:avLst/>
          </a:prstGeom>
        </p:spPr>
        <p:txBody>
          <a:bodyPr wrap="square">
            <a:spAutoFit/>
          </a:bodyPr>
          <a:lstStyle/>
          <a:p>
            <a:pPr algn="ctr">
              <a:lnSpc>
                <a:spcPts val="2880"/>
              </a:lnSpc>
              <a:tabLst>
                <a:tab pos="1539875" algn="l"/>
              </a:tabLst>
            </a:pPr>
            <a:r>
              <a:rPr lang="vi-VN" altLang="en-US" sz="2400" b="1">
                <a:solidFill>
                  <a:srgbClr val="FF0000"/>
                </a:solidFill>
                <a:latin typeface="Times New Roman (Headings)"/>
              </a:rPr>
              <a:t>Slides-1</a:t>
            </a:r>
            <a:r>
              <a:rPr lang="en-US" altLang="en-US" sz="2400" b="1">
                <a:solidFill>
                  <a:srgbClr val="FF0000"/>
                </a:solidFill>
                <a:latin typeface="Times New Roman (Headings)"/>
              </a:rPr>
              <a:t>5 </a:t>
            </a:r>
          </a:p>
          <a:p>
            <a:pPr algn="ctr">
              <a:lnSpc>
                <a:spcPts val="2880"/>
              </a:lnSpc>
              <a:tabLst>
                <a:tab pos="1539875" algn="l"/>
              </a:tabLst>
            </a:pPr>
            <a:r>
              <a:rPr lang="vi-VN" altLang="en-US" sz="2400" b="1">
                <a:solidFill>
                  <a:srgbClr val="FF0000"/>
                </a:solidFill>
                <a:latin typeface="Times New Roman (Headings)"/>
              </a:rPr>
              <a:t>Ứng dụng ONNX Runtime </a:t>
            </a:r>
          </a:p>
        </p:txBody>
      </p:sp>
      <p:sp>
        <p:nvSpPr>
          <p:cNvPr id="2" name="Rectangle 12">
            <a:extLst>
              <a:ext uri="{FF2B5EF4-FFF2-40B4-BE49-F238E27FC236}">
                <a16:creationId xmlns:a16="http://schemas.microsoft.com/office/drawing/2014/main" id="{747EA8E9-01AB-B7A2-74B0-9CE1E35D77D2}"/>
              </a:ext>
            </a:extLst>
          </p:cNvPr>
          <p:cNvSpPr>
            <a:spLocks noChangeArrowheads="1"/>
          </p:cNvSpPr>
          <p:nvPr/>
        </p:nvSpPr>
        <p:spPr bwMode="auto">
          <a:xfrm>
            <a:off x="-1" y="831946"/>
            <a:ext cx="8632371" cy="564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457200" indent="-457200">
              <a:lnSpc>
                <a:spcPts val="2880"/>
              </a:lnSpc>
              <a:buFont typeface="Wingdings" panose="05000000000000000000" pitchFamily="2" charset="2"/>
              <a:buChar char="v"/>
              <a:tabLst>
                <a:tab pos="1539875" algn="l"/>
              </a:tabLst>
            </a:pPr>
            <a:r>
              <a:rPr lang="en-US"/>
              <a:t>Lesson</a:t>
            </a:r>
            <a:r>
              <a:rPr lang="en-US" altLang="en-US"/>
              <a:t>-01 -</a:t>
            </a:r>
            <a:r>
              <a:rPr lang="vi-VN" altLang="en-US"/>
              <a:t> </a:t>
            </a:r>
            <a:r>
              <a:rPr lang="en-US" altLang="en-US"/>
              <a:t>Giới thiệu về Microsoft .Net và ngôn ngữ C# </a:t>
            </a:r>
          </a:p>
          <a:p>
            <a:pPr marL="457200" indent="-457200">
              <a:lnSpc>
                <a:spcPts val="2880"/>
              </a:lnSpc>
              <a:buFont typeface="Wingdings" panose="05000000000000000000" pitchFamily="2" charset="2"/>
              <a:buChar char="v"/>
              <a:tabLst>
                <a:tab pos="1539875" algn="l"/>
              </a:tabLst>
            </a:pPr>
            <a:r>
              <a:rPr lang="en-US"/>
              <a:t>Lesson</a:t>
            </a:r>
            <a:r>
              <a:rPr lang="en-US" altLang="en-US"/>
              <a:t>-02 	- Mảng và tập hợp</a:t>
            </a:r>
          </a:p>
          <a:p>
            <a:pPr marL="457200" indent="-457200">
              <a:lnSpc>
                <a:spcPts val="2880"/>
              </a:lnSpc>
              <a:buFont typeface="Wingdings" panose="05000000000000000000" pitchFamily="2" charset="2"/>
              <a:buChar char="v"/>
              <a:tabLst>
                <a:tab pos="1539875" algn="l"/>
              </a:tabLst>
            </a:pPr>
            <a:r>
              <a:rPr lang="en-US"/>
              <a:t>Lesson</a:t>
            </a:r>
            <a:r>
              <a:rPr lang="en-US" altLang="en-US"/>
              <a:t>-03 	- Lớp và đối t</a:t>
            </a:r>
            <a:r>
              <a:rPr lang="vi-VN" altLang="en-US"/>
              <a:t>ư</a:t>
            </a:r>
            <a:r>
              <a:rPr lang="en-US" altLang="en-US"/>
              <a:t>ợng trong C#</a:t>
            </a:r>
          </a:p>
          <a:p>
            <a:pPr marL="457200" indent="-457200">
              <a:lnSpc>
                <a:spcPts val="2880"/>
              </a:lnSpc>
              <a:buFont typeface="Wingdings" panose="05000000000000000000" pitchFamily="2" charset="2"/>
              <a:buChar char="v"/>
              <a:tabLst>
                <a:tab pos="1539875" algn="l"/>
              </a:tabLst>
            </a:pPr>
            <a:r>
              <a:rPr lang="en-US"/>
              <a:t>Lesson</a:t>
            </a:r>
            <a:r>
              <a:rPr lang="en-US" altLang="en-US"/>
              <a:t>-04 	- Kế thừa, đa hình trong C#</a:t>
            </a:r>
          </a:p>
          <a:p>
            <a:pPr marL="457200" indent="-457200">
              <a:lnSpc>
                <a:spcPts val="2880"/>
              </a:lnSpc>
              <a:buFont typeface="Wingdings" panose="05000000000000000000" pitchFamily="2" charset="2"/>
              <a:buChar char="v"/>
              <a:tabLst>
                <a:tab pos="1539875" algn="l"/>
              </a:tabLst>
            </a:pPr>
            <a:r>
              <a:rPr lang="en-US"/>
              <a:t>Lesson</a:t>
            </a:r>
            <a:r>
              <a:rPr lang="en-US" altLang="en-US"/>
              <a:t>-05 	- Giới thiệu về WPF, XAML</a:t>
            </a:r>
          </a:p>
          <a:p>
            <a:pPr marL="457200" indent="-457200">
              <a:lnSpc>
                <a:spcPts val="2880"/>
              </a:lnSpc>
              <a:buFont typeface="Wingdings" panose="05000000000000000000" pitchFamily="2" charset="2"/>
              <a:buChar char="v"/>
              <a:tabLst>
                <a:tab pos="1539875" algn="l"/>
              </a:tabLst>
            </a:pPr>
            <a:r>
              <a:rPr lang="en-US"/>
              <a:t>Lesson</a:t>
            </a:r>
            <a:r>
              <a:rPr lang="en-US" altLang="en-US"/>
              <a:t>-06 	- </a:t>
            </a:r>
            <a:r>
              <a:rPr lang="en-US"/>
              <a:t>Control cơ bản trong WPF</a:t>
            </a:r>
            <a:endParaRPr lang="en-US" altLang="en-US"/>
          </a:p>
          <a:p>
            <a:pPr marL="457200" indent="-457200">
              <a:lnSpc>
                <a:spcPts val="2880"/>
              </a:lnSpc>
              <a:buFont typeface="Wingdings" panose="05000000000000000000" pitchFamily="2" charset="2"/>
              <a:buChar char="v"/>
              <a:tabLst>
                <a:tab pos="1539875" algn="l"/>
              </a:tabLst>
            </a:pPr>
            <a:r>
              <a:rPr lang="en-US" altLang="en-US"/>
              <a:t>Lesson-07 - </a:t>
            </a:r>
            <a:r>
              <a:rPr lang="en-US"/>
              <a:t>Layout, Window và Page</a:t>
            </a:r>
            <a:endParaRPr lang="en-US" altLang="en-US"/>
          </a:p>
          <a:p>
            <a:pPr marL="457200" indent="-457200">
              <a:lnSpc>
                <a:spcPts val="2880"/>
              </a:lnSpc>
              <a:buFont typeface="Wingdings" panose="05000000000000000000" pitchFamily="2" charset="2"/>
              <a:buChar char="v"/>
              <a:tabLst>
                <a:tab pos="1539875" algn="l"/>
              </a:tabLst>
            </a:pPr>
            <a:r>
              <a:rPr lang="en-US"/>
              <a:t>Lesson</a:t>
            </a:r>
            <a:r>
              <a:rPr lang="en-US" altLang="en-US"/>
              <a:t>-08 	- ORM, EF, Code First</a:t>
            </a:r>
          </a:p>
          <a:p>
            <a:pPr marL="457200" indent="-457200">
              <a:lnSpc>
                <a:spcPts val="2880"/>
              </a:lnSpc>
              <a:buFont typeface="Wingdings" panose="05000000000000000000" pitchFamily="2" charset="2"/>
              <a:buChar char="v"/>
              <a:tabLst>
                <a:tab pos="1539875" algn="l"/>
              </a:tabLst>
            </a:pPr>
            <a:r>
              <a:rPr lang="en-US"/>
              <a:t>Lesson</a:t>
            </a:r>
            <a:r>
              <a:rPr lang="vi-VN" altLang="en-US"/>
              <a:t>-</a:t>
            </a:r>
            <a:r>
              <a:rPr lang="en-US" altLang="en-US"/>
              <a:t>0</a:t>
            </a:r>
            <a:r>
              <a:rPr lang="vi-VN" altLang="en-US"/>
              <a:t>9 - </a:t>
            </a:r>
            <a:r>
              <a:rPr lang="en-US" altLang="en-US"/>
              <a:t>DataBaseFirst và Lambda</a:t>
            </a:r>
          </a:p>
          <a:p>
            <a:pPr marL="457200" indent="-457200">
              <a:lnSpc>
                <a:spcPts val="2880"/>
              </a:lnSpc>
              <a:buFont typeface="Wingdings" panose="05000000000000000000" pitchFamily="2" charset="2"/>
              <a:buChar char="v"/>
              <a:tabLst>
                <a:tab pos="1539875" algn="l"/>
              </a:tabLst>
            </a:pPr>
            <a:r>
              <a:rPr lang="en-US"/>
              <a:t>Lesson</a:t>
            </a:r>
            <a:r>
              <a:rPr lang="vi-VN" altLang="en-US"/>
              <a:t>-10 </a:t>
            </a:r>
            <a:r>
              <a:rPr lang="en-US" altLang="en-US"/>
              <a:t>	</a:t>
            </a:r>
            <a:r>
              <a:rPr lang="vi-VN" altLang="en-US"/>
              <a:t>- LINQ, CRUD</a:t>
            </a:r>
          </a:p>
          <a:p>
            <a:pPr marL="457200" indent="-457200">
              <a:lnSpc>
                <a:spcPts val="2880"/>
              </a:lnSpc>
              <a:buFont typeface="Wingdings" panose="05000000000000000000" pitchFamily="2" charset="2"/>
              <a:buChar char="v"/>
              <a:tabLst>
                <a:tab pos="1539875" algn="l"/>
              </a:tabLst>
            </a:pPr>
            <a:r>
              <a:rPr lang="en-US"/>
              <a:t>Lesson</a:t>
            </a:r>
            <a:r>
              <a:rPr lang="vi-VN" altLang="en-US"/>
              <a:t>-11</a:t>
            </a:r>
            <a:r>
              <a:rPr lang="en-US" altLang="en-US"/>
              <a:t>	</a:t>
            </a:r>
            <a:r>
              <a:rPr lang="vi-VN" altLang="en-US"/>
              <a:t>- Mô hình MVVM</a:t>
            </a:r>
          </a:p>
          <a:p>
            <a:pPr marL="457200" indent="-457200">
              <a:lnSpc>
                <a:spcPts val="2880"/>
              </a:lnSpc>
              <a:buFont typeface="Wingdings" panose="05000000000000000000" pitchFamily="2" charset="2"/>
              <a:buChar char="v"/>
              <a:tabLst>
                <a:tab pos="1539875" algn="l"/>
              </a:tabLst>
            </a:pPr>
            <a:r>
              <a:rPr lang="en-US"/>
              <a:t>Lesson</a:t>
            </a:r>
            <a:r>
              <a:rPr lang="vi-VN" altLang="en-US"/>
              <a:t>-12 - Tổ chức nhóm theo MVVM</a:t>
            </a:r>
          </a:p>
          <a:p>
            <a:pPr marL="457200" indent="-457200">
              <a:lnSpc>
                <a:spcPts val="2880"/>
              </a:lnSpc>
              <a:buFont typeface="Wingdings" panose="05000000000000000000" pitchFamily="2" charset="2"/>
              <a:buChar char="v"/>
              <a:tabLst>
                <a:tab pos="1539875" algn="l"/>
              </a:tabLst>
            </a:pPr>
            <a:r>
              <a:rPr lang="en-US"/>
              <a:t>Lesson</a:t>
            </a:r>
            <a:r>
              <a:rPr lang="vi-VN" altLang="en-US"/>
              <a:t>-13 </a:t>
            </a:r>
            <a:r>
              <a:rPr lang="en-US" altLang="en-US"/>
              <a:t>	</a:t>
            </a:r>
            <a:r>
              <a:rPr lang="vi-VN" altLang="en-US"/>
              <a:t>- Khái niệm </a:t>
            </a:r>
            <a:r>
              <a:rPr lang="en-US" altLang="en-US"/>
              <a:t>nâng cao </a:t>
            </a:r>
            <a:r>
              <a:rPr lang="vi-VN" altLang="en-US"/>
              <a:t>trong MVVM</a:t>
            </a:r>
          </a:p>
          <a:p>
            <a:pPr marL="457200" indent="-457200">
              <a:lnSpc>
                <a:spcPts val="2880"/>
              </a:lnSpc>
              <a:buFont typeface="Wingdings" panose="05000000000000000000" pitchFamily="2" charset="2"/>
              <a:buChar char="v"/>
              <a:tabLst>
                <a:tab pos="1539875" algn="l"/>
              </a:tabLst>
            </a:pPr>
            <a:r>
              <a:rPr lang="en-US"/>
              <a:t>Lesson</a:t>
            </a:r>
            <a:r>
              <a:rPr lang="vi-VN" altLang="en-US"/>
              <a:t>-14 - Machine Learning cho .NET</a:t>
            </a:r>
          </a:p>
          <a:p>
            <a:pPr marL="457200" indent="-457200">
              <a:lnSpc>
                <a:spcPts val="2880"/>
              </a:lnSpc>
              <a:buFont typeface="Wingdings" panose="05000000000000000000" pitchFamily="2" charset="2"/>
              <a:buChar char="v"/>
              <a:tabLst>
                <a:tab pos="1539875" algn="l"/>
              </a:tabLst>
            </a:pPr>
            <a:r>
              <a:rPr lang="vi-VN" altLang="en-US" b="1">
                <a:solidFill>
                  <a:srgbClr val="FF0000"/>
                </a:solidFill>
              </a:rPr>
              <a:t>Lesson-15 - Ứng dụng ONNX Runtime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NỘI DUNG</a:t>
            </a:r>
          </a:p>
        </p:txBody>
      </p:sp>
      <p:sp>
        <p:nvSpPr>
          <p:cNvPr id="15" name="Rectangle 8">
            <a:extLst>
              <a:ext uri="{FF2B5EF4-FFF2-40B4-BE49-F238E27FC236}">
                <a16:creationId xmlns:a16="http://schemas.microsoft.com/office/drawing/2014/main" id="{7E8A2098-3C3F-44C0-ABBC-230DD98C5011}"/>
              </a:ext>
            </a:extLst>
          </p:cNvPr>
          <p:cNvSpPr txBox="1">
            <a:spLocks noChangeArrowheads="1"/>
          </p:cNvSpPr>
          <p:nvPr/>
        </p:nvSpPr>
        <p:spPr>
          <a:xfrm>
            <a:off x="0" y="679470"/>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50000"/>
              </a:lnSpc>
              <a:spcBef>
                <a:spcPts val="0"/>
              </a:spcBef>
              <a:buFont typeface="Wingdings" panose="05000000000000000000" pitchFamily="2" charset="2"/>
              <a:buChar char="v"/>
              <a:defRPr/>
            </a:pPr>
            <a:r>
              <a:rPr lang="en-US" sz="2800">
                <a:latin typeface="Times New Roman" panose="02020603050405020304" pitchFamily="18" charset="0"/>
                <a:cs typeface="Times New Roman" panose="02020603050405020304" pitchFamily="18" charset="0"/>
              </a:rPr>
              <a:t>Giới hạn của ML.Net</a:t>
            </a:r>
          </a:p>
          <a:p>
            <a:pPr lvl="1" indent="-457200">
              <a:lnSpc>
                <a:spcPct val="150000"/>
              </a:lnSpc>
              <a:spcBef>
                <a:spcPts val="0"/>
              </a:spcBef>
              <a:buFont typeface="Wingdings" panose="05000000000000000000" pitchFamily="2" charset="2"/>
              <a:buChar char="v"/>
              <a:defRPr/>
            </a:pPr>
            <a:r>
              <a:rPr lang="en-US" sz="2800">
                <a:latin typeface="Times New Roman" panose="02020603050405020304" pitchFamily="18" charset="0"/>
                <a:cs typeface="Times New Roman" panose="02020603050405020304" pitchFamily="18" charset="0"/>
              </a:rPr>
              <a:t>Giới thiệu về ONNX</a:t>
            </a:r>
          </a:p>
          <a:p>
            <a:pPr lvl="1" indent="-457200">
              <a:lnSpc>
                <a:spcPct val="150000"/>
              </a:lnSpc>
              <a:spcBef>
                <a:spcPts val="0"/>
              </a:spcBef>
              <a:buFont typeface="Wingdings" panose="05000000000000000000" pitchFamily="2" charset="2"/>
              <a:buChar char="v"/>
              <a:defRPr/>
            </a:pPr>
            <a:r>
              <a:rPr lang="en-US" sz="2800">
                <a:latin typeface="Times New Roman" panose="02020603050405020304" pitchFamily="18" charset="0"/>
                <a:cs typeface="Times New Roman" panose="02020603050405020304" pitchFamily="18" charset="0"/>
              </a:rPr>
              <a:t>Ứng dụng ONNX vào ứng dụng .NET</a:t>
            </a:r>
          </a:p>
          <a:p>
            <a:pPr lvl="1" indent="-457200">
              <a:lnSpc>
                <a:spcPct val="150000"/>
              </a:lnSpc>
              <a:spcBef>
                <a:spcPts val="0"/>
              </a:spcBef>
              <a:buFont typeface="Wingdings" panose="05000000000000000000" pitchFamily="2" charset="2"/>
              <a:buChar char="v"/>
              <a:defRPr/>
            </a:pPr>
            <a:r>
              <a:rPr lang="en-US" sz="2800">
                <a:latin typeface="Times New Roman" panose="02020603050405020304" pitchFamily="18" charset="0"/>
                <a:cs typeface="Times New Roman" panose="02020603050405020304" pitchFamily="18" charset="0"/>
              </a:rPr>
              <a:t>Bài Tập</a:t>
            </a:r>
          </a:p>
          <a:p>
            <a:pPr lvl="1" indent="-457200">
              <a:lnSpc>
                <a:spcPct val="150000"/>
              </a:lnSpc>
              <a:spcBef>
                <a:spcPts val="0"/>
              </a:spcBef>
              <a:buFont typeface="Wingdings" panose="05000000000000000000" pitchFamily="2" charset="2"/>
              <a:buChar char="v"/>
              <a:defRPr/>
            </a:pPr>
            <a:endParaRPr 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Giả sử </a:t>
            </a:r>
            <a:r>
              <a:rPr lang="en-US" sz="2800" b="1">
                <a:latin typeface="Times New Roman" panose="02020603050405020304" pitchFamily="18" charset="0"/>
                <a:cs typeface="Times New Roman" panose="02020603050405020304" pitchFamily="18" charset="0"/>
              </a:rPr>
              <a:t>ta</a:t>
            </a:r>
            <a:r>
              <a:rPr lang="vi-VN" sz="2800" b="1">
                <a:latin typeface="Times New Roman" panose="02020603050405020304" pitchFamily="18" charset="0"/>
                <a:cs typeface="Times New Roman" panose="02020603050405020304" pitchFamily="18" charset="0"/>
              </a:rPr>
              <a:t> muốn làm ứng dụng WPF để nhận diện khuôn mặt sinh viên khi điểm danh.</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Với ML.NET, </a:t>
            </a:r>
            <a:r>
              <a:rPr lang="en-US" sz="2800">
                <a:latin typeface="Times New Roman" panose="02020603050405020304" pitchFamily="18" charset="0"/>
                <a:cs typeface="Times New Roman" panose="02020603050405020304" pitchFamily="18" charset="0"/>
              </a:rPr>
              <a:t>chúng ta</a:t>
            </a:r>
            <a:r>
              <a:rPr lang="vi-VN" sz="2800">
                <a:latin typeface="Times New Roman" panose="02020603050405020304" pitchFamily="18" charset="0"/>
                <a:cs typeface="Times New Roman" panose="02020603050405020304" pitchFamily="18" charset="0"/>
              </a:rPr>
              <a:t> không thể xử lý ảnh, không có thuật toán deep learning, và không dùng được mô hình đã huấn luyện sẵn từ Python.</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Vì vậy, không thể xây dựng hệ thống nhận diện khuôn mặt bằng ML.NET đơn thuần.</a:t>
            </a:r>
            <a:endParaRPr lang="en-US" sz="280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GIỚI HẠN CỦA ML.NET</a:t>
            </a:r>
          </a:p>
        </p:txBody>
      </p:sp>
      <p:sp>
        <p:nvSpPr>
          <p:cNvPr id="2" name="Arrow: Right 1">
            <a:extLst>
              <a:ext uri="{FF2B5EF4-FFF2-40B4-BE49-F238E27FC236}">
                <a16:creationId xmlns:a16="http://schemas.microsoft.com/office/drawing/2014/main" id="{6EA1FC74-7786-4A95-ADBC-234C6A53D680}"/>
              </a:ext>
            </a:extLst>
          </p:cNvPr>
          <p:cNvSpPr/>
          <p:nvPr/>
        </p:nvSpPr>
        <p:spPr>
          <a:xfrm>
            <a:off x="1058091" y="4807131"/>
            <a:ext cx="2429692" cy="914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C5E74D70-BA52-CB44-7258-4B00D29C09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4262" y="4161309"/>
            <a:ext cx="3971499" cy="2206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673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ONNX (Open Neural Network Exchange) </a:t>
            </a:r>
            <a:r>
              <a:rPr lang="vi-VN" sz="2800">
                <a:latin typeface="Times New Roman" panose="02020603050405020304" pitchFamily="18" charset="0"/>
                <a:cs typeface="Times New Roman" panose="02020603050405020304" pitchFamily="18" charset="0"/>
              </a:rPr>
              <a:t>là định dạng chuẩn dùng để lưu trữ và chia sẻ mô hình AI giữa các ngôn ngữ và framework khác nhau</a:t>
            </a:r>
            <a:r>
              <a:rPr lang="en-US" sz="2800">
                <a:latin typeface="Times New Roman" panose="02020603050405020304" pitchFamily="18" charset="0"/>
                <a:cs typeface="Times New Roman" panose="02020603050405020304" pitchFamily="18" charset="0"/>
              </a:rPr>
              <a:t>:</a:t>
            </a:r>
          </a:p>
          <a:p>
            <a:pPr lvl="1" indent="-457200">
              <a:lnSpc>
                <a:spcPct val="150000"/>
              </a:lnSpc>
              <a:spcBef>
                <a:spcPts val="0"/>
              </a:spcBef>
              <a:defRPr/>
            </a:pPr>
            <a:r>
              <a:rPr lang="en-US" sz="2800">
                <a:latin typeface="Times New Roman" panose="02020603050405020304" pitchFamily="18" charset="0"/>
                <a:cs typeface="Times New Roman" panose="02020603050405020304" pitchFamily="18" charset="0"/>
              </a:rPr>
              <a:t>Python: TensorFlow, PyTorch, scikit-learnR, </a:t>
            </a:r>
          </a:p>
          <a:p>
            <a:pPr lvl="1" indent="-457200">
              <a:lnSpc>
                <a:spcPct val="150000"/>
              </a:lnSpc>
              <a:spcBef>
                <a:spcPts val="0"/>
              </a:spcBef>
              <a:defRPr/>
            </a:pPr>
            <a:r>
              <a:rPr lang="en-US" sz="2800">
                <a:latin typeface="Times New Roman" panose="02020603050405020304" pitchFamily="18" charset="0"/>
                <a:cs typeface="Times New Roman" panose="02020603050405020304" pitchFamily="18" charset="0"/>
              </a:rPr>
              <a:t>Java: H2O, DL4J</a:t>
            </a:r>
          </a:p>
          <a:p>
            <a:pPr lvl="1" indent="-457200">
              <a:lnSpc>
                <a:spcPct val="150000"/>
              </a:lnSpc>
              <a:spcBef>
                <a:spcPts val="0"/>
              </a:spcBef>
              <a:defRPr/>
            </a:pPr>
            <a:r>
              <a:rPr lang="en-US" sz="2800">
                <a:latin typeface="Times New Roman" panose="02020603050405020304" pitchFamily="18" charset="0"/>
                <a:cs typeface="Times New Roman" panose="02020603050405020304" pitchFamily="18" charset="0"/>
              </a:rPr>
              <a:t>C++: ONNX C++ API</a:t>
            </a:r>
          </a:p>
          <a:p>
            <a:pPr lvl="1" indent="-457200">
              <a:lnSpc>
                <a:spcPct val="150000"/>
              </a:lnSpc>
              <a:spcBef>
                <a:spcPts val="0"/>
              </a:spcBef>
              <a:defRPr/>
            </a:pPr>
            <a:r>
              <a:rPr lang="en-US" sz="2800">
                <a:latin typeface="Times New Roman" panose="02020603050405020304" pitchFamily="18" charset="0"/>
                <a:cs typeface="Times New Roman" panose="02020603050405020304" pitchFamily="18" charset="0"/>
              </a:rPr>
              <a:t>Thậm chí C#: ML.NET</a:t>
            </a:r>
          </a:p>
          <a:p>
            <a:pPr marL="228600" lvl="1" indent="0">
              <a:lnSpc>
                <a:spcPct val="150000"/>
              </a:lnSpc>
              <a:spcBef>
                <a:spcPts val="0"/>
              </a:spcBef>
              <a:buNone/>
              <a:defRPr/>
            </a:pPr>
            <a:r>
              <a:rPr lang="vi-VN" sz="2800">
                <a:latin typeface="Times New Roman" panose="02020603050405020304" pitchFamily="18" charset="0"/>
                <a:cs typeface="Times New Roman" panose="02020603050405020304" pitchFamily="18" charset="0"/>
              </a:rPr>
              <a:t>Mỗi công cụ lại có định dạng mô hình riêng, nên khó chia sẻ qua lại giữa các ngôn ngữ.</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ONNX ra đời để giải quyết vấn đề đó giúp lưu mô hình một lần nhưng có thể dùng lại ở bất kỳ nền tảng nào như C#, Python, Java, v.v.</a:t>
            </a:r>
            <a:endParaRPr lang="en-US" sz="280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ONNX</a:t>
            </a:r>
          </a:p>
        </p:txBody>
      </p:sp>
    </p:spTree>
    <p:extLst>
      <p:ext uri="{BB962C8B-B14F-4D97-AF65-F5344CB8AC3E}">
        <p14:creationId xmlns:p14="http://schemas.microsoft.com/office/powerpoint/2010/main" val="2055006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5083791"/>
            <a:ext cx="12192000" cy="1132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solidFill>
                  <a:srgbClr val="FF0000"/>
                </a:solidFill>
                <a:latin typeface="Times New Roman" panose="02020603050405020304" pitchFamily="18" charset="0"/>
                <a:cs typeface="Times New Roman" panose="02020603050405020304" pitchFamily="18" charset="0"/>
              </a:rPr>
              <a:t>Huấn luyện mô hình bằng Python → xuất ONNX → dùng trong phần mềm giáo dục bằng WPF</a:t>
            </a:r>
            <a:endParaRPr lang="en-US" sz="2800">
              <a:solidFill>
                <a:srgbClr val="FF0000"/>
              </a:solidFill>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ỨNG DỤNG THỰC TẾ CỦA ONNX</a:t>
            </a:r>
          </a:p>
        </p:txBody>
      </p:sp>
      <p:pic>
        <p:nvPicPr>
          <p:cNvPr id="6" name="Picture 5" descr="A screenshot of a computer&#10;&#10;AI-generated content may be incorrect.">
            <a:extLst>
              <a:ext uri="{FF2B5EF4-FFF2-40B4-BE49-F238E27FC236}">
                <a16:creationId xmlns:a16="http://schemas.microsoft.com/office/drawing/2014/main" id="{51B8A206-5F5C-D73B-BC8C-8DDA0008FD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2836" y="761999"/>
            <a:ext cx="8666328" cy="4533331"/>
          </a:xfrm>
          <a:prstGeom prst="rect">
            <a:avLst/>
          </a:prstGeom>
        </p:spPr>
      </p:pic>
    </p:spTree>
    <p:extLst>
      <p:ext uri="{BB962C8B-B14F-4D97-AF65-F5344CB8AC3E}">
        <p14:creationId xmlns:p14="http://schemas.microsoft.com/office/powerpoint/2010/main" val="3356378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Nhúng AI vào thiết bị (IoT, Windows App)</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Nhận diện khuôn mặt khi mở cửa</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Phát hiện chuyển động bất thường từ camera</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Phân tích giọng nói hoặc văn bản trực tiếp</a:t>
            </a: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r>
              <a:rPr lang="vi-VN" sz="2800" b="1">
                <a:solidFill>
                  <a:srgbClr val="FF0000"/>
                </a:solidFill>
                <a:latin typeface="Times New Roman" panose="02020603050405020304" pitchFamily="18" charset="0"/>
                <a:cs typeface="Times New Roman" panose="02020603050405020304" pitchFamily="18" charset="0"/>
              </a:rPr>
              <a:t>ONNX cho phép chạy mô hình AI offline, không cần server</a:t>
            </a:r>
            <a:endParaRPr lang="en-US" sz="2800">
              <a:solidFill>
                <a:srgbClr val="FF0000"/>
              </a:solidFill>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ỨNG DỤNG THỰC TẾ CỦA ONNX</a:t>
            </a:r>
          </a:p>
        </p:txBody>
      </p:sp>
    </p:spTree>
    <p:extLst>
      <p:ext uri="{BB962C8B-B14F-4D97-AF65-F5344CB8AC3E}">
        <p14:creationId xmlns:p14="http://schemas.microsoft.com/office/powerpoint/2010/main" val="4043243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Sử dụng mô hình mạnh đã huấn luyện (Pretrained)</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Dùng YOLO nhận diện đối tượng (ảnh)</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Dùng BERT xử lý ngôn ngữ tự nhiên</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Dùng ResNet phân loại ảnh y tế</a:t>
            </a: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r>
              <a:rPr lang="vi-VN" sz="2800" b="1">
                <a:solidFill>
                  <a:srgbClr val="FF0000"/>
                </a:solidFill>
                <a:latin typeface="Times New Roman" panose="02020603050405020304" pitchFamily="18" charset="0"/>
                <a:cs typeface="Times New Roman" panose="02020603050405020304" pitchFamily="18" charset="0"/>
              </a:rPr>
              <a:t>Không cần huấn luyện lại, chỉ cần tải mô hình .onnx là dùng được ngay trong C#</a:t>
            </a:r>
            <a:endParaRPr lang="en-US" sz="2800">
              <a:solidFill>
                <a:srgbClr val="FF0000"/>
              </a:solidFill>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ỨNG DỤNG THỰC TẾ CỦA ONNX</a:t>
            </a:r>
          </a:p>
        </p:txBody>
      </p:sp>
      <p:pic>
        <p:nvPicPr>
          <p:cNvPr id="2050" name="Picture 2">
            <a:extLst>
              <a:ext uri="{FF2B5EF4-FFF2-40B4-BE49-F238E27FC236}">
                <a16:creationId xmlns:a16="http://schemas.microsoft.com/office/drawing/2014/main" id="{41ABAA3F-C209-1C0A-D3DC-D98DEE17D8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6928" y="4172782"/>
            <a:ext cx="3926671" cy="2190346"/>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a:extLst>
              <a:ext uri="{FF2B5EF4-FFF2-40B4-BE49-F238E27FC236}">
                <a16:creationId xmlns:a16="http://schemas.microsoft.com/office/drawing/2014/main" id="{40155B20-945D-4ADE-F848-74BECA4609D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diagram of a chart&#10;&#10;AI-generated content may be incorrect.">
            <a:extLst>
              <a:ext uri="{FF2B5EF4-FFF2-40B4-BE49-F238E27FC236}">
                <a16:creationId xmlns:a16="http://schemas.microsoft.com/office/drawing/2014/main" id="{161C2B87-8814-169A-07C6-9172F068D6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05516" y="4281964"/>
            <a:ext cx="4612943" cy="2125798"/>
          </a:xfrm>
          <a:prstGeom prst="rect">
            <a:avLst/>
          </a:prstGeom>
        </p:spPr>
      </p:pic>
    </p:spTree>
    <p:extLst>
      <p:ext uri="{BB962C8B-B14F-4D97-AF65-F5344CB8AC3E}">
        <p14:creationId xmlns:p14="http://schemas.microsoft.com/office/powerpoint/2010/main" val="3752217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Xây dựng một ứng dụng giáo dục (WPF App) </a:t>
            </a:r>
            <a:r>
              <a:rPr lang="vi-VN" sz="2800">
                <a:latin typeface="Times New Roman" panose="02020603050405020304" pitchFamily="18" charset="0"/>
                <a:cs typeface="Times New Roman" panose="02020603050405020304" pitchFamily="18" charset="0"/>
              </a:rPr>
              <a:t>có thể dự đoán sinh viên nào có nguy cơ bỏ học, dựa trên dữ liệu học tập và hành vi</a:t>
            </a:r>
            <a:r>
              <a:rPr lang="en-US" sz="2800">
                <a:latin typeface="Times New Roman" panose="02020603050405020304" pitchFamily="18" charset="0"/>
                <a:cs typeface="Times New Roman" panose="02020603050405020304" pitchFamily="18" charset="0"/>
              </a:rPr>
              <a:t>. Gồm dữ liệu đầu vào: </a:t>
            </a:r>
          </a:p>
          <a:p>
            <a:pPr marL="228600" lvl="1" indent="0">
              <a:lnSpc>
                <a:spcPct val="150000"/>
              </a:lnSpc>
              <a:spcBef>
                <a:spcPts val="0"/>
              </a:spcBef>
              <a:buNone/>
              <a:defRPr/>
            </a:pPr>
            <a:endParaRPr lang="en-US" sz="280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ỨNG DỤNG THỰC TẾ SỬ DỤNG WPF</a:t>
            </a:r>
          </a:p>
        </p:txBody>
      </p:sp>
      <p:graphicFrame>
        <p:nvGraphicFramePr>
          <p:cNvPr id="2" name="Table 1">
            <a:extLst>
              <a:ext uri="{FF2B5EF4-FFF2-40B4-BE49-F238E27FC236}">
                <a16:creationId xmlns:a16="http://schemas.microsoft.com/office/drawing/2014/main" id="{E9634209-1584-4AEF-B722-2A5C7B339C13}"/>
              </a:ext>
            </a:extLst>
          </p:cNvPr>
          <p:cNvGraphicFramePr>
            <a:graphicFrameLocks noGrp="1"/>
          </p:cNvGraphicFramePr>
          <p:nvPr>
            <p:extLst>
              <p:ext uri="{D42A27DB-BD31-4B8C-83A1-F6EECF244321}">
                <p14:modId xmlns:p14="http://schemas.microsoft.com/office/powerpoint/2010/main" val="3602674047"/>
              </p:ext>
            </p:extLst>
          </p:nvPr>
        </p:nvGraphicFramePr>
        <p:xfrm>
          <a:off x="2451462" y="2209436"/>
          <a:ext cx="7550331" cy="3627120"/>
        </p:xfrm>
        <a:graphic>
          <a:graphicData uri="http://schemas.openxmlformats.org/drawingml/2006/table">
            <a:tbl>
              <a:tblPr firstRow="1" bandRow="1">
                <a:tableStyleId>{5C22544A-7EE6-4342-B048-85BDC9FD1C3A}</a:tableStyleId>
              </a:tblPr>
              <a:tblGrid>
                <a:gridCol w="2403566">
                  <a:extLst>
                    <a:ext uri="{9D8B030D-6E8A-4147-A177-3AD203B41FA5}">
                      <a16:colId xmlns:a16="http://schemas.microsoft.com/office/drawing/2014/main" val="2894563497"/>
                    </a:ext>
                  </a:extLst>
                </a:gridCol>
                <a:gridCol w="5146765">
                  <a:extLst>
                    <a:ext uri="{9D8B030D-6E8A-4147-A177-3AD203B41FA5}">
                      <a16:colId xmlns:a16="http://schemas.microsoft.com/office/drawing/2014/main" val="120243200"/>
                    </a:ext>
                  </a:extLst>
                </a:gridCol>
              </a:tblGrid>
              <a:tr h="370840">
                <a:tc>
                  <a:txBody>
                    <a:bodyPr/>
                    <a:lstStyle/>
                    <a:p>
                      <a:pPr algn="ctr"/>
                      <a:r>
                        <a:rPr lang="vi-VN" sz="2800">
                          <a:solidFill>
                            <a:schemeClr val="tx1"/>
                          </a:solidFill>
                          <a:latin typeface="+mj-lt"/>
                        </a:rPr>
                        <a:t>Đặc trưng</a:t>
                      </a:r>
                    </a:p>
                  </a:txBody>
                  <a:tcPr anchor="ctr"/>
                </a:tc>
                <a:tc>
                  <a:txBody>
                    <a:bodyPr/>
                    <a:lstStyle/>
                    <a:p>
                      <a:pPr algn="ctr"/>
                      <a:r>
                        <a:rPr lang="en-US" sz="2800">
                          <a:solidFill>
                            <a:schemeClr val="tx1"/>
                          </a:solidFill>
                          <a:latin typeface="Times New Roman" panose="02020603050405020304" pitchFamily="18" charset="0"/>
                          <a:cs typeface="Times New Roman" panose="02020603050405020304" pitchFamily="18" charset="0"/>
                        </a:rPr>
                        <a:t>Ý nghĩa</a:t>
                      </a:r>
                    </a:p>
                  </a:txBody>
                  <a:tcPr anchor="ctr"/>
                </a:tc>
                <a:extLst>
                  <a:ext uri="{0D108BD9-81ED-4DB2-BD59-A6C34878D82A}">
                    <a16:rowId xmlns:a16="http://schemas.microsoft.com/office/drawing/2014/main" val="2893982009"/>
                  </a:ext>
                </a:extLst>
              </a:tr>
              <a:tr h="370840">
                <a:tc>
                  <a:txBody>
                    <a:bodyPr/>
                    <a:lstStyle/>
                    <a:p>
                      <a:r>
                        <a:rPr lang="en-US" sz="2800">
                          <a:latin typeface="Times New Roman" panose="02020603050405020304" pitchFamily="18" charset="0"/>
                          <a:cs typeface="Times New Roman" panose="02020603050405020304" pitchFamily="18" charset="0"/>
                        </a:rPr>
                        <a:t>Điểm đầu vào</a:t>
                      </a:r>
                    </a:p>
                  </a:txBody>
                  <a:tcPr/>
                </a:tc>
                <a:tc>
                  <a:txBody>
                    <a:bodyPr/>
                    <a:lstStyle/>
                    <a:p>
                      <a:r>
                        <a:rPr lang="vi-VN" sz="2800">
                          <a:latin typeface="Times New Roman" panose="02020603050405020304" pitchFamily="18" charset="0"/>
                          <a:cs typeface="Times New Roman" panose="02020603050405020304" pitchFamily="18" charset="0"/>
                        </a:rPr>
                        <a:t>Điểm thi đại học, đầu vào trường</a:t>
                      </a:r>
                      <a:endParaRPr lang="en-US" sz="28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43865357"/>
                  </a:ext>
                </a:extLst>
              </a:tr>
              <a:tr h="370840">
                <a:tc>
                  <a:txBody>
                    <a:bodyPr/>
                    <a:lstStyle/>
                    <a:p>
                      <a:r>
                        <a:rPr lang="en-US" sz="2800">
                          <a:latin typeface="Times New Roman" panose="02020603050405020304" pitchFamily="18" charset="0"/>
                          <a:cs typeface="Times New Roman" panose="02020603050405020304" pitchFamily="18" charset="0"/>
                        </a:rPr>
                        <a:t>GPA Năm 1</a:t>
                      </a:r>
                    </a:p>
                  </a:txBody>
                  <a:tcPr/>
                </a:tc>
                <a:tc>
                  <a:txBody>
                    <a:bodyPr/>
                    <a:lstStyle/>
                    <a:p>
                      <a:r>
                        <a:rPr lang="en-US" sz="2800">
                          <a:latin typeface="Times New Roman" panose="02020603050405020304" pitchFamily="18" charset="0"/>
                          <a:cs typeface="Times New Roman" panose="02020603050405020304" pitchFamily="18" charset="0"/>
                        </a:rPr>
                        <a:t>Trung bình học kỳ đầu tiên</a:t>
                      </a:r>
                    </a:p>
                  </a:txBody>
                  <a:tcPr anchor="ctr"/>
                </a:tc>
                <a:extLst>
                  <a:ext uri="{0D108BD9-81ED-4DB2-BD59-A6C34878D82A}">
                    <a16:rowId xmlns:a16="http://schemas.microsoft.com/office/drawing/2014/main" val="1375992907"/>
                  </a:ext>
                </a:extLst>
              </a:tr>
              <a:tr h="370840">
                <a:tc>
                  <a:txBody>
                    <a:bodyPr/>
                    <a:lstStyle/>
                    <a:p>
                      <a:r>
                        <a:rPr lang="en-US" sz="2800">
                          <a:latin typeface="Times New Roman" panose="02020603050405020304" pitchFamily="18" charset="0"/>
                          <a:cs typeface="Times New Roman" panose="02020603050405020304" pitchFamily="18" charset="0"/>
                        </a:rPr>
                        <a:t>GPA Năm 2</a:t>
                      </a:r>
                    </a:p>
                  </a:txBody>
                  <a:tcPr/>
                </a:tc>
                <a:tc>
                  <a:txBody>
                    <a:bodyPr/>
                    <a:lstStyle/>
                    <a:p>
                      <a:r>
                        <a:rPr lang="en-US" sz="2800">
                          <a:latin typeface="Times New Roman" panose="02020603050405020304" pitchFamily="18" charset="0"/>
                          <a:cs typeface="Times New Roman" panose="02020603050405020304" pitchFamily="18" charset="0"/>
                        </a:rPr>
                        <a:t>Trung bình năm 2</a:t>
                      </a:r>
                    </a:p>
                  </a:txBody>
                  <a:tcPr/>
                </a:tc>
                <a:extLst>
                  <a:ext uri="{0D108BD9-81ED-4DB2-BD59-A6C34878D82A}">
                    <a16:rowId xmlns:a16="http://schemas.microsoft.com/office/drawing/2014/main" val="4058278276"/>
                  </a:ext>
                </a:extLst>
              </a:tr>
              <a:tr h="370840">
                <a:tc>
                  <a:txBody>
                    <a:bodyPr/>
                    <a:lstStyle/>
                    <a:p>
                      <a:r>
                        <a:rPr lang="en-US" sz="2800">
                          <a:latin typeface="Times New Roman" panose="02020603050405020304" pitchFamily="18" charset="0"/>
                          <a:cs typeface="Times New Roman" panose="02020603050405020304" pitchFamily="18" charset="0"/>
                        </a:rPr>
                        <a:t>Nợ học phí</a:t>
                      </a:r>
                    </a:p>
                  </a:txBody>
                  <a:tcPr/>
                </a:tc>
                <a:tc>
                  <a:txBody>
                    <a:bodyPr/>
                    <a:lstStyle/>
                    <a:p>
                      <a:r>
                        <a:rPr lang="en-US" sz="2800">
                          <a:latin typeface="Times New Roman" panose="02020603050405020304" pitchFamily="18" charset="0"/>
                          <a:cs typeface="Times New Roman" panose="02020603050405020304" pitchFamily="18" charset="0"/>
                        </a:rPr>
                        <a:t>Số lần trễ học phí</a:t>
                      </a:r>
                    </a:p>
                  </a:txBody>
                  <a:tcPr/>
                </a:tc>
                <a:extLst>
                  <a:ext uri="{0D108BD9-81ED-4DB2-BD59-A6C34878D82A}">
                    <a16:rowId xmlns:a16="http://schemas.microsoft.com/office/drawing/2014/main" val="1301763648"/>
                  </a:ext>
                </a:extLst>
              </a:tr>
              <a:tr h="370840">
                <a:tc>
                  <a:txBody>
                    <a:bodyPr/>
                    <a:lstStyle/>
                    <a:p>
                      <a:r>
                        <a:rPr lang="en-US" sz="2800">
                          <a:latin typeface="Times New Roman" panose="02020603050405020304" pitchFamily="18" charset="0"/>
                          <a:cs typeface="Times New Roman" panose="02020603050405020304" pitchFamily="18" charset="0"/>
                        </a:rPr>
                        <a:t>Môn rớt</a:t>
                      </a:r>
                    </a:p>
                  </a:txBody>
                  <a:tcPr/>
                </a:tc>
                <a:tc>
                  <a:txBody>
                    <a:bodyPr/>
                    <a:lstStyle/>
                    <a:p>
                      <a:r>
                        <a:rPr lang="en-US" sz="2800">
                          <a:latin typeface="Times New Roman" panose="02020603050405020304" pitchFamily="18" charset="0"/>
                          <a:cs typeface="Times New Roman" panose="02020603050405020304" pitchFamily="18" charset="0"/>
                        </a:rPr>
                        <a:t>Số môn không qua</a:t>
                      </a:r>
                    </a:p>
                  </a:txBody>
                  <a:tcPr/>
                </a:tc>
                <a:extLst>
                  <a:ext uri="{0D108BD9-81ED-4DB2-BD59-A6C34878D82A}">
                    <a16:rowId xmlns:a16="http://schemas.microsoft.com/office/drawing/2014/main" val="1945528626"/>
                  </a:ext>
                </a:extLst>
              </a:tr>
              <a:tr h="370840">
                <a:tc>
                  <a:txBody>
                    <a:bodyPr/>
                    <a:lstStyle/>
                    <a:p>
                      <a:r>
                        <a:rPr lang="en-US" sz="2800">
                          <a:latin typeface="Times New Roman" panose="02020603050405020304" pitchFamily="18" charset="0"/>
                          <a:cs typeface="Times New Roman" panose="02020603050405020304" pitchFamily="18" charset="0"/>
                        </a:rPr>
                        <a:t>Chuyên cần</a:t>
                      </a:r>
                    </a:p>
                  </a:txBody>
                  <a:tcPr/>
                </a:tc>
                <a:tc>
                  <a:txBody>
                    <a:bodyPr/>
                    <a:lstStyle/>
                    <a:p>
                      <a:r>
                        <a:rPr lang="en-US" sz="2800">
                          <a:latin typeface="Times New Roman" panose="02020603050405020304" pitchFamily="18" charset="0"/>
                          <a:cs typeface="Times New Roman" panose="02020603050405020304" pitchFamily="18" charset="0"/>
                        </a:rPr>
                        <a:t>Tỷ lệ đi học (tính theo %)</a:t>
                      </a:r>
                    </a:p>
                  </a:txBody>
                  <a:tcPr/>
                </a:tc>
                <a:extLst>
                  <a:ext uri="{0D108BD9-81ED-4DB2-BD59-A6C34878D82A}">
                    <a16:rowId xmlns:a16="http://schemas.microsoft.com/office/drawing/2014/main" val="3511834071"/>
                  </a:ext>
                </a:extLst>
              </a:tr>
            </a:tbl>
          </a:graphicData>
        </a:graphic>
      </p:graphicFrame>
    </p:spTree>
    <p:extLst>
      <p:ext uri="{BB962C8B-B14F-4D97-AF65-F5344CB8AC3E}">
        <p14:creationId xmlns:p14="http://schemas.microsoft.com/office/powerpoint/2010/main" val="2696760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Mô hình AI phía sau:</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Huấn luyện bằng Python với LogisticRegression (hoặc mô hình nâng cao hơn)</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Chuyển sang ONNX để dùng trong C#</a:t>
            </a: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Mô hình đầu ra 2 xác suất:</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P(ổn định)</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P(nguy cơ bỏ học)</a:t>
            </a:r>
            <a:endParaRPr lang="en-US" sz="280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ỨNG DỤNG THỰC TẾ SỬ DỤNG WPF</a:t>
            </a:r>
          </a:p>
        </p:txBody>
      </p:sp>
    </p:spTree>
    <p:extLst>
      <p:ext uri="{BB962C8B-B14F-4D97-AF65-F5344CB8AC3E}">
        <p14:creationId xmlns:p14="http://schemas.microsoft.com/office/powerpoint/2010/main" val="2698083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Tích hợp trong WPF App (.NET):</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Người dùng (giáo vụ, cố vấn) nhập dữ liệu sinh viên</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Bấm nút Dự đoán</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AI xử lý ngay trong ứng dụng</a:t>
            </a: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Hiển thị kết quả:</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Ổn định (ví dụ: 21%) </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Nguy cơ bỏ học cao (ví dụ: 78%)</a:t>
            </a:r>
            <a:endParaRPr lang="en-US" sz="280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ỨNG DỤNG THỰC TẾ SỬ DỤNG WPF</a:t>
            </a:r>
          </a:p>
        </p:txBody>
      </p:sp>
    </p:spTree>
    <p:extLst>
      <p:ext uri="{BB962C8B-B14F-4D97-AF65-F5344CB8AC3E}">
        <p14:creationId xmlns:p14="http://schemas.microsoft.com/office/powerpoint/2010/main" val="1755444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EA03970-B1C4-4CEE-AC5B-D9391D8CE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CÂU HỎI</a:t>
            </a:r>
          </a:p>
        </p:txBody>
      </p:sp>
      <p:sp>
        <p:nvSpPr>
          <p:cNvPr id="3" name="Rectangle 3">
            <a:extLst>
              <a:ext uri="{FF2B5EF4-FFF2-40B4-BE49-F238E27FC236}">
                <a16:creationId xmlns:a16="http://schemas.microsoft.com/office/drawing/2014/main" id="{6988C84B-EB08-4895-81AE-C1738DD8B9A7}"/>
              </a:ext>
            </a:extLst>
          </p:cNvPr>
          <p:cNvSpPr txBox="1">
            <a:spLocks noChangeArrowheads="1"/>
          </p:cNvSpPr>
          <p:nvPr/>
        </p:nvSpPr>
        <p:spPr>
          <a:xfrm>
            <a:off x="0" y="823912"/>
            <a:ext cx="12192000" cy="5262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indent="-457200">
              <a:lnSpc>
                <a:spcPct val="200000"/>
              </a:lnSpc>
              <a:spcBef>
                <a:spcPts val="0"/>
              </a:spcBef>
              <a:buFont typeface="Wingdings" panose="05000000000000000000" pitchFamily="2" charset="2"/>
              <a:buChar char="v"/>
            </a:pPr>
            <a:endParaRPr lang="en-US" altLang="vi-VN" sz="3000">
              <a:latin typeface="+mj-lt"/>
              <a:cs typeface="Times New Roman" panose="02020603050405020304" pitchFamily="18" charset="0"/>
            </a:endParaRPr>
          </a:p>
        </p:txBody>
      </p:sp>
      <p:pic>
        <p:nvPicPr>
          <p:cNvPr id="5" name="Picture 9" descr="j0434403[2]">
            <a:extLst>
              <a:ext uri="{FF2B5EF4-FFF2-40B4-BE49-F238E27FC236}">
                <a16:creationId xmlns:a16="http://schemas.microsoft.com/office/drawing/2014/main" id="{7D44C670-4EF4-4669-912C-06A604AB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4706" y="3086100"/>
            <a:ext cx="2342588" cy="2518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E280607-7B40-B38E-5769-7F8CF750D382}"/>
              </a:ext>
            </a:extLst>
          </p:cNvPr>
          <p:cNvSpPr txBox="1"/>
          <p:nvPr/>
        </p:nvSpPr>
        <p:spPr>
          <a:xfrm>
            <a:off x="0" y="907091"/>
            <a:ext cx="12192000" cy="2788327"/>
          </a:xfrm>
          <a:prstGeom prst="rect">
            <a:avLst/>
          </a:prstGeom>
          <a:noFill/>
        </p:spPr>
        <p:txBody>
          <a:bodyPr wrap="square">
            <a:spAutoFit/>
          </a:bodyPr>
          <a:lstStyle/>
          <a:p>
            <a:pPr marL="457200">
              <a:lnSpc>
                <a:spcPct val="150000"/>
              </a:lnSpc>
            </a:pPr>
            <a:r>
              <a:rPr lang="vi-VN" sz="3000">
                <a:latin typeface="+mj-lt"/>
              </a:rPr>
              <a:t>Khi tích hợp mô hình ONNX vào ứng dụng WPF để dự đoán (ví dụ: đánh giá kết quả học tập, phân loại, nhận dạng…), bạn sẽ xử lý đầu vào và đầu ra của mô hình như thế nào để đảm bảo ứng dụng hoạt động mượt mà và chính xác?</a:t>
            </a:r>
            <a:endParaRPr lang="en-US" sz="3000">
              <a:latin typeface="+mj-lt"/>
            </a:endParaRPr>
          </a:p>
        </p:txBody>
      </p:sp>
    </p:spTree>
    <p:extLst>
      <p:ext uri="{BB962C8B-B14F-4D97-AF65-F5344CB8AC3E}">
        <p14:creationId xmlns:p14="http://schemas.microsoft.com/office/powerpoint/2010/main" val="927032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7219171"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Bước 1</a:t>
            </a:r>
            <a:r>
              <a:rPr lang="en-US" sz="2800" b="1">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Tải mô hình ONNX</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Sinh viên tải file mô hình đã huấn luyện sẵn tại link sau:👉 Giảng viên cung cấp đường dẫn tải file .onnx</a:t>
            </a: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Bước 2: </a:t>
            </a:r>
            <a:r>
              <a:rPr lang="vi-VN" sz="2800">
                <a:latin typeface="Times New Roman" panose="02020603050405020304" pitchFamily="18" charset="0"/>
                <a:cs typeface="Times New Roman" panose="02020603050405020304" pitchFamily="18" charset="0"/>
              </a:rPr>
              <a:t>Tạo ứng dụng WPF</a:t>
            </a:r>
            <a:r>
              <a:rPr lang="en-US" sz="2800">
                <a:latin typeface="Times New Roman" panose="02020603050405020304" pitchFamily="18" charset="0"/>
                <a:cs typeface="Times New Roman" panose="02020603050405020304" pitchFamily="18" charset="0"/>
              </a:rPr>
              <a:t> mới</a:t>
            </a:r>
            <a:r>
              <a:rPr lang="vi-VN" sz="280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Template: WPF App (.NET Framework)</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Chọn framework: .NET Framework 4.7.2</a:t>
            </a:r>
            <a:endParaRPr lang="en-US" sz="280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CÁC B</a:t>
            </a:r>
            <a:r>
              <a:rPr lang="vi-VN" altLang="en-US" sz="3600" b="1">
                <a:solidFill>
                  <a:schemeClr val="bg1"/>
                </a:solidFill>
              </a:rPr>
              <a:t>Ư</a:t>
            </a:r>
            <a:r>
              <a:rPr lang="en-US" altLang="en-US" sz="3600" b="1">
                <a:solidFill>
                  <a:schemeClr val="bg1"/>
                </a:solidFill>
              </a:rPr>
              <a:t>ỚC THỰC HIỆN</a:t>
            </a:r>
          </a:p>
        </p:txBody>
      </p:sp>
      <p:pic>
        <p:nvPicPr>
          <p:cNvPr id="3" name="Picture 2">
            <a:extLst>
              <a:ext uri="{FF2B5EF4-FFF2-40B4-BE49-F238E27FC236}">
                <a16:creationId xmlns:a16="http://schemas.microsoft.com/office/drawing/2014/main" id="{84D2ECD7-4352-48BA-5C3B-CE3C33111A22}"/>
              </a:ext>
            </a:extLst>
          </p:cNvPr>
          <p:cNvPicPr>
            <a:picLocks noChangeAspect="1"/>
          </p:cNvPicPr>
          <p:nvPr/>
        </p:nvPicPr>
        <p:blipFill>
          <a:blip r:embed="rId3"/>
          <a:stretch>
            <a:fillRect/>
          </a:stretch>
        </p:blipFill>
        <p:spPr>
          <a:xfrm>
            <a:off x="7219171" y="859809"/>
            <a:ext cx="4708972" cy="3456586"/>
          </a:xfrm>
          <a:prstGeom prst="rect">
            <a:avLst/>
          </a:prstGeom>
        </p:spPr>
      </p:pic>
    </p:spTree>
    <p:extLst>
      <p:ext uri="{BB962C8B-B14F-4D97-AF65-F5344CB8AC3E}">
        <p14:creationId xmlns:p14="http://schemas.microsoft.com/office/powerpoint/2010/main" val="624582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Bước 3: Cài thư viện ONNX Runtime</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Mở Tools &gt; NuGet Package Manager &gt; Manage NuGet Packages</a:t>
            </a: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Cài gói:</a:t>
            </a:r>
            <a:r>
              <a:rPr lang="en-US" sz="2800" b="1">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Microsoft.ML.OnnxRuntime</a:t>
            </a:r>
            <a:r>
              <a:rPr lang="en-US" sz="2800">
                <a:latin typeface="Times New Roman" panose="02020603050405020304" pitchFamily="18" charset="0"/>
                <a:cs typeface="Times New Roman" panose="02020603050405020304" pitchFamily="18" charset="0"/>
              </a:rPr>
              <a:t> (p</a:t>
            </a:r>
            <a:r>
              <a:rPr lang="vi-VN" sz="2800">
                <a:latin typeface="Times New Roman" panose="02020603050405020304" pitchFamily="18" charset="0"/>
                <a:cs typeface="Times New Roman" panose="02020603050405020304" pitchFamily="18" charset="0"/>
              </a:rPr>
              <a:t>hiên bản khuyến nghị: 1.14.1</a:t>
            </a:r>
            <a:r>
              <a:rPr lang="en-US" sz="2800">
                <a:latin typeface="Times New Roman" panose="02020603050405020304" pitchFamily="18" charset="0"/>
                <a:cs typeface="Times New Roman" panose="02020603050405020304" pitchFamily="18" charset="0"/>
              </a:rPr>
              <a:t>)</a:t>
            </a: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CÁC B</a:t>
            </a:r>
            <a:r>
              <a:rPr lang="vi-VN" altLang="en-US" sz="3600" b="1">
                <a:solidFill>
                  <a:schemeClr val="bg1"/>
                </a:solidFill>
              </a:rPr>
              <a:t>Ư</a:t>
            </a:r>
            <a:r>
              <a:rPr lang="en-US" altLang="en-US" sz="3600" b="1">
                <a:solidFill>
                  <a:schemeClr val="bg1"/>
                </a:solidFill>
              </a:rPr>
              <a:t>ỚC THỰC HIỆN</a:t>
            </a:r>
          </a:p>
        </p:txBody>
      </p:sp>
      <p:pic>
        <p:nvPicPr>
          <p:cNvPr id="6" name="Picture 5">
            <a:extLst>
              <a:ext uri="{FF2B5EF4-FFF2-40B4-BE49-F238E27FC236}">
                <a16:creationId xmlns:a16="http://schemas.microsoft.com/office/drawing/2014/main" id="{9DAD3826-D2D0-F255-AF79-35772DA8CDBD}"/>
              </a:ext>
            </a:extLst>
          </p:cNvPr>
          <p:cNvPicPr>
            <a:picLocks noChangeAspect="1"/>
          </p:cNvPicPr>
          <p:nvPr/>
        </p:nvPicPr>
        <p:blipFill>
          <a:blip r:embed="rId3"/>
          <a:stretch>
            <a:fillRect/>
          </a:stretch>
        </p:blipFill>
        <p:spPr>
          <a:xfrm>
            <a:off x="1084131" y="2676021"/>
            <a:ext cx="10023737" cy="3710219"/>
          </a:xfrm>
          <a:prstGeom prst="rect">
            <a:avLst/>
          </a:prstGeom>
        </p:spPr>
      </p:pic>
      <p:sp>
        <p:nvSpPr>
          <p:cNvPr id="7" name="Rectangle 6">
            <a:extLst>
              <a:ext uri="{FF2B5EF4-FFF2-40B4-BE49-F238E27FC236}">
                <a16:creationId xmlns:a16="http://schemas.microsoft.com/office/drawing/2014/main" id="{77CEE72D-0D7B-B286-36CF-4333A8F9EBAA}"/>
              </a:ext>
            </a:extLst>
          </p:cNvPr>
          <p:cNvSpPr/>
          <p:nvPr/>
        </p:nvSpPr>
        <p:spPr>
          <a:xfrm>
            <a:off x="7779224" y="6082954"/>
            <a:ext cx="2374710" cy="238889"/>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0804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Bước 4: Thêm file ONNX vào dự án</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Copy file student_dropout_predictor.onnx vào thư mục project</a:t>
            </a: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Bấm chuột phải → chọn Properties:</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Build Action: Content</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Copy to Output Directory: Copy always</a:t>
            </a:r>
            <a:endParaRPr lang="en-US" sz="280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CÁC B</a:t>
            </a:r>
            <a:r>
              <a:rPr lang="vi-VN" altLang="en-US" sz="3600" b="1">
                <a:solidFill>
                  <a:schemeClr val="bg1"/>
                </a:solidFill>
              </a:rPr>
              <a:t>Ư</a:t>
            </a:r>
            <a:r>
              <a:rPr lang="en-US" altLang="en-US" sz="3600" b="1">
                <a:solidFill>
                  <a:schemeClr val="bg1"/>
                </a:solidFill>
              </a:rPr>
              <a:t>ỚC THỰC HIỆN</a:t>
            </a:r>
          </a:p>
        </p:txBody>
      </p:sp>
    </p:spTree>
    <p:extLst>
      <p:ext uri="{BB962C8B-B14F-4D97-AF65-F5344CB8AC3E}">
        <p14:creationId xmlns:p14="http://schemas.microsoft.com/office/powerpoint/2010/main" val="3141681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 Bước 5: Thiết kế giao diện nhập liệu</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gồm 6 TextBox:</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Điểm đầu vào</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GPA Năm 1</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GPA Năm 2</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Nợ học phí</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Môn rớt</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Chuyên cần (%)</a:t>
            </a: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r>
              <a:rPr lang="vi-VN" sz="2800" b="1">
                <a:solidFill>
                  <a:srgbClr val="FF0000"/>
                </a:solidFill>
                <a:latin typeface="Times New Roman" panose="02020603050405020304" pitchFamily="18" charset="0"/>
                <a:cs typeface="Times New Roman" panose="02020603050405020304" pitchFamily="18" charset="0"/>
              </a:rPr>
              <a:t>Thêm nút "Dự đoán" và TextBlock hiển thị kết quả</a:t>
            </a:r>
            <a:endParaRPr lang="en-US" sz="2800">
              <a:solidFill>
                <a:srgbClr val="FF0000"/>
              </a:solidFill>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CÁC B</a:t>
            </a:r>
            <a:r>
              <a:rPr lang="vi-VN" altLang="en-US" sz="3600" b="1">
                <a:solidFill>
                  <a:schemeClr val="bg1"/>
                </a:solidFill>
              </a:rPr>
              <a:t>Ư</a:t>
            </a:r>
            <a:r>
              <a:rPr lang="en-US" altLang="en-US" sz="3600" b="1">
                <a:solidFill>
                  <a:schemeClr val="bg1"/>
                </a:solidFill>
              </a:rPr>
              <a:t>ỚC THỰC HIỆN</a:t>
            </a:r>
          </a:p>
        </p:txBody>
      </p:sp>
    </p:spTree>
    <p:extLst>
      <p:ext uri="{BB962C8B-B14F-4D97-AF65-F5344CB8AC3E}">
        <p14:creationId xmlns:p14="http://schemas.microsoft.com/office/powerpoint/2010/main" val="4176244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 Bước 6: Viết mã C# để gọi mô hình ONNX</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Load mô hình bằng InferenceSession</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Đọc giá trị từ các TextBox</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Tạo DenseTensor&lt;float&gt; kích thước [1,6]</a:t>
            </a:r>
            <a:endParaRPr lang="en-US" sz="2800">
              <a:latin typeface="Times New Roman" panose="02020603050405020304" pitchFamily="18" charset="0"/>
              <a:cs typeface="Times New Roman" panose="02020603050405020304" pitchFamily="18" charset="0"/>
            </a:endParaRPr>
          </a:p>
          <a:p>
            <a:r>
              <a:rPr lang="vi-VN" sz="2800">
                <a:latin typeface="Times New Roman" panose="02020603050405020304" pitchFamily="18" charset="0"/>
                <a:cs typeface="Times New Roman" panose="02020603050405020304" pitchFamily="18" charset="0"/>
              </a:rPr>
              <a:t>Chạy mô hình:</a:t>
            </a:r>
            <a:r>
              <a:rPr lang="sv-SE">
                <a:solidFill>
                  <a:srgbClr val="000000"/>
                </a:solidFill>
                <a:latin typeface="Consolas" panose="020B0609020204030204" pitchFamily="49" charset="0"/>
              </a:rPr>
              <a:t> </a:t>
            </a:r>
          </a:p>
          <a:p>
            <a:pPr marL="1998663" indent="0">
              <a:buNone/>
            </a:pPr>
            <a:r>
              <a:rPr lang="sv-SE" sz="2400">
                <a:solidFill>
                  <a:srgbClr val="0000FF"/>
                </a:solidFill>
                <a:latin typeface="Consolas" panose="020B0609020204030204" pitchFamily="49" charset="0"/>
              </a:rPr>
              <a:t>var</a:t>
            </a:r>
            <a:r>
              <a:rPr lang="sv-SE" sz="2400">
                <a:solidFill>
                  <a:srgbClr val="000000"/>
                </a:solidFill>
                <a:latin typeface="Consolas" panose="020B0609020204030204" pitchFamily="49" charset="0"/>
              </a:rPr>
              <a:t> results = session.Run(inputs);</a:t>
            </a:r>
          </a:p>
          <a:p>
            <a:pPr marL="1998663" indent="0">
              <a:buNone/>
            </a:pPr>
            <a:r>
              <a:rPr lang="en-US" sz="2400">
                <a:solidFill>
                  <a:srgbClr val="0000FF"/>
                </a:solidFill>
                <a:latin typeface="Consolas" panose="020B0609020204030204" pitchFamily="49" charset="0"/>
              </a:rPr>
              <a:t>var</a:t>
            </a:r>
            <a:r>
              <a:rPr lang="en-US" sz="2400">
                <a:solidFill>
                  <a:srgbClr val="000000"/>
                </a:solidFill>
                <a:latin typeface="Consolas" panose="020B0609020204030204" pitchFamily="49" charset="0"/>
              </a:rPr>
              <a:t> output = results.First(x =&gt; x.Name == </a:t>
            </a:r>
            <a:r>
              <a:rPr lang="en-US" sz="2400">
                <a:solidFill>
                  <a:srgbClr val="A31515"/>
                </a:solidFill>
                <a:latin typeface="Consolas" panose="020B0609020204030204" pitchFamily="49" charset="0"/>
              </a:rPr>
              <a:t>"output_probability"</a:t>
            </a:r>
            <a:r>
              <a:rPr lang="en-US" sz="2400">
                <a:solidFill>
                  <a:srgbClr val="000000"/>
                </a:solidFill>
                <a:latin typeface="Consolas" panose="020B0609020204030204" pitchFamily="49" charset="0"/>
              </a:rPr>
              <a:t>);</a:t>
            </a:r>
          </a:p>
          <a:p>
            <a:pPr marL="1998663" indent="0">
              <a:buNone/>
            </a:pPr>
            <a:r>
              <a:rPr lang="en-US" sz="2400">
                <a:solidFill>
                  <a:srgbClr val="0000FF"/>
                </a:solidFill>
                <a:latin typeface="Consolas" panose="020B0609020204030204" pitchFamily="49" charset="0"/>
              </a:rPr>
              <a:t>float</a:t>
            </a:r>
            <a:r>
              <a:rPr lang="en-US" sz="2400">
                <a:solidFill>
                  <a:srgbClr val="000000"/>
                </a:solidFill>
                <a:latin typeface="Consolas" panose="020B0609020204030204" pitchFamily="49" charset="0"/>
              </a:rPr>
              <a:t> dropout = output.AsEnumerable&lt;</a:t>
            </a:r>
            <a:r>
              <a:rPr lang="en-US" sz="2400">
                <a:solidFill>
                  <a:srgbClr val="0000FF"/>
                </a:solidFill>
                <a:latin typeface="Consolas" panose="020B0609020204030204" pitchFamily="49" charset="0"/>
              </a:rPr>
              <a:t>float</a:t>
            </a:r>
            <a:r>
              <a:rPr lang="en-US" sz="2400">
                <a:solidFill>
                  <a:srgbClr val="000000"/>
                </a:solidFill>
                <a:latin typeface="Consolas" panose="020B0609020204030204" pitchFamily="49" charset="0"/>
              </a:rPr>
              <a:t>&gt;().ToArray()[1];</a:t>
            </a:r>
          </a:p>
          <a:p>
            <a:r>
              <a:rPr lang="en-US">
                <a:latin typeface="Times New Roman" panose="02020603050405020304" pitchFamily="18" charset="0"/>
                <a:cs typeface="Times New Roman" panose="02020603050405020304" pitchFamily="18" charset="0"/>
              </a:rPr>
              <a:t>Hiển thị kết quả vào txtResult.Text</a:t>
            </a: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CÁC B</a:t>
            </a:r>
            <a:r>
              <a:rPr lang="vi-VN" altLang="en-US" sz="3600" b="1">
                <a:solidFill>
                  <a:schemeClr val="bg1"/>
                </a:solidFill>
              </a:rPr>
              <a:t>Ư</a:t>
            </a:r>
            <a:r>
              <a:rPr lang="en-US" altLang="en-US" sz="3600" b="1">
                <a:solidFill>
                  <a:schemeClr val="bg1"/>
                </a:solidFill>
              </a:rPr>
              <a:t>ỚC THỰC HIỆN</a:t>
            </a:r>
          </a:p>
        </p:txBody>
      </p:sp>
    </p:spTree>
    <p:extLst>
      <p:ext uri="{BB962C8B-B14F-4D97-AF65-F5344CB8AC3E}">
        <p14:creationId xmlns:p14="http://schemas.microsoft.com/office/powerpoint/2010/main" val="144488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6"/>
            <a:ext cx="6343650" cy="55996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Bước 7: Chạy thử và kiểm tra</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Nhập dữ liệu thử</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Bấm nút "Dự đoán“</a:t>
            </a: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r>
              <a:rPr lang="vi-VN" sz="2800" b="1">
                <a:latin typeface="Times New Roman" panose="02020603050405020304" pitchFamily="18" charset="0"/>
                <a:cs typeface="Times New Roman" panose="02020603050405020304" pitchFamily="18" charset="0"/>
              </a:rPr>
              <a:t>Ứng dụng sẽ hiển thị: </a:t>
            </a:r>
            <a:endParaRPr lang="en-US" sz="2800" b="1">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“Tình trạng ổn định” </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“Nguy cơ bỏ học cao”</a:t>
            </a:r>
            <a:endParaRPr lang="en-US">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CÁC B</a:t>
            </a:r>
            <a:r>
              <a:rPr lang="vi-VN" altLang="en-US" sz="3600" b="1">
                <a:solidFill>
                  <a:schemeClr val="bg1"/>
                </a:solidFill>
              </a:rPr>
              <a:t>Ư</a:t>
            </a:r>
            <a:r>
              <a:rPr lang="en-US" altLang="en-US" sz="3600" b="1">
                <a:solidFill>
                  <a:schemeClr val="bg1"/>
                </a:solidFill>
              </a:rPr>
              <a:t>ỚC THỰC HIỆN</a:t>
            </a:r>
          </a:p>
        </p:txBody>
      </p:sp>
      <p:pic>
        <p:nvPicPr>
          <p:cNvPr id="2" name="Picture 1">
            <a:extLst>
              <a:ext uri="{FF2B5EF4-FFF2-40B4-BE49-F238E27FC236}">
                <a16:creationId xmlns:a16="http://schemas.microsoft.com/office/drawing/2014/main" id="{CC8B71CF-7E67-4510-87AD-213B589EB6FA}"/>
              </a:ext>
            </a:extLst>
          </p:cNvPr>
          <p:cNvPicPr>
            <a:picLocks noChangeAspect="1"/>
          </p:cNvPicPr>
          <p:nvPr/>
        </p:nvPicPr>
        <p:blipFill>
          <a:blip r:embed="rId3"/>
          <a:stretch>
            <a:fillRect/>
          </a:stretch>
        </p:blipFill>
        <p:spPr>
          <a:xfrm>
            <a:off x="5848350" y="1471736"/>
            <a:ext cx="5848350" cy="3505200"/>
          </a:xfrm>
          <a:prstGeom prst="rect">
            <a:avLst/>
          </a:prstGeom>
        </p:spPr>
      </p:pic>
    </p:spTree>
    <p:extLst>
      <p:ext uri="{BB962C8B-B14F-4D97-AF65-F5344CB8AC3E}">
        <p14:creationId xmlns:p14="http://schemas.microsoft.com/office/powerpoint/2010/main" val="2662800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7CA26A2C-4F9C-422D-9284-D679B064E1A2}"/>
              </a:ext>
            </a:extLst>
          </p:cNvPr>
          <p:cNvSpPr txBox="1">
            <a:spLocks noChangeArrowheads="1"/>
          </p:cNvSpPr>
          <p:nvPr/>
        </p:nvSpPr>
        <p:spPr>
          <a:xfrm>
            <a:off x="0" y="709737"/>
            <a:ext cx="12192000"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a:latin typeface="Times New Roman" panose="02020603050405020304" pitchFamily="18" charset="0"/>
                <a:cs typeface="Times New Roman" panose="02020603050405020304" pitchFamily="18" charset="0"/>
              </a:rPr>
              <a:t>Sinh viên thực hiện một ứng dụng WPF sử dụng </a:t>
            </a:r>
            <a:r>
              <a:rPr lang="en-US" sz="2800">
                <a:latin typeface="Times New Roman" panose="02020603050405020304" pitchFamily="18" charset="0"/>
                <a:cs typeface="Times New Roman" panose="02020603050405020304" pitchFamily="18" charset="0"/>
              </a:rPr>
              <a:t>ONNX </a:t>
            </a:r>
            <a:r>
              <a:rPr lang="vi-VN" sz="2800">
                <a:latin typeface="Times New Roman" panose="02020603050405020304" pitchFamily="18" charset="0"/>
                <a:cs typeface="Times New Roman" panose="02020603050405020304" pitchFamily="18" charset="0"/>
              </a:rPr>
              <a:t>tương tự như demo trên lớp để dự đoán một kết quả nhị phân, ví dụ:</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Nguy cơ sinh viên bỏ học (đã làm trên lớp)</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Nguy cơ trượt môn</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Có nên cho vay tín dụng hay không</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defRPr/>
            </a:pPr>
            <a:r>
              <a:rPr lang="vi-VN" sz="2800">
                <a:latin typeface="Times New Roman" panose="02020603050405020304" pitchFamily="18" charset="0"/>
                <a:cs typeface="Times New Roman" panose="02020603050405020304" pitchFamily="18" charset="0"/>
              </a:rPr>
              <a:t>Phân loại khách hàng tiềm năng</a:t>
            </a:r>
            <a:endParaRPr lang="en-US" sz="7200">
              <a:solidFill>
                <a:srgbClr val="FF0000"/>
              </a:solidFill>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3F88AE9-C590-4C02-8A4E-CAB4386EABE2}"/>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CÂU HỎI</a:t>
            </a:r>
          </a:p>
        </p:txBody>
      </p:sp>
    </p:spTree>
    <p:extLst>
      <p:ext uri="{BB962C8B-B14F-4D97-AF65-F5344CB8AC3E}">
        <p14:creationId xmlns:p14="http://schemas.microsoft.com/office/powerpoint/2010/main" val="3331479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EA03970-B1C4-4CEE-AC5B-D9391D8CE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CÂU HỎI</a:t>
            </a:r>
          </a:p>
        </p:txBody>
      </p:sp>
      <p:sp>
        <p:nvSpPr>
          <p:cNvPr id="3" name="Rectangle 3">
            <a:extLst>
              <a:ext uri="{FF2B5EF4-FFF2-40B4-BE49-F238E27FC236}">
                <a16:creationId xmlns:a16="http://schemas.microsoft.com/office/drawing/2014/main" id="{6988C84B-EB08-4895-81AE-C1738DD8B9A7}"/>
              </a:ext>
            </a:extLst>
          </p:cNvPr>
          <p:cNvSpPr txBox="1">
            <a:spLocks noChangeArrowheads="1"/>
          </p:cNvSpPr>
          <p:nvPr/>
        </p:nvSpPr>
        <p:spPr>
          <a:xfrm>
            <a:off x="0" y="823912"/>
            <a:ext cx="12192000" cy="5262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indent="-457200">
              <a:lnSpc>
                <a:spcPct val="200000"/>
              </a:lnSpc>
              <a:spcBef>
                <a:spcPts val="0"/>
              </a:spcBef>
              <a:buFont typeface="Wingdings" panose="05000000000000000000" pitchFamily="2" charset="2"/>
              <a:buChar char="v"/>
            </a:pPr>
            <a:endParaRPr lang="en-US" altLang="vi-VN" sz="3000">
              <a:latin typeface="+mj-lt"/>
              <a:cs typeface="Times New Roman" panose="02020603050405020304" pitchFamily="18" charset="0"/>
            </a:endParaRPr>
          </a:p>
        </p:txBody>
      </p:sp>
      <p:pic>
        <p:nvPicPr>
          <p:cNvPr id="5" name="Picture 9" descr="j0434403[2]">
            <a:extLst>
              <a:ext uri="{FF2B5EF4-FFF2-40B4-BE49-F238E27FC236}">
                <a16:creationId xmlns:a16="http://schemas.microsoft.com/office/drawing/2014/main" id="{7D44C670-4EF4-4669-912C-06A604AB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4706" y="3086100"/>
            <a:ext cx="2342588" cy="2518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E280607-7B40-B38E-5769-7F8CF750D382}"/>
              </a:ext>
            </a:extLst>
          </p:cNvPr>
          <p:cNvSpPr txBox="1"/>
          <p:nvPr/>
        </p:nvSpPr>
        <p:spPr>
          <a:xfrm>
            <a:off x="0" y="907091"/>
            <a:ext cx="12192000" cy="2095830"/>
          </a:xfrm>
          <a:prstGeom prst="rect">
            <a:avLst/>
          </a:prstGeom>
          <a:noFill/>
        </p:spPr>
        <p:txBody>
          <a:bodyPr wrap="square">
            <a:spAutoFit/>
          </a:bodyPr>
          <a:lstStyle/>
          <a:p>
            <a:pPr marL="457200">
              <a:lnSpc>
                <a:spcPct val="150000"/>
              </a:lnSpc>
            </a:pPr>
            <a:r>
              <a:rPr lang="vi-VN" sz="3000">
                <a:latin typeface="+mj-lt"/>
              </a:rPr>
              <a:t>Theo bạn, việc sử dụng mô hình AI dưới dạng ONNX trong ứng dụng WPF có ưu điểm gì so với việc gọi mô hình từ một dịch vụ bên ngoài (ví dụ như API Python hoặc web service)?</a:t>
            </a:r>
            <a:endParaRPr lang="en-US" sz="3000">
              <a:latin typeface="+mj-lt"/>
            </a:endParaRPr>
          </a:p>
        </p:txBody>
      </p:sp>
    </p:spTree>
    <p:extLst>
      <p:ext uri="{BB962C8B-B14F-4D97-AF65-F5344CB8AC3E}">
        <p14:creationId xmlns:p14="http://schemas.microsoft.com/office/powerpoint/2010/main" val="2870285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19A3415-6B54-EFF0-B3E5-EA6545D62EC3}"/>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LINK YOUTUBE THAM KHẢO</a:t>
            </a:r>
          </a:p>
        </p:txBody>
      </p:sp>
      <p:sp>
        <p:nvSpPr>
          <p:cNvPr id="5" name="TextBox 4">
            <a:extLst>
              <a:ext uri="{FF2B5EF4-FFF2-40B4-BE49-F238E27FC236}">
                <a16:creationId xmlns:a16="http://schemas.microsoft.com/office/drawing/2014/main" id="{FECD0FF5-DAC7-E708-9F47-39977055DF33}"/>
              </a:ext>
            </a:extLst>
          </p:cNvPr>
          <p:cNvSpPr txBox="1"/>
          <p:nvPr/>
        </p:nvSpPr>
        <p:spPr>
          <a:xfrm>
            <a:off x="215265" y="1048435"/>
            <a:ext cx="11761470" cy="2862322"/>
          </a:xfrm>
          <a:prstGeom prst="rect">
            <a:avLst/>
          </a:prstGeom>
          <a:noFill/>
        </p:spPr>
        <p:txBody>
          <a:bodyPr wrap="square">
            <a:spAutoFit/>
          </a:bodyPr>
          <a:lstStyle/>
          <a:p>
            <a:r>
              <a:rPr lang="en-US" sz="3000">
                <a:latin typeface="Times New Roman" panose="02020603050405020304" pitchFamily="18" charset="0"/>
                <a:cs typeface="Times New Roman" panose="02020603050405020304" pitchFamily="18" charset="0"/>
              </a:rPr>
              <a:t>[1]</a:t>
            </a:r>
            <a:r>
              <a:rPr lang="en-US" sz="3000">
                <a:latin typeface="Times New Roman" panose="02020603050405020304" pitchFamily="18" charset="0"/>
                <a:cs typeface="Times New Roman" panose="02020603050405020304" pitchFamily="18" charset="0"/>
                <a:hlinkClick r:id="rId2"/>
              </a:rPr>
              <a:t> </a:t>
            </a:r>
            <a:endParaRPr lang="en-US" sz="3000">
              <a:latin typeface="Times New Roman" panose="02020603050405020304" pitchFamily="18" charset="0"/>
              <a:cs typeface="Times New Roman" panose="02020603050405020304" pitchFamily="18" charset="0"/>
            </a:endParaRPr>
          </a:p>
          <a:p>
            <a:r>
              <a:rPr lang="en-US" sz="3000">
                <a:latin typeface="Times New Roman" panose="02020603050405020304" pitchFamily="18" charset="0"/>
                <a:cs typeface="Times New Roman" panose="02020603050405020304" pitchFamily="18" charset="0"/>
                <a:hlinkClick r:id="rId3"/>
              </a:rPr>
              <a:t>https://www.youtube.com/watch?v=Yf7VXj1etdw&amp;t=97s</a:t>
            </a:r>
            <a:endParaRPr lang="en-US" sz="3000">
              <a:latin typeface="Times New Roman" panose="02020603050405020304" pitchFamily="18" charset="0"/>
              <a:cs typeface="Times New Roman" panose="02020603050405020304" pitchFamily="18" charset="0"/>
            </a:endParaRPr>
          </a:p>
          <a:p>
            <a:endParaRPr lang="en-US" sz="3000">
              <a:latin typeface="Times New Roman" panose="02020603050405020304" pitchFamily="18" charset="0"/>
              <a:cs typeface="Times New Roman" panose="02020603050405020304" pitchFamily="18" charset="0"/>
            </a:endParaRPr>
          </a:p>
          <a:p>
            <a:r>
              <a:rPr lang="en-US" sz="3000">
                <a:latin typeface="Times New Roman" panose="02020603050405020304" pitchFamily="18" charset="0"/>
                <a:cs typeface="Times New Roman" panose="02020603050405020304" pitchFamily="18" charset="0"/>
              </a:rPr>
              <a:t>[2]</a:t>
            </a:r>
          </a:p>
          <a:p>
            <a:r>
              <a:rPr lang="en-US" sz="3000">
                <a:latin typeface="Times New Roman" panose="02020603050405020304" pitchFamily="18" charset="0"/>
                <a:cs typeface="Times New Roman" panose="02020603050405020304" pitchFamily="18" charset="0"/>
                <a:hlinkClick r:id="rId4"/>
              </a:rPr>
              <a:t>https://www.youtube.com/watch?v=v7_g1Zoapkg</a:t>
            </a:r>
            <a:endParaRPr lang="en-US" sz="3000">
              <a:latin typeface="Times New Roman" panose="02020603050405020304" pitchFamily="18" charset="0"/>
              <a:cs typeface="Times New Roman" panose="02020603050405020304" pitchFamily="18" charset="0"/>
            </a:endParaRPr>
          </a:p>
          <a:p>
            <a:endParaRPr lang="en-US" sz="3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337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4139</TotalTime>
  <Words>1630</Words>
  <Application>Microsoft Office PowerPoint</Application>
  <PresentationFormat>Widescreen</PresentationFormat>
  <Paragraphs>182</Paragraphs>
  <Slides>21</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Consolas</vt:lpstr>
      <vt:lpstr>Times New Roman</vt:lpstr>
      <vt:lpstr>Times New Roman (Headings)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LENOVO</dc:creator>
  <cp:lastModifiedBy>Nguyễn Tấn Quốc</cp:lastModifiedBy>
  <cp:revision>299</cp:revision>
  <dcterms:created xsi:type="dcterms:W3CDTF">2025-03-30T10:07:54Z</dcterms:created>
  <dcterms:modified xsi:type="dcterms:W3CDTF">2025-06-24T14:44:44Z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C51896B4DA5740E9A7EC8E23EEC4123E_12</vt:lpwstr>
  </property>
  <property fmtid="{D5CDD505-2E9C-101B-9397-08002B2CF9AE}" pid="3" name="KSOProductBuildVer">
    <vt:lpwstr>1033-12.2.0.20326</vt:lpwstr>
  </property>
</Properties>
</file>